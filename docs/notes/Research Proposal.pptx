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eorgia Bold" charset="1" panose="02040802050405020203"/>
      <p:regular r:id="rId25"/>
    </p:embeddedFont>
    <p:embeddedFont>
      <p:font typeface="Calibri (MS) Italics" charset="1" panose="020F05020202040A0204"/>
      <p:regular r:id="rId26"/>
    </p:embeddedFont>
    <p:embeddedFont>
      <p:font typeface="Calibri (MS)" charset="1" panose="020F0502020204030204"/>
      <p:regular r:id="rId27"/>
    </p:embeddedFont>
    <p:embeddedFont>
      <p:font typeface="Calibri (MS) Bold" charset="1" panose="020F0702030404030204"/>
      <p:regular r:id="rId28"/>
    </p:embeddedFont>
    <p:embeddedFont>
      <p:font typeface="Calibri (MS) Bold Italics" charset="1" panose="020F07020304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28549" y="-5476093"/>
            <a:ext cx="9982129" cy="9982129"/>
          </a:xfrm>
          <a:custGeom>
            <a:avLst/>
            <a:gdLst/>
            <a:ahLst/>
            <a:cxnLst/>
            <a:rect r="r" b="b" t="t" l="l"/>
            <a:pathLst>
              <a:path h="9982129" w="9982129">
                <a:moveTo>
                  <a:pt x="0" y="0"/>
                </a:moveTo>
                <a:lnTo>
                  <a:pt x="9982128" y="0"/>
                </a:lnTo>
                <a:lnTo>
                  <a:pt x="9982128" y="9982129"/>
                </a:lnTo>
                <a:lnTo>
                  <a:pt x="0" y="998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7028" y="-2722710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5" y="0"/>
                </a:lnTo>
                <a:lnTo>
                  <a:pt x="12548545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03089" y="7069163"/>
            <a:ext cx="9606178" cy="9606178"/>
          </a:xfrm>
          <a:custGeom>
            <a:avLst/>
            <a:gdLst/>
            <a:ahLst/>
            <a:cxnLst/>
            <a:rect r="r" b="b" t="t" l="l"/>
            <a:pathLst>
              <a:path h="9606178" w="9606178">
                <a:moveTo>
                  <a:pt x="0" y="0"/>
                </a:moveTo>
                <a:lnTo>
                  <a:pt x="9606178" y="0"/>
                </a:lnTo>
                <a:lnTo>
                  <a:pt x="9606178" y="9606178"/>
                </a:lnTo>
                <a:lnTo>
                  <a:pt x="0" y="960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618617" y="4130872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5" y="0"/>
                </a:lnTo>
                <a:lnTo>
                  <a:pt x="12548545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63040" y="1120140"/>
            <a:ext cx="15361920" cy="4695222"/>
            <a:chOff x="0" y="0"/>
            <a:chExt cx="20482560" cy="6260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82561" cy="6260296"/>
            </a:xfrm>
            <a:custGeom>
              <a:avLst/>
              <a:gdLst/>
              <a:ahLst/>
              <a:cxnLst/>
              <a:rect r="r" b="b" t="t" l="l"/>
              <a:pathLst>
                <a:path h="626029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6260296"/>
                  </a:lnTo>
                  <a:lnTo>
                    <a:pt x="0" y="62602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063" r="0" b="-124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20482560" cy="64126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216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 Machine Learning-Based Framework for</a:t>
              </a:r>
            </a:p>
            <a:p>
              <a:pPr algn="l">
                <a:lnSpc>
                  <a:spcPts val="9216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Predicting Energy Consumption of</a:t>
              </a:r>
            </a:p>
            <a:p>
              <a:pPr algn="l">
                <a:lnSpc>
                  <a:spcPts val="9216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Neural Network Training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6057900"/>
            <a:ext cx="4572000" cy="91440"/>
            <a:chOff x="0" y="0"/>
            <a:chExt cx="609600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0" cy="121920"/>
            </a:xfrm>
            <a:custGeom>
              <a:avLst/>
              <a:gdLst/>
              <a:ahLst/>
              <a:cxnLst/>
              <a:rect r="r" b="b" t="t" l="l"/>
              <a:pathLst>
                <a:path h="1219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6423660"/>
            <a:ext cx="14630400" cy="914400"/>
            <a:chOff x="0" y="0"/>
            <a:chExt cx="19507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950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F4A26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Architectural and Configuration Features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7703820"/>
            <a:ext cx="14630400" cy="1463040"/>
            <a:chOff x="0" y="0"/>
            <a:chExt cx="195072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95072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MSc Computer Science  |  University of Ghana, Legon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By: Vanessa Atta-Fynn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Presentation Outline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3040" y="2377440"/>
            <a:ext cx="822960" cy="768096"/>
            <a:chOff x="0" y="0"/>
            <a:chExt cx="109728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68880" y="2377440"/>
            <a:ext cx="6400800" cy="768096"/>
            <a:chOff x="0" y="0"/>
            <a:chExt cx="853440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Background &amp; Motivation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3383280"/>
            <a:ext cx="822960" cy="768096"/>
            <a:chOff x="0" y="0"/>
            <a:chExt cx="1097280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68880" y="3383280"/>
            <a:ext cx="6400800" cy="768096"/>
            <a:chOff x="0" y="0"/>
            <a:chExt cx="85344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4389120"/>
            <a:ext cx="822960" cy="768096"/>
            <a:chOff x="0" y="0"/>
            <a:chExt cx="109728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68880" y="4389120"/>
            <a:ext cx="6400800" cy="768096"/>
            <a:chOff x="0" y="0"/>
            <a:chExt cx="853440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 Aim &amp; Objectives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3040" y="5394960"/>
            <a:ext cx="822960" cy="768096"/>
            <a:chOff x="0" y="0"/>
            <a:chExt cx="109728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68880" y="5394960"/>
            <a:ext cx="6400800" cy="768096"/>
            <a:chOff x="0" y="0"/>
            <a:chExt cx="853440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 Questions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3040" y="6400800"/>
            <a:ext cx="822960" cy="768096"/>
            <a:chOff x="0" y="0"/>
            <a:chExt cx="1097280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468880" y="6400800"/>
            <a:ext cx="6400800" cy="768096"/>
            <a:chOff x="0" y="0"/>
            <a:chExt cx="853440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Literature Review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3040" y="7406640"/>
            <a:ext cx="822960" cy="768096"/>
            <a:chOff x="0" y="0"/>
            <a:chExt cx="109728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468880" y="7406640"/>
            <a:ext cx="6400800" cy="768096"/>
            <a:chOff x="0" y="0"/>
            <a:chExt cx="853440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 Gap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63040" y="8412480"/>
            <a:ext cx="822960" cy="768096"/>
            <a:chOff x="0" y="0"/>
            <a:chExt cx="109728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68880" y="8412480"/>
            <a:ext cx="6400800" cy="768096"/>
            <a:chOff x="0" y="0"/>
            <a:chExt cx="853440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Methodology Overview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92640" y="2377440"/>
            <a:ext cx="822960" cy="768096"/>
            <a:chOff x="0" y="0"/>
            <a:chExt cx="109728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98480" y="2377440"/>
            <a:ext cx="6400800" cy="768096"/>
            <a:chOff x="0" y="0"/>
            <a:chExt cx="853440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Sources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92640" y="3383280"/>
            <a:ext cx="822960" cy="768096"/>
            <a:chOff x="0" y="0"/>
            <a:chExt cx="109728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698480" y="3383280"/>
            <a:ext cx="6400800" cy="768096"/>
            <a:chOff x="0" y="0"/>
            <a:chExt cx="853440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Engineering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92640" y="4389120"/>
            <a:ext cx="822960" cy="768096"/>
            <a:chOff x="0" y="0"/>
            <a:chExt cx="1097280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98480" y="4389120"/>
            <a:ext cx="6400800" cy="768096"/>
            <a:chOff x="0" y="0"/>
            <a:chExt cx="853440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Development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92640" y="5394960"/>
            <a:ext cx="822960" cy="768096"/>
            <a:chOff x="0" y="0"/>
            <a:chExt cx="109728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698480" y="5394960"/>
            <a:ext cx="6400800" cy="768096"/>
            <a:chOff x="0" y="0"/>
            <a:chExt cx="8534400" cy="10241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Evaluation Strategy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92640" y="6400800"/>
            <a:ext cx="822960" cy="768096"/>
            <a:chOff x="0" y="0"/>
            <a:chExt cx="109728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698480" y="6400800"/>
            <a:ext cx="6400800" cy="768096"/>
            <a:chOff x="0" y="0"/>
            <a:chExt cx="853440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Expected Contributions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7406640"/>
            <a:ext cx="822960" cy="768096"/>
            <a:chOff x="0" y="0"/>
            <a:chExt cx="109728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097280" cy="1081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98480" y="7406640"/>
            <a:ext cx="6400800" cy="768096"/>
            <a:chOff x="0" y="0"/>
            <a:chExt cx="8534400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&amp; Future Work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Background &amp; Motivation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377440"/>
            <a:ext cx="5120640" cy="3657600"/>
            <a:chOff x="0" y="0"/>
            <a:chExt cx="6827520" cy="487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275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4F8"/>
            </a:solidFill>
            <a:ln w="19050" cap="sq">
              <a:solidFill>
                <a:srgbClr val="ADEEE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560320"/>
            <a:ext cx="5120640" cy="1645920"/>
            <a:chOff x="0" y="0"/>
            <a:chExt cx="682752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827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300,000x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8720" y="4213860"/>
            <a:ext cx="493776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Growth in AI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 since 2012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6560" y="2377440"/>
            <a:ext cx="5120640" cy="3657600"/>
            <a:chOff x="0" y="0"/>
            <a:chExt cx="6827520" cy="4876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75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4F8"/>
            </a:solidFill>
            <a:ln w="19050" cap="sq">
              <a:solidFill>
                <a:srgbClr val="ADEEE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766560" y="2560320"/>
            <a:ext cx="5120640" cy="1645920"/>
            <a:chOff x="0" y="0"/>
            <a:chExt cx="682752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827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1C729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24.7t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58000" y="4213860"/>
            <a:ext cx="493776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CO₂ emitted training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BLOOM (176B params)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35840" y="2377440"/>
            <a:ext cx="5120640" cy="3657600"/>
            <a:chOff x="0" y="0"/>
            <a:chExt cx="6827520" cy="4876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4F8"/>
            </a:solidFill>
            <a:ln w="19050" cap="sq">
              <a:solidFill>
                <a:srgbClr val="ADEEE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527280" y="2589711"/>
            <a:ext cx="4937760" cy="1587137"/>
            <a:chOff x="0" y="0"/>
            <a:chExt cx="682752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827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E76F5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~945 TWh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27280" y="4213860"/>
            <a:ext cx="493776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Projected data center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energy by 2030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7280" y="6766560"/>
            <a:ext cx="16459200" cy="1280160"/>
            <a:chOff x="0" y="0"/>
            <a:chExt cx="21945600" cy="170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Red AI trend </a:t>
              </a: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prioritizes accuracy through ever-larger models, making deep learning research increasingly inaccessible to researchers without massive compute budgets (Schwartz et al., 2020).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8778240"/>
            <a:ext cx="16459200" cy="731520"/>
            <a:chOff x="0" y="0"/>
            <a:chExt cx="2194560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Schwartz et al. (2020); Luccioni et al. (2023); IEA (2025)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Why This Research Matters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737360"/>
            <a:ext cx="16459200" cy="731520"/>
            <a:chOff x="0" y="0"/>
            <a:chExt cx="21945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Who benefits from knowing energy costs before training?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2743200"/>
            <a:ext cx="16093440" cy="1554480"/>
            <a:chOff x="0" y="0"/>
            <a:chExt cx="2145792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D5F1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926080"/>
            <a:ext cx="1005840" cy="1005840"/>
            <a:chOff x="0" y="0"/>
            <a:chExt cx="134112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43200" y="2743200"/>
            <a:ext cx="4754880" cy="1554480"/>
            <a:chOff x="0" y="0"/>
            <a:chExt cx="6339840" cy="2072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39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01" r="0" b="-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3398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Budget-Constrained Researchers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80960" y="2743200"/>
            <a:ext cx="9144000" cy="1554480"/>
            <a:chOff x="0" y="0"/>
            <a:chExt cx="12192000" cy="2072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192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student with limited Colab credits or a small AWS grant can compare architectures by predicted energy cost before committing resources. No more wasted credits on failed runs.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4535424"/>
            <a:ext cx="16093440" cy="1554480"/>
            <a:chOff x="0" y="0"/>
            <a:chExt cx="21457920" cy="207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E3F7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4718304"/>
            <a:ext cx="1005840" cy="1005840"/>
            <a:chOff x="0" y="0"/>
            <a:chExt cx="134112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43200" y="4535424"/>
            <a:ext cx="4754880" cy="1554480"/>
            <a:chOff x="0" y="0"/>
            <a:chExt cx="6339840" cy="207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39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01" r="0" b="-96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3398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Designers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80960" y="4535424"/>
            <a:ext cx="9144000" cy="1554480"/>
            <a:chOff x="0" y="0"/>
            <a:chExt cx="12192000" cy="2072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192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Instead of training 50 candidate models to find the most efficient one, designers can plot accuracy vs. predicted energy for all candidates instantly — turning months of experiments into minutes.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" y="6327648"/>
            <a:ext cx="16093440" cy="1554480"/>
            <a:chOff x="0" y="0"/>
            <a:chExt cx="21457920" cy="2072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E2FFF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1600" y="6510528"/>
            <a:ext cx="1005840" cy="1005840"/>
            <a:chOff x="0" y="0"/>
            <a:chExt cx="1341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A9D8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743200" y="6327648"/>
            <a:ext cx="4754880" cy="1554480"/>
            <a:chOff x="0" y="0"/>
            <a:chExt cx="6339840" cy="2072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01" r="0" b="-96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3398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Organizations at Scale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80960" y="6327648"/>
            <a:ext cx="9144000" cy="1554480"/>
            <a:chOff x="0" y="0"/>
            <a:chExt cx="1219200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192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2192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Companies retraining models weekly can schedule training during off-peak hours, choose optimal hardware, and set energy budgets per project. At $100M+ training costs, even 10% savings is transformative.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" y="8119872"/>
            <a:ext cx="16093440" cy="1554480"/>
            <a:chOff x="0" y="0"/>
            <a:chExt cx="21457920" cy="2072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3E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71600" y="8302752"/>
            <a:ext cx="1005840" cy="1005840"/>
            <a:chOff x="0" y="0"/>
            <a:chExt cx="1341120" cy="1341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743200" y="8119872"/>
            <a:ext cx="4754880" cy="1554480"/>
            <a:chOff x="0" y="0"/>
            <a:chExt cx="6339840" cy="2072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9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01" r="0" b="-9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3398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Environmental Accountability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80960" y="8119872"/>
            <a:ext cx="9144000" cy="1554480"/>
            <a:chOff x="0" y="0"/>
            <a:chExt cx="12192000" cy="2072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192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EU AI Act and sustainability frameworks are pushing toward mandatory carbon disclosure. Our tool enables carbon budgeting before training — not just carbon receipts after the fact.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8230" y="2175510"/>
            <a:ext cx="16131540" cy="2598420"/>
            <a:chOff x="0" y="0"/>
            <a:chExt cx="21508720" cy="346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25400"/>
              <a:ext cx="214579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3E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87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21508720">
                  <a:moveTo>
                    <a:pt x="25400" y="0"/>
                  </a:moveTo>
                  <a:lnTo>
                    <a:pt x="21483320" y="0"/>
                  </a:lnTo>
                  <a:cubicBezTo>
                    <a:pt x="21497289" y="0"/>
                    <a:pt x="21508720" y="11430"/>
                    <a:pt x="21508720" y="25400"/>
                  </a:cubicBezTo>
                  <a:lnTo>
                    <a:pt x="21508720" y="3439160"/>
                  </a:lnTo>
                  <a:cubicBezTo>
                    <a:pt x="21508720" y="3453130"/>
                    <a:pt x="21497289" y="3464560"/>
                    <a:pt x="214833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21483320" y="3413760"/>
                  </a:lnTo>
                  <a:lnTo>
                    <a:pt x="21483320" y="3439160"/>
                  </a:lnTo>
                  <a:lnTo>
                    <a:pt x="21457920" y="3439160"/>
                  </a:lnTo>
                  <a:lnTo>
                    <a:pt x="21457920" y="25400"/>
                  </a:lnTo>
                  <a:lnTo>
                    <a:pt x="21483320" y="25400"/>
                  </a:lnTo>
                  <a:lnTo>
                    <a:pt x="21483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5920" y="2377440"/>
            <a:ext cx="14996160" cy="2194560"/>
            <a:chOff x="0" y="0"/>
            <a:chExt cx="19994880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99488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Problem: No reliable method exists to predict how much energy a neural network training run will consume before it begins.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5303520"/>
            <a:ext cx="146304" cy="1828800"/>
            <a:chOff x="0" y="0"/>
            <a:chExt cx="195072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" y="5303520"/>
            <a:ext cx="3291840" cy="1828800"/>
            <a:chOff x="0" y="0"/>
            <a:chExt cx="4389120" cy="243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891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Measurement Tools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(CodeCarbon, Zeus)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37760" y="5303520"/>
            <a:ext cx="4206240" cy="1828800"/>
            <a:chOff x="0" y="0"/>
            <a:chExt cx="5608320" cy="243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6083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work during/after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— resources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already committed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0" y="5303520"/>
            <a:ext cx="146304" cy="1828800"/>
            <a:chOff x="0" y="0"/>
            <a:chExt cx="195072" cy="243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75520" y="5303520"/>
            <a:ext cx="3291840" cy="1828800"/>
            <a:chOff x="0" y="0"/>
            <a:chExt cx="4389120" cy="243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3891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Analytical Methods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(FLOPs, TDP)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50240" y="5303520"/>
            <a:ext cx="4206240" cy="1828800"/>
            <a:chOff x="0" y="0"/>
            <a:chExt cx="560832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6083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Crude proxies that miss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memory, I/O, and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utilization factors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7280" y="7498080"/>
            <a:ext cx="146304" cy="1828800"/>
            <a:chOff x="0" y="0"/>
            <a:chExt cx="195072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63040" y="7498080"/>
            <a:ext cx="3291840" cy="1828800"/>
            <a:chOff x="0" y="0"/>
            <a:chExt cx="4389120" cy="243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3891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Predictors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(NeuralPower)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37760" y="7498080"/>
            <a:ext cx="4206240" cy="1828800"/>
            <a:chOff x="0" y="0"/>
            <a:chExt cx="5608320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6083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to specific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architectures &amp; GPUs;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poor transferability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09760" y="7498080"/>
            <a:ext cx="146304" cy="1828800"/>
            <a:chOff x="0" y="0"/>
            <a:chExt cx="195072" cy="2438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75520" y="7498080"/>
            <a:ext cx="3291840" cy="1828800"/>
            <a:chOff x="0" y="0"/>
            <a:chExt cx="4389120" cy="2438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3891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Accuracy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(Fischer, 2025)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50240" y="7498080"/>
            <a:ext cx="4206240" cy="1828800"/>
            <a:chOff x="0" y="0"/>
            <a:chExt cx="5608320" cy="2438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6083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 to 40% error vs.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hardware-level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measurements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Research Aim &amp;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011680"/>
            <a:ext cx="16093440" cy="1828800"/>
            <a:chOff x="0" y="0"/>
            <a:chExt cx="2145792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3A4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45920" y="2103120"/>
            <a:ext cx="14996160" cy="1645920"/>
            <a:chOff x="0" y="0"/>
            <a:chExt cx="199948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94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99488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AIM: To develop and evaluate an ML-based predictive framework for estimating energy consumption of neural network training from pre-training features.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4389120"/>
            <a:ext cx="16093440" cy="1097280"/>
            <a:chOff x="0" y="0"/>
            <a:chExt cx="2145792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4389120"/>
            <a:ext cx="822960" cy="1097280"/>
            <a:chOff x="0" y="0"/>
            <a:chExt cx="109728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" cy="151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77440" y="4389120"/>
            <a:ext cx="14630400" cy="1097280"/>
            <a:chOff x="0" y="0"/>
            <a:chExt cx="1950720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95072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architectural, hardware, and configuration features that influence training energy consumption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5705856"/>
            <a:ext cx="16093440" cy="1097280"/>
            <a:chOff x="0" y="0"/>
            <a:chExt cx="2145792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0160" y="5705856"/>
            <a:ext cx="822960" cy="1097280"/>
            <a:chOff x="0" y="0"/>
            <a:chExt cx="109728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97280" cy="151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77440" y="5705856"/>
            <a:ext cx="14630400" cy="1097280"/>
            <a:chOff x="0" y="0"/>
            <a:chExt cx="1950720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0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5072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and compare ML regression models (Random Forest, XGBoost, Neural Network) for energy prediction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7022592"/>
            <a:ext cx="16093440" cy="1097280"/>
            <a:chOff x="0" y="0"/>
            <a:chExt cx="2145792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0160" y="7022592"/>
            <a:ext cx="822960" cy="1097280"/>
            <a:chOff x="0" y="0"/>
            <a:chExt cx="109728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97280" cy="151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377440" y="7022592"/>
            <a:ext cx="14630400" cy="1097280"/>
            <a:chOff x="0" y="0"/>
            <a:chExt cx="1950720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50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95072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predictive accuracy and cross-architecture generalizability using MAE, RMSE, R², MAPE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7280" y="8339328"/>
            <a:ext cx="16093440" cy="1097280"/>
            <a:chOff x="0" y="0"/>
            <a:chExt cx="2145792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0160" y="8339328"/>
            <a:ext cx="822960" cy="1097280"/>
            <a:chOff x="0" y="0"/>
            <a:chExt cx="109728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97280" cy="151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377440" y="8339328"/>
            <a:ext cx="14630400" cy="1097280"/>
            <a:chOff x="0" y="0"/>
            <a:chExt cx="1950720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0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95072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Assess whether ML-based prediction outperforms FLOP-based and TDP-based analytical baselines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Research Questions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194560"/>
            <a:ext cx="16093440" cy="1554480"/>
            <a:chOff x="0" y="0"/>
            <a:chExt cx="21457920" cy="2072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194560"/>
            <a:ext cx="146304" cy="1554480"/>
            <a:chOff x="0" y="0"/>
            <a:chExt cx="195072" cy="2072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54480" y="2194560"/>
            <a:ext cx="1005840" cy="1554480"/>
            <a:chOff x="0" y="0"/>
            <a:chExt cx="1341120" cy="2072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4112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RQ1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43200" y="2194560"/>
            <a:ext cx="14081760" cy="1554480"/>
            <a:chOff x="0" y="0"/>
            <a:chExt cx="18775680" cy="2072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7756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7756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Which architectural, hardware, and configuration features are the strongest predictors of training energy consumption?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4114800"/>
            <a:ext cx="16093440" cy="1554480"/>
            <a:chOff x="0" y="0"/>
            <a:chExt cx="21457920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4114800"/>
            <a:ext cx="146304" cy="1554480"/>
            <a:chOff x="0" y="0"/>
            <a:chExt cx="195072" cy="207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54480" y="4114800"/>
            <a:ext cx="1005840" cy="1554480"/>
            <a:chOff x="0" y="0"/>
            <a:chExt cx="1341120" cy="207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4112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RQ2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43200" y="4114800"/>
            <a:ext cx="14081760" cy="1554480"/>
            <a:chOff x="0" y="0"/>
            <a:chExt cx="18775680" cy="2072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7756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87756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accurately can ML regression models predict energy consumption from pre-training features alone?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6035040"/>
            <a:ext cx="16093440" cy="1554480"/>
            <a:chOff x="0" y="0"/>
            <a:chExt cx="21457920" cy="2072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6035040"/>
            <a:ext cx="146304" cy="1554480"/>
            <a:chOff x="0" y="0"/>
            <a:chExt cx="195072" cy="2072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54480" y="6035040"/>
            <a:ext cx="1005840" cy="1554480"/>
            <a:chOff x="0" y="0"/>
            <a:chExt cx="1341120" cy="2072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34112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RQ3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743200" y="6035040"/>
            <a:ext cx="14081760" cy="1554480"/>
            <a:chOff x="0" y="0"/>
            <a:chExt cx="18775680" cy="2072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7756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87756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what extent do predictions generalize across different neural network architectures and hardware?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7955280"/>
            <a:ext cx="16093440" cy="1554480"/>
            <a:chOff x="0" y="0"/>
            <a:chExt cx="21457920" cy="2072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7955280"/>
            <a:ext cx="146304" cy="1554480"/>
            <a:chOff x="0" y="0"/>
            <a:chExt cx="195072" cy="2072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54480" y="7955280"/>
            <a:ext cx="1005840" cy="1554480"/>
            <a:chOff x="0" y="0"/>
            <a:chExt cx="1341120" cy="2072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4112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RQ4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743200" y="7955280"/>
            <a:ext cx="14081760" cy="1554480"/>
            <a:chOff x="0" y="0"/>
            <a:chExt cx="18775680" cy="2072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7756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87756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 ML-based predictions outperform traditional FLOP-based and TDP-based estimation methods?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Literature Review: Key Themes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194560"/>
            <a:ext cx="4023360" cy="7315200"/>
            <a:chOff x="0" y="0"/>
            <a:chExt cx="5364480" cy="9753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9753600"/>
            </a:xfrm>
            <a:custGeom>
              <a:avLst/>
              <a:gdLst/>
              <a:ahLst/>
              <a:cxnLst/>
              <a:rect r="r" b="b" t="t" l="l"/>
              <a:pathLst>
                <a:path h="9753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2194560"/>
            <a:ext cx="4023360" cy="1005840"/>
            <a:chOff x="0" y="0"/>
            <a:chExt cx="536448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2194560"/>
            <a:ext cx="4023360" cy="1005840"/>
            <a:chOff x="0" y="0"/>
            <a:chExt cx="536448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3644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Rising Energy Costs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97280" y="3482340"/>
            <a:ext cx="329184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300,000x compute growth;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BLOOM: 24.7t CO₂;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GPT-4: $5M+ electricity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5840" y="6400800"/>
            <a:ext cx="3474720" cy="548640"/>
            <a:chOff x="0" y="0"/>
            <a:chExt cx="46329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i="true">
                  <a:solidFill>
                    <a:srgbClr val="64748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Key Papers: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" y="6949440"/>
            <a:ext cx="3474720" cy="1828800"/>
            <a:chOff x="0" y="0"/>
            <a:chExt cx="4632960" cy="243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6329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Schwartz (2020)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Luccioni (2023)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Strubell (2019)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29200" y="2194560"/>
            <a:ext cx="4023360" cy="7315200"/>
            <a:chOff x="0" y="0"/>
            <a:chExt cx="5364480" cy="9753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4480" cy="9753600"/>
            </a:xfrm>
            <a:custGeom>
              <a:avLst/>
              <a:gdLst/>
              <a:ahLst/>
              <a:cxnLst/>
              <a:rect r="r" b="b" t="t" l="l"/>
              <a:pathLst>
                <a:path h="9753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29200" y="2194560"/>
            <a:ext cx="4023360" cy="1005840"/>
            <a:chOff x="0" y="0"/>
            <a:chExt cx="536448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029200" y="2194560"/>
            <a:ext cx="4023360" cy="1005840"/>
            <a:chOff x="0" y="0"/>
            <a:chExt cx="536448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3644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Measurement Tools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94960" y="3482340"/>
            <a:ext cx="329184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CodeCarbon, Carbontracker,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Zeus — all require training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to run first; up to 40% error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303520" y="6400800"/>
            <a:ext cx="3474720" cy="548640"/>
            <a:chOff x="0" y="0"/>
            <a:chExt cx="46329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i="true">
                  <a:solidFill>
                    <a:srgbClr val="64748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Key Papers: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03520" y="6949440"/>
            <a:ext cx="3474720" cy="1828800"/>
            <a:chOff x="0" y="0"/>
            <a:chExt cx="4632960" cy="2438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6329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Fischer (2025)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Bouza (2023)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Anthony (2020)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26880" y="2194560"/>
            <a:ext cx="4023360" cy="7315200"/>
            <a:chOff x="0" y="0"/>
            <a:chExt cx="5364480" cy="9753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9753600"/>
            </a:xfrm>
            <a:custGeom>
              <a:avLst/>
              <a:gdLst/>
              <a:ahLst/>
              <a:cxnLst/>
              <a:rect r="r" b="b" t="t" l="l"/>
              <a:pathLst>
                <a:path h="9753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26880" y="2194560"/>
            <a:ext cx="4023360" cy="1005840"/>
            <a:chOff x="0" y="0"/>
            <a:chExt cx="536448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26880" y="2194560"/>
            <a:ext cx="4023360" cy="1005840"/>
            <a:chOff x="0" y="0"/>
            <a:chExt cx="536448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3644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Predictive Approaches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92640" y="3482340"/>
            <a:ext cx="329184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NeuralPower (CNNs only),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SDEnergy (IoT inference),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FLOP-based (crude proxy)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601200" y="6400800"/>
            <a:ext cx="3474720" cy="548640"/>
            <a:chOff x="0" y="0"/>
            <a:chExt cx="46329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i="true">
                  <a:solidFill>
                    <a:srgbClr val="64748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Key Papers: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0" y="6949440"/>
            <a:ext cx="3474720" cy="1828800"/>
            <a:chOff x="0" y="0"/>
            <a:chExt cx="463296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6329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Cai (2017)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Chen (2024)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García-Martín (2019)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624560" y="2194560"/>
            <a:ext cx="4023360" cy="7315200"/>
            <a:chOff x="0" y="0"/>
            <a:chExt cx="5364480" cy="9753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9753600"/>
            </a:xfrm>
            <a:custGeom>
              <a:avLst/>
              <a:gdLst/>
              <a:ahLst/>
              <a:cxnLst/>
              <a:rect r="r" b="b" t="t" l="l"/>
              <a:pathLst>
                <a:path h="9753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624560" y="2194560"/>
            <a:ext cx="4023360" cy="1005840"/>
            <a:chOff x="0" y="0"/>
            <a:chExt cx="536448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24560" y="2194560"/>
            <a:ext cx="4023360" cy="1005840"/>
            <a:chOff x="0" y="0"/>
            <a:chExt cx="5364480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3644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Datasets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990320" y="3482340"/>
            <a:ext cx="329184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BUTTER-E: 63K runs with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watt-meter data; EC-NAS: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D3D"/>
                </a:solidFill>
                <a:latin typeface="Calibri (MS)"/>
                <a:ea typeface="Calibri (MS)"/>
                <a:cs typeface="Calibri (MS)"/>
                <a:sym typeface="Calibri (MS)"/>
              </a:rPr>
              <a:t>423K CNN architectures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898880" y="6400800"/>
            <a:ext cx="3474720" cy="548640"/>
            <a:chOff x="0" y="0"/>
            <a:chExt cx="4632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3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632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i="true">
                  <a:solidFill>
                    <a:srgbClr val="64748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Key Papers: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898880" y="6949440"/>
            <a:ext cx="3474720" cy="1828800"/>
            <a:chOff x="0" y="0"/>
            <a:chExt cx="4632960" cy="2438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6329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Tripp (2024)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Bakhtiarifard (2024)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Ying (2019)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Literature Review: Comparison of Existing Approaches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14427200" cy="5689600"/>
        </p:xfrm>
        <a:graphic>
          <a:graphicData uri="http://schemas.openxmlformats.org/drawingml/2006/table">
            <a:tbl>
              <a:tblPr/>
              <a:tblGrid>
                <a:gridCol w="2921646"/>
                <a:gridCol w="2740615"/>
                <a:gridCol w="3283709"/>
                <a:gridCol w="2740615"/>
                <a:gridCol w="2740615"/>
              </a:tblGrid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Approach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Scope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E2D3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CodeCarbon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Software meter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General 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During training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 to 40% error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E2D3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Carbontracker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Software meter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General 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During training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E2D3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NeuralPower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Predictive 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CNNs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priori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~97% (narrow)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E2D3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FLOP-based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Analytical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General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priori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~20% error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E2D3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SDEnergy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GNN + FC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IoT inference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priori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5.35% MAPE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E76F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This Study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E2D3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Cross-architecture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1E2D3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 priori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E2D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 be evaluated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097280" y="8961120"/>
            <a:ext cx="16093440" cy="731520"/>
            <a:chOff x="0" y="0"/>
            <a:chExt cx="2145792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457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i="true">
                  <a:solidFill>
                    <a:srgbClr val="065A82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This study uniquely combines cross-architecture scope with a priori prediction using large-scale benchmark data.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28549" y="-5476093"/>
            <a:ext cx="9982129" cy="9982129"/>
          </a:xfrm>
          <a:custGeom>
            <a:avLst/>
            <a:gdLst/>
            <a:ahLst/>
            <a:cxnLst/>
            <a:rect r="r" b="b" t="t" l="l"/>
            <a:pathLst>
              <a:path h="9982129" w="9982129">
                <a:moveTo>
                  <a:pt x="0" y="0"/>
                </a:moveTo>
                <a:lnTo>
                  <a:pt x="9982128" y="0"/>
                </a:lnTo>
                <a:lnTo>
                  <a:pt x="9982128" y="9982129"/>
                </a:lnTo>
                <a:lnTo>
                  <a:pt x="0" y="998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7028" y="-2722710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5" y="0"/>
                </a:lnTo>
                <a:lnTo>
                  <a:pt x="12548545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03089" y="7069163"/>
            <a:ext cx="9606178" cy="9606178"/>
          </a:xfrm>
          <a:custGeom>
            <a:avLst/>
            <a:gdLst/>
            <a:ahLst/>
            <a:cxnLst/>
            <a:rect r="r" b="b" t="t" l="l"/>
            <a:pathLst>
              <a:path h="9606178" w="9606178">
                <a:moveTo>
                  <a:pt x="0" y="0"/>
                </a:moveTo>
                <a:lnTo>
                  <a:pt x="9606178" y="0"/>
                </a:lnTo>
                <a:lnTo>
                  <a:pt x="9606178" y="9606178"/>
                </a:lnTo>
                <a:lnTo>
                  <a:pt x="0" y="960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618617" y="4130872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5" y="0"/>
                </a:lnTo>
                <a:lnTo>
                  <a:pt x="12548545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Research Gap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0927" y="2188207"/>
            <a:ext cx="16106137" cy="1567177"/>
            <a:chOff x="0" y="0"/>
            <a:chExt cx="21474849" cy="20895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8509" y="8509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B3A4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74937" cy="2089658"/>
            </a:xfrm>
            <a:custGeom>
              <a:avLst/>
              <a:gdLst/>
              <a:ahLst/>
              <a:cxnLst/>
              <a:rect r="r" b="b" t="t" l="l"/>
              <a:pathLst>
                <a:path h="2089658" w="21474937">
                  <a:moveTo>
                    <a:pt x="8509" y="0"/>
                  </a:moveTo>
                  <a:lnTo>
                    <a:pt x="21466429" y="0"/>
                  </a:lnTo>
                  <a:cubicBezTo>
                    <a:pt x="21471128" y="0"/>
                    <a:pt x="21474937" y="3810"/>
                    <a:pt x="21474937" y="8509"/>
                  </a:cubicBezTo>
                  <a:lnTo>
                    <a:pt x="21474937" y="2081149"/>
                  </a:lnTo>
                  <a:cubicBezTo>
                    <a:pt x="21474937" y="2085848"/>
                    <a:pt x="21471128" y="2089658"/>
                    <a:pt x="2146642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21466429" y="2072640"/>
                  </a:lnTo>
                  <a:lnTo>
                    <a:pt x="21466429" y="2081149"/>
                  </a:lnTo>
                  <a:lnTo>
                    <a:pt x="21457920" y="2081149"/>
                  </a:lnTo>
                  <a:lnTo>
                    <a:pt x="21457920" y="8509"/>
                  </a:lnTo>
                  <a:lnTo>
                    <a:pt x="21466429" y="8509"/>
                  </a:lnTo>
                  <a:lnTo>
                    <a:pt x="21466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3040" y="2286000"/>
            <a:ext cx="1005840" cy="1005840"/>
            <a:chOff x="0" y="0"/>
            <a:chExt cx="134112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53D4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76F5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43200" y="2194560"/>
            <a:ext cx="4572000" cy="1554480"/>
            <a:chOff x="0" y="0"/>
            <a:chExt cx="6096000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09600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a priori prediction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98080" y="2194560"/>
            <a:ext cx="9326880" cy="1554480"/>
            <a:chOff x="0" y="0"/>
            <a:chExt cx="12435840" cy="2072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35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243584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C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tools only measure during or after training — resources must already be committed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0927" y="4017007"/>
            <a:ext cx="16106137" cy="1567177"/>
            <a:chOff x="0" y="0"/>
            <a:chExt cx="21474849" cy="20895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B3A4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474937" cy="2089658"/>
            </a:xfrm>
            <a:custGeom>
              <a:avLst/>
              <a:gdLst/>
              <a:ahLst/>
              <a:cxnLst/>
              <a:rect r="r" b="b" t="t" l="l"/>
              <a:pathLst>
                <a:path h="2089658" w="21474937">
                  <a:moveTo>
                    <a:pt x="8509" y="0"/>
                  </a:moveTo>
                  <a:lnTo>
                    <a:pt x="21466429" y="0"/>
                  </a:lnTo>
                  <a:cubicBezTo>
                    <a:pt x="21471128" y="0"/>
                    <a:pt x="21474937" y="3810"/>
                    <a:pt x="21474937" y="8509"/>
                  </a:cubicBezTo>
                  <a:lnTo>
                    <a:pt x="21474937" y="2081149"/>
                  </a:lnTo>
                  <a:cubicBezTo>
                    <a:pt x="21474937" y="2085848"/>
                    <a:pt x="21471128" y="2089658"/>
                    <a:pt x="2146642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21466429" y="2072640"/>
                  </a:lnTo>
                  <a:lnTo>
                    <a:pt x="21466429" y="2081149"/>
                  </a:lnTo>
                  <a:lnTo>
                    <a:pt x="21457920" y="2081149"/>
                  </a:lnTo>
                  <a:lnTo>
                    <a:pt x="21457920" y="8509"/>
                  </a:lnTo>
                  <a:lnTo>
                    <a:pt x="21466429" y="8509"/>
                  </a:lnTo>
                  <a:lnTo>
                    <a:pt x="21466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63040" y="4114800"/>
            <a:ext cx="1005840" cy="1005840"/>
            <a:chOff x="0" y="0"/>
            <a:chExt cx="134112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53D4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76F5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743200" y="4023360"/>
            <a:ext cx="4572000" cy="1554480"/>
            <a:chOff x="0" y="0"/>
            <a:chExt cx="6096000" cy="2072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09600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40% measurement error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98080" y="4023360"/>
            <a:ext cx="9326880" cy="1554480"/>
            <a:chOff x="0" y="0"/>
            <a:chExt cx="12435840" cy="2072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35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243584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C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Software-based tools significantly under- or overestimate vs. hardware-level ground truth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0927" y="5845807"/>
            <a:ext cx="16106137" cy="1567177"/>
            <a:chOff x="0" y="0"/>
            <a:chExt cx="21474849" cy="208956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8509" y="8509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B3A4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474937" cy="2089658"/>
            </a:xfrm>
            <a:custGeom>
              <a:avLst/>
              <a:gdLst/>
              <a:ahLst/>
              <a:cxnLst/>
              <a:rect r="r" b="b" t="t" l="l"/>
              <a:pathLst>
                <a:path h="2089658" w="21474937">
                  <a:moveTo>
                    <a:pt x="8509" y="0"/>
                  </a:moveTo>
                  <a:lnTo>
                    <a:pt x="21466429" y="0"/>
                  </a:lnTo>
                  <a:cubicBezTo>
                    <a:pt x="21471128" y="0"/>
                    <a:pt x="21474937" y="3810"/>
                    <a:pt x="21474937" y="8509"/>
                  </a:cubicBezTo>
                  <a:lnTo>
                    <a:pt x="21474937" y="2081149"/>
                  </a:lnTo>
                  <a:cubicBezTo>
                    <a:pt x="21474937" y="2085848"/>
                    <a:pt x="21471128" y="2089658"/>
                    <a:pt x="2146642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21466429" y="2072640"/>
                  </a:lnTo>
                  <a:lnTo>
                    <a:pt x="21466429" y="2081149"/>
                  </a:lnTo>
                  <a:lnTo>
                    <a:pt x="21457920" y="2081149"/>
                  </a:lnTo>
                  <a:lnTo>
                    <a:pt x="21457920" y="8509"/>
                  </a:lnTo>
                  <a:lnTo>
                    <a:pt x="21466429" y="8509"/>
                  </a:lnTo>
                  <a:lnTo>
                    <a:pt x="21466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63040" y="5943600"/>
            <a:ext cx="1005840" cy="1005840"/>
            <a:chOff x="0" y="0"/>
            <a:chExt cx="134112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53D4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76F5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743200" y="5852160"/>
            <a:ext cx="4572000" cy="1554480"/>
            <a:chOff x="0" y="0"/>
            <a:chExt cx="6096000" cy="2072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609600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Architecture-specific models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98080" y="5852160"/>
            <a:ext cx="9326880" cy="1554480"/>
            <a:chOff x="0" y="0"/>
            <a:chExt cx="12435840" cy="2072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435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243584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C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NeuralPower works only for CNNs; SDEnergy only for IoT inference — poor transferability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90927" y="7674607"/>
            <a:ext cx="16106137" cy="1567177"/>
            <a:chOff x="0" y="0"/>
            <a:chExt cx="21474849" cy="208956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8509" y="8509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B3A4B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74937" cy="2089658"/>
            </a:xfrm>
            <a:custGeom>
              <a:avLst/>
              <a:gdLst/>
              <a:ahLst/>
              <a:cxnLst/>
              <a:rect r="r" b="b" t="t" l="l"/>
              <a:pathLst>
                <a:path h="2089658" w="21474937">
                  <a:moveTo>
                    <a:pt x="8509" y="0"/>
                  </a:moveTo>
                  <a:lnTo>
                    <a:pt x="21466429" y="0"/>
                  </a:lnTo>
                  <a:cubicBezTo>
                    <a:pt x="21471128" y="0"/>
                    <a:pt x="21474937" y="3810"/>
                    <a:pt x="21474937" y="8509"/>
                  </a:cubicBezTo>
                  <a:lnTo>
                    <a:pt x="21474937" y="2081149"/>
                  </a:lnTo>
                  <a:cubicBezTo>
                    <a:pt x="21474937" y="2085848"/>
                    <a:pt x="21471128" y="2089658"/>
                    <a:pt x="2146642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21466429" y="2072640"/>
                  </a:lnTo>
                  <a:lnTo>
                    <a:pt x="21466429" y="2081149"/>
                  </a:lnTo>
                  <a:lnTo>
                    <a:pt x="21457920" y="2081149"/>
                  </a:lnTo>
                  <a:lnTo>
                    <a:pt x="21457920" y="8509"/>
                  </a:lnTo>
                  <a:lnTo>
                    <a:pt x="21466429" y="8509"/>
                  </a:lnTo>
                  <a:lnTo>
                    <a:pt x="21466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3040" y="7772400"/>
            <a:ext cx="1005840" cy="1005840"/>
            <a:chOff x="0" y="0"/>
            <a:chExt cx="134112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53D4E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76F5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743200" y="7680960"/>
            <a:ext cx="4572000" cy="1554480"/>
            <a:chOff x="0" y="0"/>
            <a:chExt cx="6096000" cy="2072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609600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Unexploited benchmark data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98080" y="7680960"/>
            <a:ext cx="9326880" cy="1554480"/>
            <a:chOff x="0" y="0"/>
            <a:chExt cx="12435840" cy="2072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435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1243584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C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BUTTER-E and EC-NAS provide 486K+ real measurements, yet haven’t been used for cross-architecture prediction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28549" y="-5476093"/>
            <a:ext cx="9982129" cy="9982129"/>
          </a:xfrm>
          <a:custGeom>
            <a:avLst/>
            <a:gdLst/>
            <a:ahLst/>
            <a:cxnLst/>
            <a:rect r="r" b="b" t="t" l="l"/>
            <a:pathLst>
              <a:path h="9982129" w="9982129">
                <a:moveTo>
                  <a:pt x="0" y="0"/>
                </a:moveTo>
                <a:lnTo>
                  <a:pt x="9982128" y="0"/>
                </a:lnTo>
                <a:lnTo>
                  <a:pt x="9982128" y="9982129"/>
                </a:lnTo>
                <a:lnTo>
                  <a:pt x="0" y="998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61967" y="-2679778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6" y="0"/>
                </a:lnTo>
                <a:lnTo>
                  <a:pt x="12548546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03089" y="7069163"/>
            <a:ext cx="9606178" cy="9606178"/>
          </a:xfrm>
          <a:custGeom>
            <a:avLst/>
            <a:gdLst/>
            <a:ahLst/>
            <a:cxnLst/>
            <a:rect r="r" b="b" t="t" l="l"/>
            <a:pathLst>
              <a:path h="9606178" w="9606178">
                <a:moveTo>
                  <a:pt x="0" y="0"/>
                </a:moveTo>
                <a:lnTo>
                  <a:pt x="9606178" y="0"/>
                </a:lnTo>
                <a:lnTo>
                  <a:pt x="9606178" y="9606178"/>
                </a:lnTo>
                <a:lnTo>
                  <a:pt x="0" y="960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618617" y="4130872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5" y="0"/>
                </a:lnTo>
                <a:lnTo>
                  <a:pt x="12548545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Makes This Study Novel?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194560"/>
            <a:ext cx="5394960" cy="6949440"/>
            <a:chOff x="0" y="0"/>
            <a:chExt cx="7193280" cy="926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247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34640" y="2560320"/>
            <a:ext cx="1280160" cy="1280160"/>
            <a:chOff x="0" y="0"/>
            <a:chExt cx="170688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34640" y="2560320"/>
            <a:ext cx="1280160" cy="1280160"/>
            <a:chOff x="0" y="0"/>
            <a:chExt cx="1706880" cy="1706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70688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" y="4114800"/>
            <a:ext cx="4846320" cy="1280160"/>
            <a:chOff x="0" y="0"/>
            <a:chExt cx="6461760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617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764" r="0" b="-237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46176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 Data,</a:t>
              </a:r>
            </a:p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0F4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 Time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75120" y="2194560"/>
            <a:ext cx="5394960" cy="6949440"/>
            <a:chOff x="0" y="0"/>
            <a:chExt cx="7193280" cy="926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93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2475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95360" y="2560320"/>
            <a:ext cx="1280160" cy="1280160"/>
            <a:chOff x="0" y="0"/>
            <a:chExt cx="170688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95360" y="2560320"/>
            <a:ext cx="1280160" cy="1280160"/>
            <a:chOff x="0" y="0"/>
            <a:chExt cx="1706880" cy="170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70688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0" y="4114800"/>
            <a:ext cx="4846320" cy="1280160"/>
            <a:chOff x="0" y="0"/>
            <a:chExt cx="6461760" cy="1706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617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764" r="0" b="-237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46176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Cross-Architecture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35840" y="2194560"/>
            <a:ext cx="5394960" cy="6949440"/>
            <a:chOff x="0" y="0"/>
            <a:chExt cx="7193280" cy="926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93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2475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356080" y="2560320"/>
            <a:ext cx="1280160" cy="1280160"/>
            <a:chOff x="0" y="0"/>
            <a:chExt cx="170688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356080" y="2560320"/>
            <a:ext cx="1280160" cy="1280160"/>
            <a:chOff x="0" y="0"/>
            <a:chExt cx="1706880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70688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710160" y="4114800"/>
            <a:ext cx="4846320" cy="1280160"/>
            <a:chOff x="0" y="0"/>
            <a:chExt cx="6461760" cy="17068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617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764" r="0" b="-2376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46176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Connecting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Siloed Communities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9418320"/>
            <a:ext cx="16459200" cy="640080"/>
            <a:chOff x="0" y="0"/>
            <a:chExt cx="2194560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 a new algorithm — a new application of ML to a problem that wasn’t solvable until the data existed.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71600" y="5585460"/>
            <a:ext cx="4480560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8ECF0"/>
                </a:solidFill>
                <a:latin typeface="Calibri (MS)"/>
                <a:ea typeface="Calibri (MS)"/>
                <a:cs typeface="Calibri (MS)"/>
                <a:sym typeface="Calibri (MS)"/>
              </a:rPr>
              <a:t>BUTTER-E (2024) and EC-NAS (2024) only became available last year. 486K+ real watt-meter measurements across multiple architectures and hardware. Nobody could have done this study in 2022 — the data didn’t exist.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132320" y="5585460"/>
            <a:ext cx="4480560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8ECF0"/>
                </a:solidFill>
                <a:latin typeface="Calibri (MS)"/>
                <a:ea typeface="Calibri (MS)"/>
                <a:cs typeface="Calibri (MS)"/>
                <a:sym typeface="Calibri (MS)"/>
              </a:rPr>
              <a:t>NeuralPower only works for CNNs. SDEnergy only for IoT inference. FLOP-based methods are too crude. We’re the first to train ML models on both MLPs and CNNs and test whether energy patterns transfer between them.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93040" y="5585460"/>
            <a:ext cx="4480560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8ECF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Systems researchers build measurement tools. Benchmarking researchers collect data. We’re applying ML regression to energy benchmark datasets — connecting dots across communities that don’t typically talk to each other.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2743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Methodology Framework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554480"/>
            <a:ext cx="17190720" cy="8595360"/>
            <a:chOff x="0" y="0"/>
            <a:chExt cx="22920960" cy="11460480"/>
          </a:xfrm>
        </p:grpSpPr>
        <p:sp>
          <p:nvSpPr>
            <p:cNvPr name="Freeform 6" id="6" descr="/home/claude/methodology_framework.png"/>
            <p:cNvSpPr/>
            <p:nvPr/>
          </p:nvSpPr>
          <p:spPr>
            <a:xfrm flipH="false" flipV="false" rot="0">
              <a:off x="0" y="0"/>
              <a:ext cx="22920961" cy="11460480"/>
            </a:xfrm>
            <a:custGeom>
              <a:avLst/>
              <a:gdLst/>
              <a:ahLst/>
              <a:cxnLst/>
              <a:rect r="r" b="b" t="t" l="l"/>
              <a:pathLst>
                <a:path h="114604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1460480"/>
                  </a:lnTo>
                  <a:lnTo>
                    <a:pt x="0" y="1146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 Sources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7863840" cy="6400800"/>
            <a:chOff x="0" y="0"/>
            <a:chExt cx="10485120" cy="853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7863840" cy="1005840"/>
            <a:chOff x="0" y="0"/>
            <a:chExt cx="1048512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194560"/>
            <a:ext cx="7863840" cy="1005840"/>
            <a:chOff x="0" y="0"/>
            <a:chExt cx="1048512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485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BUTTER-E Dataset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0160" y="3474720"/>
            <a:ext cx="7132320" cy="4572000"/>
            <a:chOff x="0" y="0"/>
            <a:chExt cx="9509760" cy="609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245" t="0" r="-3224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50976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63,527 experimental runs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30,582 distinct configurations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connected neural networks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Node-level watt-meter measurements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CPU (Intel Xeon) &amp; GPU (V100)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datasets, 20 sizes, 8 shapes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NREL Open Energy Data Initiative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09760" y="2194560"/>
            <a:ext cx="7863840" cy="6400800"/>
            <a:chOff x="0" y="0"/>
            <a:chExt cx="10485120" cy="853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0" y="2194560"/>
            <a:ext cx="7863840" cy="1005840"/>
            <a:chOff x="0" y="0"/>
            <a:chExt cx="10485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09760" y="2194560"/>
            <a:ext cx="7863840" cy="1005840"/>
            <a:chOff x="0" y="0"/>
            <a:chExt cx="10485120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485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EC-NAS Benchmark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75520" y="3474720"/>
            <a:ext cx="7132320" cy="4572000"/>
            <a:chOff x="0" y="0"/>
            <a:chExt cx="9509760" cy="609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245" t="0" r="-3224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50976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~423,000 CNN architectures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Based on NAS-Bench-101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Convolutional neural networks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Energy, carbon, accuracy metrics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Trained on CIFAR-10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Graph-based architecture descriptions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Bakhtiarifard et al. (2024)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8961120"/>
            <a:ext cx="16459200" cy="731520"/>
            <a:chOff x="0" y="0"/>
            <a:chExt cx="2194560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 i="true">
                  <a:solidFill>
                    <a:srgbClr val="065A82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Combined: 486,000+ configurations with real energy measurements — no new experiments required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Feature Engineering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5394960" cy="6949440"/>
            <a:chOff x="0" y="0"/>
            <a:chExt cx="7193280" cy="926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93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5394960" cy="1005840"/>
            <a:chOff x="0" y="0"/>
            <a:chExt cx="719328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9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011680"/>
            <a:ext cx="5394960" cy="1005840"/>
            <a:chOff x="0" y="0"/>
            <a:chExt cx="719328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10" r="0" b="-545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19328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Features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0160" y="3291840"/>
            <a:ext cx="4663440" cy="5120640"/>
            <a:chOff x="0" y="0"/>
            <a:chExt cx="6217920" cy="6827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179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882" t="0" r="-908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00025"/>
              <a:ext cx="6217920" cy="702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Trainable parameters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depth (layers)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width (max neurons)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Width-to-depth ratio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Estimated FLOPs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Layer type distribution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75120" y="2011680"/>
            <a:ext cx="5394960" cy="6949440"/>
            <a:chOff x="0" y="0"/>
            <a:chExt cx="7193280" cy="926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93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75120" y="2011680"/>
            <a:ext cx="5394960" cy="1005840"/>
            <a:chOff x="0" y="0"/>
            <a:chExt cx="719328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9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75120" y="2011680"/>
            <a:ext cx="5394960" cy="1005840"/>
            <a:chOff x="0" y="0"/>
            <a:chExt cx="7193280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9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10" r="0" b="-545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719328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Features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40880" y="3291840"/>
            <a:ext cx="4663440" cy="5120640"/>
            <a:chOff x="0" y="0"/>
            <a:chExt cx="6217920" cy="6827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882" t="0" r="-908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00025"/>
              <a:ext cx="6217920" cy="702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GPU type (categorical)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GPU memory capacity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Thermal Design Power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bandwidth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capability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35840" y="2011680"/>
            <a:ext cx="5394960" cy="6949440"/>
            <a:chOff x="0" y="0"/>
            <a:chExt cx="7193280" cy="926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93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435840" y="2011680"/>
            <a:ext cx="5394960" cy="1005840"/>
            <a:chOff x="0" y="0"/>
            <a:chExt cx="719328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9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435840" y="2011680"/>
            <a:ext cx="5394960" cy="1005840"/>
            <a:chOff x="0" y="0"/>
            <a:chExt cx="719328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9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10" r="0" b="-545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719328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Config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01600" y="3291840"/>
            <a:ext cx="4663440" cy="5120640"/>
            <a:chOff x="0" y="0"/>
            <a:chExt cx="6217920" cy="6827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882" t="0" r="-9088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00025"/>
              <a:ext cx="6217920" cy="702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 size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rate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size (samples)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Number of epochs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dimensionality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9235440"/>
            <a:ext cx="16459200" cy="640080"/>
            <a:chOff x="0" y="0"/>
            <a:chExt cx="219456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Preprocessing: Standard scaling, one-hot encoding, log transformation of skewed features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 Development &amp; 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5394960" cy="4572000"/>
            <a:chOff x="0" y="0"/>
            <a:chExt cx="7193280" cy="609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932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5394960" cy="914400"/>
            <a:chOff x="0" y="0"/>
            <a:chExt cx="719328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011680"/>
            <a:ext cx="5394960" cy="914400"/>
            <a:chOff x="0" y="0"/>
            <a:chExt cx="719328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1932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8720" y="3108960"/>
            <a:ext cx="4846320" cy="2011680"/>
            <a:chOff x="0" y="0"/>
            <a:chExt cx="6461760" cy="2682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617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58" t="0" r="-3258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4617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Ensemble of decision trees;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 to scaling; provides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importance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" y="5303520"/>
            <a:ext cx="4846320" cy="1097280"/>
            <a:chOff x="0" y="0"/>
            <a:chExt cx="646176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461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Grid search CV</a:t>
              </a:r>
            </a:p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(n_estimators, max_depth)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75120" y="2011680"/>
            <a:ext cx="5394960" cy="4572000"/>
            <a:chOff x="0" y="0"/>
            <a:chExt cx="7193280" cy="609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932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75120" y="2011680"/>
            <a:ext cx="5394960" cy="914400"/>
            <a:chOff x="0" y="0"/>
            <a:chExt cx="719328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75120" y="2011680"/>
            <a:ext cx="5394960" cy="914400"/>
            <a:chOff x="0" y="0"/>
            <a:chExt cx="719328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71932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49440" y="3108960"/>
            <a:ext cx="4846320" cy="2011680"/>
            <a:chOff x="0" y="0"/>
            <a:chExt cx="6461760" cy="2682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617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58" t="0" r="-325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617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 boosting; strong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tabular data; built-in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regularization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49440" y="5303520"/>
            <a:ext cx="4846320" cy="1097280"/>
            <a:chOff x="0" y="0"/>
            <a:chExt cx="646176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461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Bayesian optimization</a:t>
              </a:r>
            </a:p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via Optuna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35840" y="2011680"/>
            <a:ext cx="5394960" cy="4572000"/>
            <a:chOff x="0" y="0"/>
            <a:chExt cx="7193280" cy="609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932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35840" y="2011680"/>
            <a:ext cx="5394960" cy="914400"/>
            <a:chOff x="0" y="0"/>
            <a:chExt cx="719328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35840" y="2011680"/>
            <a:ext cx="5394960" cy="914400"/>
            <a:chOff x="0" y="0"/>
            <a:chExt cx="719328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71932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Neural Network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710160" y="3108960"/>
            <a:ext cx="4846320" cy="2011680"/>
            <a:chOff x="0" y="0"/>
            <a:chExt cx="6461760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617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58" t="0" r="-325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4617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MLP with batch norm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 dropout; captures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complex interactions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10160" y="5303520"/>
            <a:ext cx="4846320" cy="1097280"/>
            <a:chOff x="0" y="0"/>
            <a:chExt cx="646176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461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Architecture search</a:t>
              </a:r>
            </a:p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(2-5 layers, 64-512 width)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7040880"/>
            <a:ext cx="7863840" cy="2743200"/>
            <a:chOff x="0" y="0"/>
            <a:chExt cx="10485120" cy="3657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4400" y="7040880"/>
            <a:ext cx="7863840" cy="731520"/>
            <a:chOff x="0" y="0"/>
            <a:chExt cx="1048512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04851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Analytical Baselines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80160" y="7863840"/>
            <a:ext cx="7132320" cy="1645920"/>
            <a:chOff x="0" y="0"/>
            <a:chExt cx="9509760" cy="2194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509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FLOP-based: FLOPs × (TDP / throughput)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scaling: f(params × epochs)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09760" y="7040880"/>
            <a:ext cx="7863840" cy="2743200"/>
            <a:chOff x="0" y="0"/>
            <a:chExt cx="10485120" cy="3657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851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509760" y="7040880"/>
            <a:ext cx="7863840" cy="731520"/>
            <a:chOff x="0" y="0"/>
            <a:chExt cx="10485120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104851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Metrics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7863840"/>
            <a:ext cx="7132320" cy="1645920"/>
            <a:chOff x="0" y="0"/>
            <a:chExt cx="9509760" cy="21945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509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MAE  |  RMSE  |  R²  |  MAPE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80/10/10 split with stratification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Cross-architecture + leave-one-out HW tests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Transferability Question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4583" y="1998983"/>
            <a:ext cx="16118843" cy="1305563"/>
            <a:chOff x="0" y="0"/>
            <a:chExt cx="21491791" cy="1740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45791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19">
                  <a:moveTo>
                    <a:pt x="0" y="0"/>
                  </a:moveTo>
                  <a:lnTo>
                    <a:pt x="21457919" y="0"/>
                  </a:lnTo>
                  <a:lnTo>
                    <a:pt x="2145791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3E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9170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1491702">
                  <a:moveTo>
                    <a:pt x="16891" y="0"/>
                  </a:moveTo>
                  <a:lnTo>
                    <a:pt x="21474810" y="0"/>
                  </a:lnTo>
                  <a:cubicBezTo>
                    <a:pt x="21484208" y="0"/>
                    <a:pt x="21491702" y="7620"/>
                    <a:pt x="21491702" y="16891"/>
                  </a:cubicBezTo>
                  <a:lnTo>
                    <a:pt x="21491702" y="1723771"/>
                  </a:lnTo>
                  <a:cubicBezTo>
                    <a:pt x="21491702" y="1733169"/>
                    <a:pt x="21484082" y="1740662"/>
                    <a:pt x="2147481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1474810" y="1706880"/>
                  </a:lnTo>
                  <a:lnTo>
                    <a:pt x="21474810" y="1723771"/>
                  </a:lnTo>
                  <a:lnTo>
                    <a:pt x="21457920" y="1723771"/>
                  </a:lnTo>
                  <a:lnTo>
                    <a:pt x="21457920" y="16891"/>
                  </a:lnTo>
                  <a:lnTo>
                    <a:pt x="21474810" y="16891"/>
                  </a:lnTo>
                  <a:lnTo>
                    <a:pt x="214748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5920" y="2011680"/>
            <a:ext cx="14996160" cy="1280160"/>
            <a:chOff x="0" y="0"/>
            <a:chExt cx="1999488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994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 a model that learns energy patterns from MLPs also predict energy for CNNs — and vice versa?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3657600"/>
            <a:ext cx="9144000" cy="731520"/>
            <a:chOff x="0" y="0"/>
            <a:chExt cx="121920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192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B3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Three Evaluation Protocols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4572000"/>
            <a:ext cx="5394960" cy="5120640"/>
            <a:chOff x="0" y="0"/>
            <a:chExt cx="7193280" cy="6827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932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4572000"/>
            <a:ext cx="5394960" cy="914400"/>
            <a:chOff x="0" y="0"/>
            <a:chExt cx="719328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4572000"/>
            <a:ext cx="5394960" cy="914400"/>
            <a:chOff x="0" y="0"/>
            <a:chExt cx="719328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93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Within-Architecture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5669280"/>
            <a:ext cx="4846320" cy="2743200"/>
            <a:chOff x="0" y="0"/>
            <a:chExt cx="6461760" cy="365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617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t="0" r="-2262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46176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on 80% of BUTTER-E,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on 20% of BUTTER-E.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for EC-NAS separately.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Baseline: “Can we predict energy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the same type of network?”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" y="8686800"/>
            <a:ext cx="4846320" cy="640080"/>
            <a:chOff x="0" y="0"/>
            <a:chExt cx="646176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" y="8686800"/>
            <a:ext cx="4846320" cy="640080"/>
            <a:chOff x="0" y="0"/>
            <a:chExt cx="646176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461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MLP → MLP  |  CNN → CNN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75120" y="4572000"/>
            <a:ext cx="5394960" cy="5120640"/>
            <a:chOff x="0" y="0"/>
            <a:chExt cx="7193280" cy="6827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932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75120" y="4572000"/>
            <a:ext cx="5394960" cy="914400"/>
            <a:chOff x="0" y="0"/>
            <a:chExt cx="719328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675120" y="4572000"/>
            <a:ext cx="5394960" cy="914400"/>
            <a:chOff x="0" y="0"/>
            <a:chExt cx="719328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193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Cross-Architecture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49440" y="5669280"/>
            <a:ext cx="4846320" cy="2743200"/>
            <a:chOff x="0" y="0"/>
            <a:chExt cx="6461760" cy="3657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617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t="0" r="-2262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46176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on BUTTER-E (MLPs),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on EC-NAS (CNNs).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 vice versa.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Novel test: “Do energy patterns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transfer across architecture types?”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49440" y="8686800"/>
            <a:ext cx="4846320" cy="640080"/>
            <a:chOff x="0" y="0"/>
            <a:chExt cx="646176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949440" y="8686800"/>
            <a:ext cx="4846320" cy="640080"/>
            <a:chOff x="0" y="0"/>
            <a:chExt cx="646176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461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MLP → CNN  |  CNN → MLP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35840" y="4572000"/>
            <a:ext cx="5394960" cy="5120640"/>
            <a:chOff x="0" y="0"/>
            <a:chExt cx="7193280" cy="6827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932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35840" y="4572000"/>
            <a:ext cx="5394960" cy="914400"/>
            <a:chOff x="0" y="0"/>
            <a:chExt cx="719328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435840" y="4572000"/>
            <a:ext cx="5394960" cy="914400"/>
            <a:chOff x="0" y="0"/>
            <a:chExt cx="719328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9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7193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Combined Model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710160" y="5669280"/>
            <a:ext cx="4846320" cy="2743200"/>
            <a:chOff x="0" y="0"/>
            <a:chExt cx="6461760" cy="3657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617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t="0" r="-2262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46176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Merge both datasets into one.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a unified predictor.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Ultimate question: “Can one model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 across all architectures?”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710160" y="8686800"/>
            <a:ext cx="4846320" cy="640080"/>
            <a:chOff x="0" y="0"/>
            <a:chExt cx="646176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710160" y="8686800"/>
            <a:ext cx="4846320" cy="640080"/>
            <a:chOff x="0" y="0"/>
            <a:chExt cx="646176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461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MLP + CNN → Any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Scope &amp; Honest 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7863840" cy="6583680"/>
            <a:chOff x="0" y="0"/>
            <a:chExt cx="10485120" cy="8778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7863840" cy="914400"/>
            <a:chOff x="0" y="0"/>
            <a:chExt cx="104851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011680"/>
            <a:ext cx="7863840" cy="914400"/>
            <a:chOff x="0" y="0"/>
            <a:chExt cx="1048512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485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Cover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0160" y="3108960"/>
            <a:ext cx="7132320" cy="5120640"/>
            <a:chOff x="0" y="0"/>
            <a:chExt cx="9509760" cy="6827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6827520"/>
            </a:xfrm>
            <a:custGeom>
              <a:avLst/>
              <a:gdLst/>
              <a:ahLst/>
              <a:cxnLst/>
              <a:rect r="r" b="b" t="t" l="l"/>
              <a:pathLst>
                <a:path h="6827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115" t="0" r="-4211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509760" cy="6865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MLPs (fully connected networks)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63,527 runs from BUTTER-E with real watt-meter data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CNNs (convolutional networks)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423,000 architectures from EC-NAS benchmark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CPU and GPU hardware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Intel Xeon CPUs and NVIDIA V100 GPUs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Cross-architecture transfer testing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First study to test MLP ↔ CNN energy prediction transfer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09760" y="2011680"/>
            <a:ext cx="7863840" cy="6583680"/>
            <a:chOff x="0" y="0"/>
            <a:chExt cx="10485120" cy="8778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0" y="2011680"/>
            <a:ext cx="7863840" cy="914400"/>
            <a:chOff x="0" y="0"/>
            <a:chExt cx="104851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09760" y="2011680"/>
            <a:ext cx="7863840" cy="914400"/>
            <a:chOff x="0" y="0"/>
            <a:chExt cx="1048512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485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Don’t Cover (Yet)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75520" y="3108960"/>
            <a:ext cx="7132320" cy="5120640"/>
            <a:chOff x="0" y="0"/>
            <a:chExt cx="9509760" cy="6827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6827520"/>
            </a:xfrm>
            <a:custGeom>
              <a:avLst/>
              <a:gdLst/>
              <a:ahLst/>
              <a:cxnLst/>
              <a:rect r="r" b="b" t="t" l="l"/>
              <a:pathLst>
                <a:path h="6827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115" t="0" r="-4211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509760" cy="6865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Transformers / LLMs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No large-scale energy benchmark exists for Transformers yet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RNNs / LSTMs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Not included in either BUTTER-E or EC-NAS datasets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Diverse GPU hardware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BUTTER-E uses V100; modern A100/H100 not represented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Distributed / multi-GPU training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All runs are single-node; parallel training not tested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8961120"/>
            <a:ext cx="16459200" cy="1097280"/>
            <a:chOff x="0" y="0"/>
            <a:chExt cx="2194560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B3A4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80160" y="8961120"/>
            <a:ext cx="15727680" cy="1097280"/>
            <a:chOff x="0" y="0"/>
            <a:chExt cx="2097024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9702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9702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this scope is sufficient: MLPs and CNNs are the two most fundamental architecture families. If energy patterns transfer between these structurally different networks, it provides strong evidence that a universal predictor is feasible. This study is the necessary first step.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3A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Expected Contributions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011680"/>
            <a:ext cx="16093440" cy="1645920"/>
            <a:chOff x="0" y="0"/>
            <a:chExt cx="2145792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011680"/>
            <a:ext cx="146304" cy="1645920"/>
            <a:chOff x="0" y="0"/>
            <a:chExt cx="195072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54480" y="2011680"/>
            <a:ext cx="4572000" cy="1645920"/>
            <a:chOff x="0" y="0"/>
            <a:chExt cx="609600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Importance Analysis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17920" y="2011680"/>
            <a:ext cx="10607040" cy="1645920"/>
            <a:chOff x="0" y="0"/>
            <a:chExt cx="1414272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42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1427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Empirical identification of which architectural, hardware, and configuration features most strongly predict training energy consumption, using SHAP values and permutation importance.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986784"/>
            <a:ext cx="16093440" cy="1645920"/>
            <a:chOff x="0" y="0"/>
            <a:chExt cx="2145792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3986784"/>
            <a:ext cx="146304" cy="1645920"/>
            <a:chOff x="0" y="0"/>
            <a:chExt cx="195072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54480" y="3986784"/>
            <a:ext cx="4572000" cy="1645920"/>
            <a:chOff x="0" y="0"/>
            <a:chExt cx="609600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Validated Prediction Framework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17920" y="3986784"/>
            <a:ext cx="10607040" cy="1645920"/>
            <a:chOff x="0" y="0"/>
            <a:chExt cx="1414272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142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1427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trained ML model that can estimate energy consumption before training begins, validated across fully connected and convolutional architectures on real watt-meter data.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5961888"/>
            <a:ext cx="16093440" cy="1645920"/>
            <a:chOff x="0" y="0"/>
            <a:chExt cx="2145792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5961888"/>
            <a:ext cx="146304" cy="1645920"/>
            <a:chOff x="0" y="0"/>
            <a:chExt cx="195072" cy="2194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54480" y="5961888"/>
            <a:ext cx="4572000" cy="1645920"/>
            <a:chOff x="0" y="0"/>
            <a:chExt cx="609600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vs. Analytical Comparison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17920" y="5961888"/>
            <a:ext cx="10607040" cy="1645920"/>
            <a:chOff x="0" y="0"/>
            <a:chExt cx="14142720" cy="2194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142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41427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Quantitative evidence on whether data-driven approaches outperform FLOP-based and TDP-based analytical methods for energy prediction.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7936992"/>
            <a:ext cx="16093440" cy="1645920"/>
            <a:chOff x="0" y="0"/>
            <a:chExt cx="2145792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7936992"/>
            <a:ext cx="146304" cy="1645920"/>
            <a:chOff x="0" y="0"/>
            <a:chExt cx="195072" cy="2194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5072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54480" y="7936992"/>
            <a:ext cx="4572000" cy="1645920"/>
            <a:chOff x="0" y="0"/>
            <a:chExt cx="6096000" cy="2194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76F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Practical Tool for Green AI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217920" y="7936992"/>
            <a:ext cx="10607040" cy="1645920"/>
            <a:chOff x="0" y="0"/>
            <a:chExt cx="1414272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142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41427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reproducible, open-source framework that enables resource-constrained researchers to make energy-aware decisions about model training.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28549" y="-5476093"/>
            <a:ext cx="9982129" cy="9982129"/>
          </a:xfrm>
          <a:custGeom>
            <a:avLst/>
            <a:gdLst/>
            <a:ahLst/>
            <a:cxnLst/>
            <a:rect r="r" b="b" t="t" l="l"/>
            <a:pathLst>
              <a:path h="9982129" w="9982129">
                <a:moveTo>
                  <a:pt x="0" y="0"/>
                </a:moveTo>
                <a:lnTo>
                  <a:pt x="9982128" y="0"/>
                </a:lnTo>
                <a:lnTo>
                  <a:pt x="9982128" y="9982129"/>
                </a:lnTo>
                <a:lnTo>
                  <a:pt x="0" y="998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7028" y="-2722710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5" y="0"/>
                </a:lnTo>
                <a:lnTo>
                  <a:pt x="12548545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03089" y="7069163"/>
            <a:ext cx="9606178" cy="9606178"/>
          </a:xfrm>
          <a:custGeom>
            <a:avLst/>
            <a:gdLst/>
            <a:ahLst/>
            <a:cxnLst/>
            <a:rect r="r" b="b" t="t" l="l"/>
            <a:pathLst>
              <a:path h="9606178" w="9606178">
                <a:moveTo>
                  <a:pt x="0" y="0"/>
                </a:moveTo>
                <a:lnTo>
                  <a:pt x="9606178" y="0"/>
                </a:lnTo>
                <a:lnTo>
                  <a:pt x="9606178" y="9606178"/>
                </a:lnTo>
                <a:lnTo>
                  <a:pt x="0" y="960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618617" y="4130872"/>
            <a:ext cx="12548545" cy="8303338"/>
          </a:xfrm>
          <a:custGeom>
            <a:avLst/>
            <a:gdLst/>
            <a:ahLst/>
            <a:cxnLst/>
            <a:rect r="r" b="b" t="t" l="l"/>
            <a:pathLst>
              <a:path h="8303338" w="12548545">
                <a:moveTo>
                  <a:pt x="0" y="0"/>
                </a:moveTo>
                <a:lnTo>
                  <a:pt x="12548545" y="0"/>
                </a:lnTo>
                <a:lnTo>
                  <a:pt x="12548545" y="8303338"/>
                </a:lnTo>
                <a:lnTo>
                  <a:pt x="0" y="830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63040" y="914400"/>
            <a:ext cx="15361920" cy="1280160"/>
            <a:chOff x="0" y="0"/>
            <a:chExt cx="2048256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825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48256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 &amp; Next Steps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2560320"/>
            <a:ext cx="15361920" cy="4572000"/>
            <a:chOff x="0" y="0"/>
            <a:chExt cx="20482560" cy="609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82561" cy="6096000"/>
            </a:xfrm>
            <a:custGeom>
              <a:avLst/>
              <a:gdLst/>
              <a:ahLst/>
              <a:cxnLst/>
              <a:rect r="r" b="b" t="t" l="l"/>
              <a:pathLst>
                <a:path h="60960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469" r="0" b="-1546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20482560" cy="625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000">
                  <a:solidFill>
                    <a:srgbClr val="E8EC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research addresses a critical gap in sustainable AI by developing a framework to predict neural network training energy consumption before training begins.</a:t>
              </a:r>
            </a:p>
            <a:p>
              <a:pPr algn="l">
                <a:lnSpc>
                  <a:spcPts val="4680"/>
                </a:lnSpc>
              </a:pPr>
            </a:p>
            <a:p>
              <a:pPr algn="l">
                <a:lnSpc>
                  <a:spcPts val="4680"/>
                </a:lnSpc>
              </a:pPr>
              <a:r>
                <a:rPr lang="en-US" sz="3000">
                  <a:solidFill>
                    <a:srgbClr val="E8EC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leveraging 486,000+ real energy measurements from BUTTER-E and EC-NAS, the study avoids expensive new experiments while building cross-architecture predictive models.</a:t>
              </a:r>
            </a:p>
            <a:p>
              <a:pPr algn="l">
                <a:lnSpc>
                  <a:spcPts val="4680"/>
                </a:lnSpc>
              </a:pPr>
            </a:p>
            <a:p>
              <a:pPr algn="l">
                <a:lnSpc>
                  <a:spcPts val="4680"/>
                </a:lnSpc>
              </a:pPr>
              <a:r>
                <a:rPr lang="en-US" sz="3000">
                  <a:solidFill>
                    <a:srgbClr val="F4A2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outcome is a practical tool that enables researchers — especially those in resource-constrained settings — to make informed, energy-aware decisions about model training.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7315200"/>
            <a:ext cx="15361920" cy="1463040"/>
            <a:chOff x="0" y="0"/>
            <a:chExt cx="20482560" cy="195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825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48256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" y="8595360"/>
            <a:ext cx="15361920" cy="914400"/>
            <a:chOff x="0" y="0"/>
            <a:chExt cx="2048256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825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048256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F4A26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&amp; Discussion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DAHBB2fetyE</dc:identifier>
  <dcterms:modified xsi:type="dcterms:W3CDTF">2011-08-01T06:04:30Z</dcterms:modified>
  <cp:revision>1</cp:revision>
  <dc:title>Neural Network Slide</dc:title>
</cp:coreProperties>
</file>