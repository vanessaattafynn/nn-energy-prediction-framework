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Nunito Sans Bold" charset="1" panose="00000000000000000000"/>
      <p:regular r:id="rId23"/>
    </p:embeddedFont>
    <p:embeddedFont>
      <p:font typeface="Alexandria" charset="1" panose="00000000000000000000"/>
      <p:regular r:id="rId24"/>
    </p:embeddedFont>
    <p:embeddedFont>
      <p:font typeface="Alexandria Light" charset="1" panose="00000000000000000000"/>
      <p:regular r:id="rId25"/>
    </p:embeddedFont>
    <p:embeddedFont>
      <p:font typeface="Nunito Sans Ultra-Bold" charset="1" panose="00000000000000000000"/>
      <p:regular r:id="rId26"/>
    </p:embeddedFont>
    <p:embeddedFont>
      <p:font typeface="Nunito Sans Light" charset="1" panose="00000000000000000000"/>
      <p:regular r:id="rId27"/>
    </p:embeddedFont>
    <p:embeddedFont>
      <p:font typeface="Canva Sans Bold" charset="1" panose="020B0803030501040103"/>
      <p:regular r:id="rId28"/>
    </p:embeddedFont>
    <p:embeddedFont>
      <p:font typeface="Canva Sans" charset="1" panose="020B0503030501040103"/>
      <p:regular r:id="rId29"/>
    </p:embeddedFont>
    <p:embeddedFont>
      <p:font typeface="Alexandria Bold" charset="1" panose="00000000000000000000"/>
      <p:regular r:id="rId30"/>
    </p:embeddedFont>
    <p:embeddedFont>
      <p:font typeface="Nunito Sans Extra-Light" charset="1" panose="000000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0.jpe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1.png" Type="http://schemas.openxmlformats.org/officeDocument/2006/relationships/image"/><Relationship Id="rId5" Target="../media/image13.jpeg" Type="http://schemas.openxmlformats.org/officeDocument/2006/relationships/image"/><Relationship Id="rId6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1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1.png" Type="http://schemas.openxmlformats.org/officeDocument/2006/relationships/image"/><Relationship Id="rId5" Target="../media/image13.jpeg" Type="http://schemas.openxmlformats.org/officeDocument/2006/relationships/image"/><Relationship Id="rId6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1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1.png" Type="http://schemas.openxmlformats.org/officeDocument/2006/relationships/image"/><Relationship Id="rId5" Target="../media/image13.jpeg" Type="http://schemas.openxmlformats.org/officeDocument/2006/relationships/image"/><Relationship Id="rId6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1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6.jpe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6.jpe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9.jpe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1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22.jpeg" Type="http://schemas.openxmlformats.org/officeDocument/2006/relationships/image"/><Relationship Id="rId5" Target="../media/image23.jpeg" Type="http://schemas.openxmlformats.org/officeDocument/2006/relationships/image"/><Relationship Id="rId6" Target="../media/image24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5.png" Type="http://schemas.openxmlformats.org/officeDocument/2006/relationships/image"/><Relationship Id="rId5" Target="../media/image4.png" Type="http://schemas.openxmlformats.org/officeDocument/2006/relationships/image"/><Relationship Id="rId6" Target="../media/image25.png" Type="http://schemas.openxmlformats.org/officeDocument/2006/relationships/image"/><Relationship Id="rId7" Target="../media/image9.png" Type="http://schemas.openxmlformats.org/officeDocument/2006/relationships/image"/><Relationship Id="rId8" Target="../media/image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D185B">
                <a:alpha val="100000"/>
              </a:srgbClr>
            </a:gs>
            <a:gs pos="100000">
              <a:srgbClr val="310C3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1155488" y="591816"/>
            <a:ext cx="7589159" cy="9142003"/>
          </a:xfrm>
          <a:custGeom>
            <a:avLst/>
            <a:gdLst/>
            <a:ahLst/>
            <a:cxnLst/>
            <a:rect r="r" b="b" t="t" l="l"/>
            <a:pathLst>
              <a:path h="9142003" w="7589159">
                <a:moveTo>
                  <a:pt x="0" y="0"/>
                </a:moveTo>
                <a:lnTo>
                  <a:pt x="7589159" y="0"/>
                </a:lnTo>
                <a:lnTo>
                  <a:pt x="7589159" y="9142003"/>
                </a:lnTo>
                <a:lnTo>
                  <a:pt x="0" y="9142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-2452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50390" y="2000824"/>
            <a:ext cx="6515953" cy="6623586"/>
          </a:xfrm>
          <a:custGeom>
            <a:avLst/>
            <a:gdLst/>
            <a:ahLst/>
            <a:cxnLst/>
            <a:rect r="r" b="b" t="t" l="l"/>
            <a:pathLst>
              <a:path h="6623586" w="6515953">
                <a:moveTo>
                  <a:pt x="0" y="0"/>
                </a:moveTo>
                <a:lnTo>
                  <a:pt x="6515953" y="0"/>
                </a:lnTo>
                <a:lnTo>
                  <a:pt x="6515953" y="6623586"/>
                </a:lnTo>
                <a:lnTo>
                  <a:pt x="0" y="6623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572903" y="369459"/>
            <a:ext cx="9886316" cy="9886316"/>
          </a:xfrm>
          <a:custGeom>
            <a:avLst/>
            <a:gdLst/>
            <a:ahLst/>
            <a:cxnLst/>
            <a:rect r="r" b="b" t="t" l="l"/>
            <a:pathLst>
              <a:path h="9886316" w="9886316">
                <a:moveTo>
                  <a:pt x="0" y="0"/>
                </a:moveTo>
                <a:lnTo>
                  <a:pt x="9886316" y="0"/>
                </a:lnTo>
                <a:lnTo>
                  <a:pt x="9886316" y="9886316"/>
                </a:lnTo>
                <a:lnTo>
                  <a:pt x="0" y="98863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787994" y="2190650"/>
            <a:ext cx="1141491" cy="1144352"/>
          </a:xfrm>
          <a:custGeom>
            <a:avLst/>
            <a:gdLst/>
            <a:ahLst/>
            <a:cxnLst/>
            <a:rect r="r" b="b" t="t" l="l"/>
            <a:pathLst>
              <a:path h="1144352" w="1141491">
                <a:moveTo>
                  <a:pt x="0" y="0"/>
                </a:moveTo>
                <a:lnTo>
                  <a:pt x="1141491" y="0"/>
                </a:lnTo>
                <a:lnTo>
                  <a:pt x="1141491" y="1144352"/>
                </a:lnTo>
                <a:lnTo>
                  <a:pt x="0" y="11443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414567" y="8067145"/>
            <a:ext cx="3443267" cy="3391618"/>
          </a:xfrm>
          <a:custGeom>
            <a:avLst/>
            <a:gdLst/>
            <a:ahLst/>
            <a:cxnLst/>
            <a:rect r="r" b="b" t="t" l="l"/>
            <a:pathLst>
              <a:path h="3391618" w="3443267">
                <a:moveTo>
                  <a:pt x="0" y="0"/>
                </a:moveTo>
                <a:lnTo>
                  <a:pt x="3443267" y="0"/>
                </a:lnTo>
                <a:lnTo>
                  <a:pt x="3443267" y="3391618"/>
                </a:lnTo>
                <a:lnTo>
                  <a:pt x="0" y="33916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325550" y="5701254"/>
            <a:ext cx="7815038" cy="998462"/>
            <a:chOff x="0" y="0"/>
            <a:chExt cx="2058282" cy="2629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58282" cy="262969"/>
            </a:xfrm>
            <a:custGeom>
              <a:avLst/>
              <a:gdLst/>
              <a:ahLst/>
              <a:cxnLst/>
              <a:rect r="r" b="b" t="t" l="l"/>
              <a:pathLst>
                <a:path h="262969" w="2058282">
                  <a:moveTo>
                    <a:pt x="50523" y="0"/>
                  </a:moveTo>
                  <a:lnTo>
                    <a:pt x="2007759" y="0"/>
                  </a:lnTo>
                  <a:cubicBezTo>
                    <a:pt x="2035662" y="0"/>
                    <a:pt x="2058282" y="22620"/>
                    <a:pt x="2058282" y="50523"/>
                  </a:cubicBezTo>
                  <a:lnTo>
                    <a:pt x="2058282" y="212447"/>
                  </a:lnTo>
                  <a:cubicBezTo>
                    <a:pt x="2058282" y="225846"/>
                    <a:pt x="2052959" y="238697"/>
                    <a:pt x="2043484" y="248172"/>
                  </a:cubicBezTo>
                  <a:cubicBezTo>
                    <a:pt x="2034009" y="257647"/>
                    <a:pt x="2021158" y="262969"/>
                    <a:pt x="2007759" y="262969"/>
                  </a:cubicBezTo>
                  <a:lnTo>
                    <a:pt x="50523" y="262969"/>
                  </a:lnTo>
                  <a:cubicBezTo>
                    <a:pt x="22620" y="262969"/>
                    <a:pt x="0" y="240350"/>
                    <a:pt x="0" y="212447"/>
                  </a:cubicBezTo>
                  <a:lnTo>
                    <a:pt x="0" y="50523"/>
                  </a:lnTo>
                  <a:cubicBezTo>
                    <a:pt x="0" y="22620"/>
                    <a:pt x="22620" y="0"/>
                    <a:pt x="505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34075">
                    <a:alpha val="100000"/>
                  </a:srgbClr>
                </a:gs>
                <a:gs pos="100000">
                  <a:srgbClr val="66446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58282" cy="301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3009285" y="-2156329"/>
            <a:ext cx="7785188" cy="7049134"/>
          </a:xfrm>
          <a:custGeom>
            <a:avLst/>
            <a:gdLst/>
            <a:ahLst/>
            <a:cxnLst/>
            <a:rect r="r" b="b" t="t" l="l"/>
            <a:pathLst>
              <a:path h="7049134" w="7785188">
                <a:moveTo>
                  <a:pt x="0" y="0"/>
                </a:moveTo>
                <a:lnTo>
                  <a:pt x="7785187" y="0"/>
                </a:lnTo>
                <a:lnTo>
                  <a:pt x="7785187" y="7049134"/>
                </a:lnTo>
                <a:lnTo>
                  <a:pt x="0" y="70491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35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175863" y="8604873"/>
            <a:ext cx="554998" cy="55499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0" t="-16666" r="0" b="-16666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325550" y="2239123"/>
            <a:ext cx="9628228" cy="3073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56"/>
              </a:lnSpc>
              <a:spcBef>
                <a:spcPct val="0"/>
              </a:spcBef>
            </a:pPr>
            <a:r>
              <a:rPr lang="en-US" b="true" sz="4397">
                <a:solidFill>
                  <a:srgbClr val="FFFF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P</a:t>
            </a:r>
            <a:r>
              <a:rPr lang="en-US" b="true" sz="4397" strike="noStrike" u="none">
                <a:solidFill>
                  <a:srgbClr val="FFFF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r</a:t>
            </a:r>
            <a:r>
              <a:rPr lang="en-US" b="true" sz="4397" strike="noStrike" u="none">
                <a:solidFill>
                  <a:srgbClr val="FFFF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edic</a:t>
            </a:r>
            <a:r>
              <a:rPr lang="en-US" b="true" sz="4397" strike="noStrike" u="none">
                <a:solidFill>
                  <a:srgbClr val="FFFF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ti</a:t>
            </a:r>
            <a:r>
              <a:rPr lang="en-US" b="true" sz="4397" strike="noStrike" u="none">
                <a:solidFill>
                  <a:srgbClr val="FFFF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ve Modeling o</a:t>
            </a:r>
            <a:r>
              <a:rPr lang="en-US" b="true" sz="4397" strike="noStrike" u="none">
                <a:solidFill>
                  <a:srgbClr val="FFFF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f</a:t>
            </a:r>
            <a:r>
              <a:rPr lang="en-US" b="true" sz="4397" strike="noStrike" u="none">
                <a:solidFill>
                  <a:srgbClr val="FFFF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 Energy Consumpt</a:t>
            </a:r>
            <a:r>
              <a:rPr lang="en-US" b="true" sz="4397" strike="noStrike" u="none">
                <a:solidFill>
                  <a:srgbClr val="FFFF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i</a:t>
            </a:r>
            <a:r>
              <a:rPr lang="en-US" b="true" sz="4397" strike="noStrike" u="none">
                <a:solidFill>
                  <a:srgbClr val="FFFF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on on Neu</a:t>
            </a:r>
            <a:r>
              <a:rPr lang="en-US" b="true" sz="4397" strike="noStrike" u="none">
                <a:solidFill>
                  <a:srgbClr val="FFFF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ral Network Training using Architectural and Hyperparameter features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85155" y="5860442"/>
            <a:ext cx="7095829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Weekly Progress Update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78023" y="8665202"/>
            <a:ext cx="4022419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Vanessa Atta-Fynn, Msc.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25550" y="525855"/>
            <a:ext cx="450692" cy="450692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71778" y="0"/>
                  </a:moveTo>
                  <a:lnTo>
                    <a:pt x="641022" y="0"/>
                  </a:lnTo>
                  <a:cubicBezTo>
                    <a:pt x="735892" y="0"/>
                    <a:pt x="812800" y="76908"/>
                    <a:pt x="812800" y="171778"/>
                  </a:cubicBezTo>
                  <a:lnTo>
                    <a:pt x="812800" y="641022"/>
                  </a:lnTo>
                  <a:cubicBezTo>
                    <a:pt x="812800" y="735892"/>
                    <a:pt x="735892" y="812800"/>
                    <a:pt x="641022" y="812800"/>
                  </a:cubicBezTo>
                  <a:lnTo>
                    <a:pt x="171778" y="812800"/>
                  </a:lnTo>
                  <a:cubicBezTo>
                    <a:pt x="76908" y="812800"/>
                    <a:pt x="0" y="735892"/>
                    <a:pt x="0" y="641022"/>
                  </a:cubicBezTo>
                  <a:lnTo>
                    <a:pt x="0" y="171778"/>
                  </a:lnTo>
                  <a:cubicBezTo>
                    <a:pt x="0" y="76908"/>
                    <a:pt x="76908" y="0"/>
                    <a:pt x="171778" y="0"/>
                  </a:cubicBezTo>
                  <a:close/>
                </a:path>
              </a:pathLst>
            </a:custGeom>
            <a:blipFill>
              <a:blip r:embed="rId10"/>
              <a:stretch>
                <a:fillRect l="-35556" t="0" r="-3111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878023" y="534031"/>
            <a:ext cx="786537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University of Ghana | Computer Science Department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D185B">
                <a:alpha val="100000"/>
              </a:srgbClr>
            </a:gs>
            <a:gs pos="100000">
              <a:srgbClr val="310C3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10496052" y="2934708"/>
            <a:ext cx="7121203" cy="10681805"/>
          </a:xfrm>
          <a:custGeom>
            <a:avLst/>
            <a:gdLst/>
            <a:ahLst/>
            <a:cxnLst/>
            <a:rect r="r" b="b" t="t" l="l"/>
            <a:pathLst>
              <a:path h="10681805" w="7121203">
                <a:moveTo>
                  <a:pt x="0" y="10681805"/>
                </a:moveTo>
                <a:lnTo>
                  <a:pt x="7121203" y="10681805"/>
                </a:lnTo>
                <a:lnTo>
                  <a:pt x="7121203" y="0"/>
                </a:lnTo>
                <a:lnTo>
                  <a:pt x="0" y="0"/>
                </a:lnTo>
                <a:lnTo>
                  <a:pt x="0" y="10681805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-2697390" y="-6430709"/>
            <a:ext cx="7121203" cy="10681805"/>
          </a:xfrm>
          <a:custGeom>
            <a:avLst/>
            <a:gdLst/>
            <a:ahLst/>
            <a:cxnLst/>
            <a:rect r="r" b="b" t="t" l="l"/>
            <a:pathLst>
              <a:path h="10681805" w="7121203">
                <a:moveTo>
                  <a:pt x="7121203" y="0"/>
                </a:moveTo>
                <a:lnTo>
                  <a:pt x="0" y="0"/>
                </a:lnTo>
                <a:lnTo>
                  <a:pt x="0" y="10681804"/>
                </a:lnTo>
                <a:lnTo>
                  <a:pt x="7121203" y="10681804"/>
                </a:lnTo>
                <a:lnTo>
                  <a:pt x="7121203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332618" y="-5079170"/>
            <a:ext cx="11161226" cy="11161226"/>
          </a:xfrm>
          <a:custGeom>
            <a:avLst/>
            <a:gdLst/>
            <a:ahLst/>
            <a:cxnLst/>
            <a:rect r="r" b="b" t="t" l="l"/>
            <a:pathLst>
              <a:path h="11161226" w="11161226">
                <a:moveTo>
                  <a:pt x="0" y="0"/>
                </a:moveTo>
                <a:lnTo>
                  <a:pt x="11161226" y="0"/>
                </a:lnTo>
                <a:lnTo>
                  <a:pt x="11161226" y="11161226"/>
                </a:lnTo>
                <a:lnTo>
                  <a:pt x="0" y="111612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56446" y="6598423"/>
            <a:ext cx="11161226" cy="11161226"/>
          </a:xfrm>
          <a:custGeom>
            <a:avLst/>
            <a:gdLst/>
            <a:ahLst/>
            <a:cxnLst/>
            <a:rect r="r" b="b" t="t" l="l"/>
            <a:pathLst>
              <a:path h="11161226" w="11161226">
                <a:moveTo>
                  <a:pt x="0" y="0"/>
                </a:moveTo>
                <a:lnTo>
                  <a:pt x="11161226" y="0"/>
                </a:lnTo>
                <a:lnTo>
                  <a:pt x="11161226" y="11161227"/>
                </a:lnTo>
                <a:lnTo>
                  <a:pt x="0" y="111612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44405" y="3598857"/>
            <a:ext cx="5928530" cy="6145991"/>
            <a:chOff x="0" y="0"/>
            <a:chExt cx="1561423" cy="16186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61423" cy="1618697"/>
            </a:xfrm>
            <a:custGeom>
              <a:avLst/>
              <a:gdLst/>
              <a:ahLst/>
              <a:cxnLst/>
              <a:rect r="r" b="b" t="t" l="l"/>
              <a:pathLst>
                <a:path h="1618697" w="1561423">
                  <a:moveTo>
                    <a:pt x="19588" y="0"/>
                  </a:moveTo>
                  <a:lnTo>
                    <a:pt x="1541835" y="0"/>
                  </a:lnTo>
                  <a:cubicBezTo>
                    <a:pt x="1547030" y="0"/>
                    <a:pt x="1552013" y="2064"/>
                    <a:pt x="1555686" y="5737"/>
                  </a:cubicBezTo>
                  <a:cubicBezTo>
                    <a:pt x="1559360" y="9411"/>
                    <a:pt x="1561423" y="14393"/>
                    <a:pt x="1561423" y="19588"/>
                  </a:cubicBezTo>
                  <a:lnTo>
                    <a:pt x="1561423" y="1599109"/>
                  </a:lnTo>
                  <a:cubicBezTo>
                    <a:pt x="1561423" y="1609927"/>
                    <a:pt x="1552654" y="1618697"/>
                    <a:pt x="1541835" y="1618697"/>
                  </a:cubicBezTo>
                  <a:lnTo>
                    <a:pt x="19588" y="1618697"/>
                  </a:lnTo>
                  <a:cubicBezTo>
                    <a:pt x="14393" y="1618697"/>
                    <a:pt x="9411" y="1616634"/>
                    <a:pt x="5737" y="1612960"/>
                  </a:cubicBezTo>
                  <a:cubicBezTo>
                    <a:pt x="2064" y="1609287"/>
                    <a:pt x="0" y="1604304"/>
                    <a:pt x="0" y="1599109"/>
                  </a:cubicBezTo>
                  <a:lnTo>
                    <a:pt x="0" y="19588"/>
                  </a:lnTo>
                  <a:cubicBezTo>
                    <a:pt x="0" y="8770"/>
                    <a:pt x="8770" y="0"/>
                    <a:pt x="1958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34075">
                    <a:alpha val="100000"/>
                  </a:srgbClr>
                </a:gs>
                <a:gs pos="100000">
                  <a:srgbClr val="66446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61423" cy="1656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747837" y="3598857"/>
            <a:ext cx="5928530" cy="6145991"/>
            <a:chOff x="0" y="0"/>
            <a:chExt cx="1561423" cy="16186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61423" cy="1618697"/>
            </a:xfrm>
            <a:custGeom>
              <a:avLst/>
              <a:gdLst/>
              <a:ahLst/>
              <a:cxnLst/>
              <a:rect r="r" b="b" t="t" l="l"/>
              <a:pathLst>
                <a:path h="1618697" w="1561423">
                  <a:moveTo>
                    <a:pt x="19588" y="0"/>
                  </a:moveTo>
                  <a:lnTo>
                    <a:pt x="1541835" y="0"/>
                  </a:lnTo>
                  <a:cubicBezTo>
                    <a:pt x="1547030" y="0"/>
                    <a:pt x="1552013" y="2064"/>
                    <a:pt x="1555686" y="5737"/>
                  </a:cubicBezTo>
                  <a:cubicBezTo>
                    <a:pt x="1559360" y="9411"/>
                    <a:pt x="1561423" y="14393"/>
                    <a:pt x="1561423" y="19588"/>
                  </a:cubicBezTo>
                  <a:lnTo>
                    <a:pt x="1561423" y="1599109"/>
                  </a:lnTo>
                  <a:cubicBezTo>
                    <a:pt x="1561423" y="1609927"/>
                    <a:pt x="1552654" y="1618697"/>
                    <a:pt x="1541835" y="1618697"/>
                  </a:cubicBezTo>
                  <a:lnTo>
                    <a:pt x="19588" y="1618697"/>
                  </a:lnTo>
                  <a:cubicBezTo>
                    <a:pt x="14393" y="1618697"/>
                    <a:pt x="9411" y="1616634"/>
                    <a:pt x="5737" y="1612960"/>
                  </a:cubicBezTo>
                  <a:cubicBezTo>
                    <a:pt x="2064" y="1609287"/>
                    <a:pt x="0" y="1604304"/>
                    <a:pt x="0" y="1599109"/>
                  </a:cubicBezTo>
                  <a:lnTo>
                    <a:pt x="0" y="19588"/>
                  </a:lnTo>
                  <a:cubicBezTo>
                    <a:pt x="0" y="8770"/>
                    <a:pt x="8770" y="0"/>
                    <a:pt x="1958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34075">
                    <a:alpha val="100000"/>
                  </a:srgbClr>
                </a:gs>
                <a:gs pos="100000">
                  <a:srgbClr val="66446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561423" cy="1656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521847" y="751201"/>
            <a:ext cx="6005708" cy="5246370"/>
            <a:chOff x="0" y="0"/>
            <a:chExt cx="1853832" cy="16194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53832" cy="1619440"/>
            </a:xfrm>
            <a:custGeom>
              <a:avLst/>
              <a:gdLst/>
              <a:ahLst/>
              <a:cxnLst/>
              <a:rect r="r" b="b" t="t" l="l"/>
              <a:pathLst>
                <a:path h="1619440" w="1853832">
                  <a:moveTo>
                    <a:pt x="1417010" y="296700"/>
                  </a:moveTo>
                  <a:lnTo>
                    <a:pt x="1417010" y="140123"/>
                  </a:lnTo>
                  <a:cubicBezTo>
                    <a:pt x="1417010" y="62736"/>
                    <a:pt x="1354276" y="1"/>
                    <a:pt x="1276888" y="0"/>
                  </a:cubicBezTo>
                  <a:lnTo>
                    <a:pt x="140123" y="0"/>
                  </a:lnTo>
                  <a:cubicBezTo>
                    <a:pt x="62735" y="0"/>
                    <a:pt x="0" y="62735"/>
                    <a:pt x="0" y="140123"/>
                  </a:cubicBezTo>
                  <a:lnTo>
                    <a:pt x="0" y="488772"/>
                  </a:lnTo>
                  <a:cubicBezTo>
                    <a:pt x="0" y="525935"/>
                    <a:pt x="14763" y="561576"/>
                    <a:pt x="41041" y="587854"/>
                  </a:cubicBezTo>
                  <a:cubicBezTo>
                    <a:pt x="67319" y="614132"/>
                    <a:pt x="102960" y="628894"/>
                    <a:pt x="140123" y="628894"/>
                  </a:cubicBezTo>
                  <a:lnTo>
                    <a:pt x="712216" y="628894"/>
                  </a:lnTo>
                  <a:cubicBezTo>
                    <a:pt x="789603" y="628895"/>
                    <a:pt x="852337" y="691630"/>
                    <a:pt x="852336" y="769017"/>
                  </a:cubicBezTo>
                  <a:lnTo>
                    <a:pt x="852336" y="1479318"/>
                  </a:lnTo>
                  <a:cubicBezTo>
                    <a:pt x="852336" y="1516480"/>
                    <a:pt x="867099" y="1552121"/>
                    <a:pt x="893377" y="1578399"/>
                  </a:cubicBezTo>
                  <a:cubicBezTo>
                    <a:pt x="919656" y="1604678"/>
                    <a:pt x="955296" y="1619440"/>
                    <a:pt x="992459" y="1619440"/>
                  </a:cubicBezTo>
                  <a:lnTo>
                    <a:pt x="1713710" y="1619440"/>
                  </a:lnTo>
                  <a:cubicBezTo>
                    <a:pt x="1750873" y="1619440"/>
                    <a:pt x="1786514" y="1604678"/>
                    <a:pt x="1812791" y="1578399"/>
                  </a:cubicBezTo>
                  <a:cubicBezTo>
                    <a:pt x="1839070" y="1552121"/>
                    <a:pt x="1853832" y="1516480"/>
                    <a:pt x="1853832" y="1479318"/>
                  </a:cubicBezTo>
                  <a:lnTo>
                    <a:pt x="1853832" y="576944"/>
                  </a:lnTo>
                  <a:cubicBezTo>
                    <a:pt x="1853832" y="499557"/>
                    <a:pt x="1791097" y="436823"/>
                    <a:pt x="1713710" y="436823"/>
                  </a:cubicBezTo>
                  <a:lnTo>
                    <a:pt x="1557133" y="436823"/>
                  </a:lnTo>
                  <a:cubicBezTo>
                    <a:pt x="1519970" y="436823"/>
                    <a:pt x="1484329" y="422060"/>
                    <a:pt x="1458051" y="395782"/>
                  </a:cubicBezTo>
                  <a:cubicBezTo>
                    <a:pt x="1431773" y="369504"/>
                    <a:pt x="1417010" y="333863"/>
                    <a:pt x="1417010" y="296700"/>
                  </a:cubicBezTo>
                  <a:close/>
                </a:path>
              </a:pathLst>
            </a:custGeom>
            <a:blipFill>
              <a:blip r:embed="rId4"/>
              <a:stretch>
                <a:fillRect l="-7231" t="0" r="-23884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444405" y="2968231"/>
            <a:ext cx="453253" cy="438146"/>
          </a:xfrm>
          <a:custGeom>
            <a:avLst/>
            <a:gdLst/>
            <a:ahLst/>
            <a:cxnLst/>
            <a:rect r="r" b="b" t="t" l="l"/>
            <a:pathLst>
              <a:path h="438146" w="453253">
                <a:moveTo>
                  <a:pt x="0" y="0"/>
                </a:moveTo>
                <a:lnTo>
                  <a:pt x="453253" y="0"/>
                </a:lnTo>
                <a:lnTo>
                  <a:pt x="453253" y="438146"/>
                </a:lnTo>
                <a:lnTo>
                  <a:pt x="0" y="4381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357" r="0" b="-1357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747837" y="2968231"/>
            <a:ext cx="453253" cy="438146"/>
          </a:xfrm>
          <a:custGeom>
            <a:avLst/>
            <a:gdLst/>
            <a:ahLst/>
            <a:cxnLst/>
            <a:rect r="r" b="b" t="t" l="l"/>
            <a:pathLst>
              <a:path h="438146" w="453253">
                <a:moveTo>
                  <a:pt x="0" y="0"/>
                </a:moveTo>
                <a:lnTo>
                  <a:pt x="453253" y="0"/>
                </a:lnTo>
                <a:lnTo>
                  <a:pt x="453253" y="438146"/>
                </a:lnTo>
                <a:lnTo>
                  <a:pt x="0" y="4381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357" r="0" b="-1357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096288" y="8801841"/>
            <a:ext cx="1160158" cy="1181165"/>
          </a:xfrm>
          <a:custGeom>
            <a:avLst/>
            <a:gdLst/>
            <a:ahLst/>
            <a:cxnLst/>
            <a:rect r="r" b="b" t="t" l="l"/>
            <a:pathLst>
              <a:path h="1181165" w="1160158">
                <a:moveTo>
                  <a:pt x="0" y="0"/>
                </a:moveTo>
                <a:lnTo>
                  <a:pt x="1160158" y="0"/>
                </a:lnTo>
                <a:lnTo>
                  <a:pt x="1160158" y="1181165"/>
                </a:lnTo>
                <a:lnTo>
                  <a:pt x="0" y="11811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357" r="0" b="-1357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706310" y="3766324"/>
            <a:ext cx="5404720" cy="562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Research problem: no a priori method to predict training energy consumption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Aim &amp; 4 objectives defined; 4 research questions formulated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Literature reviewed: 20+ papers across Green AI, measurement tools, and prediction approaches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Two datasets identified: BUTTER-E (63K MLP runs) + EC-NAS (423K CNN architectures)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Three ML models proposed: Random Forest, XGBoost, Neural Network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Evaluation protocols: within-architecture, cross-architecture, and combined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8009742" y="3766324"/>
            <a:ext cx="5404720" cy="597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Deep dive into 3 papers recommended 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Carbontracker: corrected from “measurement only” to “measurement + extrapolation”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Reguero et al. (2024): runtime optimization with 14.3% energy error as our benchmark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NeurstrucEnergy (2022): GNN-based prediction — closest to our approach but inference/IoT only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Updated comparison table with 9 approaches (was 6)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Strengths, limitations, and lessons learned from each paper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Refined novelty statement with 5 explicit dimensions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325550" y="1444794"/>
            <a:ext cx="257966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Nunito Sans Ultra-Bold"/>
                <a:ea typeface="Nunito Sans Ultra-Bold"/>
                <a:cs typeface="Nunito Sans Ultra-Bold"/>
                <a:sym typeface="Nunito Sans Ultra-Bold"/>
              </a:rPr>
              <a:t>Rec</a:t>
            </a:r>
            <a:r>
              <a:rPr lang="en-US" sz="3200" b="true">
                <a:solidFill>
                  <a:srgbClr val="FFFFFF"/>
                </a:solidFill>
                <a:latin typeface="Nunito Sans Ultra-Bold"/>
                <a:ea typeface="Nunito Sans Ultra-Bold"/>
                <a:cs typeface="Nunito Sans Ultra-Bold"/>
                <a:sym typeface="Nunito Sans Ultra-Bold"/>
              </a:rPr>
              <a:t>ap: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25550" y="1999730"/>
            <a:ext cx="881517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Nunito Sans Light"/>
                <a:ea typeface="Nunito Sans Light"/>
                <a:cs typeface="Nunito Sans Light"/>
                <a:sym typeface="Nunito Sans Light"/>
              </a:rPr>
              <a:t>What We Covered Previously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48725" y="2889806"/>
            <a:ext cx="53242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What we established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352157" y="2889806"/>
            <a:ext cx="53242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What’s New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25550" y="525855"/>
            <a:ext cx="450692" cy="450692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71778" y="0"/>
                  </a:moveTo>
                  <a:lnTo>
                    <a:pt x="641022" y="0"/>
                  </a:lnTo>
                  <a:cubicBezTo>
                    <a:pt x="735892" y="0"/>
                    <a:pt x="812800" y="76908"/>
                    <a:pt x="812800" y="171778"/>
                  </a:cubicBezTo>
                  <a:lnTo>
                    <a:pt x="812800" y="641022"/>
                  </a:lnTo>
                  <a:cubicBezTo>
                    <a:pt x="812800" y="735892"/>
                    <a:pt x="735892" y="812800"/>
                    <a:pt x="641022" y="812800"/>
                  </a:cubicBezTo>
                  <a:lnTo>
                    <a:pt x="171778" y="812800"/>
                  </a:lnTo>
                  <a:cubicBezTo>
                    <a:pt x="76908" y="812800"/>
                    <a:pt x="0" y="735892"/>
                    <a:pt x="0" y="641022"/>
                  </a:cubicBezTo>
                  <a:lnTo>
                    <a:pt x="0" y="171778"/>
                  </a:lnTo>
                  <a:cubicBezTo>
                    <a:pt x="0" y="76908"/>
                    <a:pt x="76908" y="0"/>
                    <a:pt x="171778" y="0"/>
                  </a:cubicBezTo>
                  <a:close/>
                </a:path>
              </a:pathLst>
            </a:custGeom>
            <a:blipFill>
              <a:blip r:embed="rId7"/>
              <a:stretch>
                <a:fillRect l="-35556" t="0" r="-31110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878023" y="534031"/>
            <a:ext cx="786537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University of Ghana | Computer Science Department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D185B">
                <a:alpha val="100000"/>
              </a:srgbClr>
            </a:gs>
            <a:gs pos="100000">
              <a:srgbClr val="310C3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9386496" y="4229498"/>
            <a:ext cx="7121203" cy="10681805"/>
          </a:xfrm>
          <a:custGeom>
            <a:avLst/>
            <a:gdLst/>
            <a:ahLst/>
            <a:cxnLst/>
            <a:rect r="r" b="b" t="t" l="l"/>
            <a:pathLst>
              <a:path h="10681805" w="7121203">
                <a:moveTo>
                  <a:pt x="0" y="10681805"/>
                </a:moveTo>
                <a:lnTo>
                  <a:pt x="7121203" y="10681805"/>
                </a:lnTo>
                <a:lnTo>
                  <a:pt x="7121203" y="0"/>
                </a:lnTo>
                <a:lnTo>
                  <a:pt x="0" y="0"/>
                </a:lnTo>
                <a:lnTo>
                  <a:pt x="0" y="10681805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-2697390" y="-6430709"/>
            <a:ext cx="7121203" cy="10681805"/>
          </a:xfrm>
          <a:custGeom>
            <a:avLst/>
            <a:gdLst/>
            <a:ahLst/>
            <a:cxnLst/>
            <a:rect r="r" b="b" t="t" l="l"/>
            <a:pathLst>
              <a:path h="10681805" w="7121203">
                <a:moveTo>
                  <a:pt x="7121203" y="0"/>
                </a:moveTo>
                <a:lnTo>
                  <a:pt x="0" y="0"/>
                </a:lnTo>
                <a:lnTo>
                  <a:pt x="0" y="10681804"/>
                </a:lnTo>
                <a:lnTo>
                  <a:pt x="7121203" y="10681804"/>
                </a:lnTo>
                <a:lnTo>
                  <a:pt x="7121203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332618" y="-5079170"/>
            <a:ext cx="11161226" cy="11161226"/>
          </a:xfrm>
          <a:custGeom>
            <a:avLst/>
            <a:gdLst/>
            <a:ahLst/>
            <a:cxnLst/>
            <a:rect r="r" b="b" t="t" l="l"/>
            <a:pathLst>
              <a:path h="11161226" w="11161226">
                <a:moveTo>
                  <a:pt x="0" y="0"/>
                </a:moveTo>
                <a:lnTo>
                  <a:pt x="11161226" y="0"/>
                </a:lnTo>
                <a:lnTo>
                  <a:pt x="11161226" y="11161226"/>
                </a:lnTo>
                <a:lnTo>
                  <a:pt x="0" y="111612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56446" y="6598423"/>
            <a:ext cx="11161226" cy="11161226"/>
          </a:xfrm>
          <a:custGeom>
            <a:avLst/>
            <a:gdLst/>
            <a:ahLst/>
            <a:cxnLst/>
            <a:rect r="r" b="b" t="t" l="l"/>
            <a:pathLst>
              <a:path h="11161226" w="11161226">
                <a:moveTo>
                  <a:pt x="0" y="0"/>
                </a:moveTo>
                <a:lnTo>
                  <a:pt x="11161226" y="0"/>
                </a:lnTo>
                <a:lnTo>
                  <a:pt x="11161226" y="11161227"/>
                </a:lnTo>
                <a:lnTo>
                  <a:pt x="0" y="111612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558886" y="4773287"/>
            <a:ext cx="7556512" cy="3834395"/>
            <a:chOff x="0" y="0"/>
            <a:chExt cx="1990193" cy="10098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90193" cy="1009882"/>
            </a:xfrm>
            <a:custGeom>
              <a:avLst/>
              <a:gdLst/>
              <a:ahLst/>
              <a:cxnLst/>
              <a:rect r="r" b="b" t="t" l="l"/>
              <a:pathLst>
                <a:path h="1009882" w="1990193">
                  <a:moveTo>
                    <a:pt x="15368" y="0"/>
                  </a:moveTo>
                  <a:lnTo>
                    <a:pt x="1974825" y="0"/>
                  </a:lnTo>
                  <a:cubicBezTo>
                    <a:pt x="1978901" y="0"/>
                    <a:pt x="1982809" y="1619"/>
                    <a:pt x="1985691" y="4501"/>
                  </a:cubicBezTo>
                  <a:cubicBezTo>
                    <a:pt x="1988574" y="7383"/>
                    <a:pt x="1990193" y="11292"/>
                    <a:pt x="1990193" y="15368"/>
                  </a:cubicBezTo>
                  <a:lnTo>
                    <a:pt x="1990193" y="994514"/>
                  </a:lnTo>
                  <a:cubicBezTo>
                    <a:pt x="1990193" y="998590"/>
                    <a:pt x="1988574" y="1002498"/>
                    <a:pt x="1985691" y="1005380"/>
                  </a:cubicBezTo>
                  <a:cubicBezTo>
                    <a:pt x="1982809" y="1008263"/>
                    <a:pt x="1978901" y="1009882"/>
                    <a:pt x="1974825" y="1009882"/>
                  </a:cubicBezTo>
                  <a:lnTo>
                    <a:pt x="15368" y="1009882"/>
                  </a:lnTo>
                  <a:cubicBezTo>
                    <a:pt x="11292" y="1009882"/>
                    <a:pt x="7383" y="1008263"/>
                    <a:pt x="4501" y="1005380"/>
                  </a:cubicBezTo>
                  <a:cubicBezTo>
                    <a:pt x="1619" y="1002498"/>
                    <a:pt x="0" y="998590"/>
                    <a:pt x="0" y="994514"/>
                  </a:cubicBezTo>
                  <a:lnTo>
                    <a:pt x="0" y="15368"/>
                  </a:lnTo>
                  <a:cubicBezTo>
                    <a:pt x="0" y="11292"/>
                    <a:pt x="1619" y="7383"/>
                    <a:pt x="4501" y="4501"/>
                  </a:cubicBezTo>
                  <a:cubicBezTo>
                    <a:pt x="7383" y="1619"/>
                    <a:pt x="11292" y="0"/>
                    <a:pt x="153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34075">
                    <a:alpha val="100000"/>
                  </a:srgbClr>
                </a:gs>
                <a:gs pos="100000">
                  <a:srgbClr val="66446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90193" cy="1047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558886" y="1617035"/>
            <a:ext cx="441271" cy="438146"/>
          </a:xfrm>
          <a:custGeom>
            <a:avLst/>
            <a:gdLst/>
            <a:ahLst/>
            <a:cxnLst/>
            <a:rect r="r" b="b" t="t" l="l"/>
            <a:pathLst>
              <a:path h="438146" w="441271">
                <a:moveTo>
                  <a:pt x="0" y="0"/>
                </a:moveTo>
                <a:lnTo>
                  <a:pt x="441272" y="0"/>
                </a:lnTo>
                <a:lnTo>
                  <a:pt x="441272" y="438146"/>
                </a:lnTo>
                <a:lnTo>
                  <a:pt x="0" y="4381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25550" y="3518379"/>
            <a:ext cx="441271" cy="438146"/>
          </a:xfrm>
          <a:custGeom>
            <a:avLst/>
            <a:gdLst/>
            <a:ahLst/>
            <a:cxnLst/>
            <a:rect r="r" b="b" t="t" l="l"/>
            <a:pathLst>
              <a:path h="438146" w="441271">
                <a:moveTo>
                  <a:pt x="0" y="0"/>
                </a:moveTo>
                <a:lnTo>
                  <a:pt x="441271" y="0"/>
                </a:lnTo>
                <a:lnTo>
                  <a:pt x="441271" y="438145"/>
                </a:lnTo>
                <a:lnTo>
                  <a:pt x="0" y="4381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325550" y="9262904"/>
            <a:ext cx="15933750" cy="715010"/>
            <a:chOff x="0" y="0"/>
            <a:chExt cx="2468555" cy="1107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68555" cy="110774"/>
            </a:xfrm>
            <a:custGeom>
              <a:avLst/>
              <a:gdLst/>
              <a:ahLst/>
              <a:cxnLst/>
              <a:rect r="r" b="b" t="t" l="l"/>
              <a:pathLst>
                <a:path h="110774" w="2468555">
                  <a:moveTo>
                    <a:pt x="11175" y="0"/>
                  </a:moveTo>
                  <a:lnTo>
                    <a:pt x="2457379" y="0"/>
                  </a:lnTo>
                  <a:cubicBezTo>
                    <a:pt x="2463551" y="0"/>
                    <a:pt x="2468555" y="5003"/>
                    <a:pt x="2468555" y="11175"/>
                  </a:cubicBezTo>
                  <a:lnTo>
                    <a:pt x="2468555" y="99598"/>
                  </a:lnTo>
                  <a:cubicBezTo>
                    <a:pt x="2468555" y="105770"/>
                    <a:pt x="2463551" y="110774"/>
                    <a:pt x="2457379" y="110774"/>
                  </a:cubicBezTo>
                  <a:lnTo>
                    <a:pt x="11175" y="110774"/>
                  </a:lnTo>
                  <a:cubicBezTo>
                    <a:pt x="5003" y="110774"/>
                    <a:pt x="0" y="105770"/>
                    <a:pt x="0" y="99598"/>
                  </a:cubicBezTo>
                  <a:lnTo>
                    <a:pt x="0" y="11175"/>
                  </a:lnTo>
                  <a:cubicBezTo>
                    <a:pt x="0" y="5003"/>
                    <a:pt x="5003" y="0"/>
                    <a:pt x="11175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585422" r="0" b="-799293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25550" y="525855"/>
            <a:ext cx="450692" cy="45069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71778" y="0"/>
                  </a:moveTo>
                  <a:lnTo>
                    <a:pt x="641022" y="0"/>
                  </a:lnTo>
                  <a:cubicBezTo>
                    <a:pt x="735892" y="0"/>
                    <a:pt x="812800" y="76908"/>
                    <a:pt x="812800" y="171778"/>
                  </a:cubicBezTo>
                  <a:lnTo>
                    <a:pt x="812800" y="641022"/>
                  </a:lnTo>
                  <a:cubicBezTo>
                    <a:pt x="812800" y="735892"/>
                    <a:pt x="735892" y="812800"/>
                    <a:pt x="641022" y="812800"/>
                  </a:cubicBezTo>
                  <a:lnTo>
                    <a:pt x="171778" y="812800"/>
                  </a:lnTo>
                  <a:cubicBezTo>
                    <a:pt x="76908" y="812800"/>
                    <a:pt x="0" y="735892"/>
                    <a:pt x="0" y="641022"/>
                  </a:cubicBezTo>
                  <a:lnTo>
                    <a:pt x="0" y="171778"/>
                  </a:lnTo>
                  <a:cubicBezTo>
                    <a:pt x="0" y="76908"/>
                    <a:pt x="76908" y="0"/>
                    <a:pt x="171778" y="0"/>
                  </a:cubicBezTo>
                  <a:close/>
                </a:path>
              </a:pathLst>
            </a:custGeom>
            <a:blipFill>
              <a:blip r:embed="rId6"/>
              <a:stretch>
                <a:fillRect l="-35556" t="0" r="-3111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74792" y="4164859"/>
            <a:ext cx="557428" cy="550107"/>
            <a:chOff x="0" y="0"/>
            <a:chExt cx="743237" cy="733476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743237" cy="733476"/>
              <a:chOff x="0" y="0"/>
              <a:chExt cx="174266" cy="17197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74266" cy="171977"/>
              </a:xfrm>
              <a:custGeom>
                <a:avLst/>
                <a:gdLst/>
                <a:ahLst/>
                <a:cxnLst/>
                <a:rect r="r" b="b" t="t" l="l"/>
                <a:pathLst>
                  <a:path h="171977" w="174266">
                    <a:moveTo>
                      <a:pt x="85988" y="0"/>
                    </a:moveTo>
                    <a:lnTo>
                      <a:pt x="88277" y="0"/>
                    </a:lnTo>
                    <a:cubicBezTo>
                      <a:pt x="111083" y="0"/>
                      <a:pt x="132954" y="9059"/>
                      <a:pt x="149080" y="25185"/>
                    </a:cubicBezTo>
                    <a:cubicBezTo>
                      <a:pt x="165206" y="41311"/>
                      <a:pt x="174266" y="63183"/>
                      <a:pt x="174266" y="85988"/>
                    </a:cubicBezTo>
                    <a:lnTo>
                      <a:pt x="174266" y="85988"/>
                    </a:lnTo>
                    <a:cubicBezTo>
                      <a:pt x="174266" y="133479"/>
                      <a:pt x="135767" y="171977"/>
                      <a:pt x="88277" y="171977"/>
                    </a:cubicBezTo>
                    <a:lnTo>
                      <a:pt x="85988" y="171977"/>
                    </a:lnTo>
                    <a:cubicBezTo>
                      <a:pt x="63183" y="171977"/>
                      <a:pt x="41311" y="162917"/>
                      <a:pt x="25185" y="146791"/>
                    </a:cubicBezTo>
                    <a:cubicBezTo>
                      <a:pt x="9059" y="130666"/>
                      <a:pt x="0" y="108794"/>
                      <a:pt x="0" y="85988"/>
                    </a:cubicBezTo>
                    <a:lnTo>
                      <a:pt x="0" y="85988"/>
                    </a:lnTo>
                    <a:cubicBezTo>
                      <a:pt x="0" y="63183"/>
                      <a:pt x="9059" y="41311"/>
                      <a:pt x="25185" y="25185"/>
                    </a:cubicBezTo>
                    <a:cubicBezTo>
                      <a:pt x="41311" y="9059"/>
                      <a:pt x="63183" y="0"/>
                      <a:pt x="85988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34075">
                      <a:alpha val="100000"/>
                    </a:srgbClr>
                  </a:gs>
                  <a:gs pos="100000">
                    <a:srgbClr val="66446E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74266" cy="21007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74374" y="127492"/>
              <a:ext cx="594490" cy="440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0"/>
                </a:lnSpc>
              </a:pPr>
              <a:r>
                <a:rPr lang="en-US" sz="2021">
                  <a:solidFill>
                    <a:srgbClr val="FFFFFF"/>
                  </a:solidFill>
                  <a:latin typeface="Alexandria Light"/>
                  <a:ea typeface="Alexandria Light"/>
                  <a:cs typeface="Alexandria Light"/>
                  <a:sym typeface="Alexandria Light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74792" y="4924516"/>
            <a:ext cx="557428" cy="550107"/>
            <a:chOff x="0" y="0"/>
            <a:chExt cx="743237" cy="733476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743237" cy="733476"/>
              <a:chOff x="0" y="0"/>
              <a:chExt cx="174266" cy="171977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74266" cy="171977"/>
              </a:xfrm>
              <a:custGeom>
                <a:avLst/>
                <a:gdLst/>
                <a:ahLst/>
                <a:cxnLst/>
                <a:rect r="r" b="b" t="t" l="l"/>
                <a:pathLst>
                  <a:path h="171977" w="174266">
                    <a:moveTo>
                      <a:pt x="85988" y="0"/>
                    </a:moveTo>
                    <a:lnTo>
                      <a:pt x="88277" y="0"/>
                    </a:lnTo>
                    <a:cubicBezTo>
                      <a:pt x="111083" y="0"/>
                      <a:pt x="132954" y="9059"/>
                      <a:pt x="149080" y="25185"/>
                    </a:cubicBezTo>
                    <a:cubicBezTo>
                      <a:pt x="165206" y="41311"/>
                      <a:pt x="174266" y="63183"/>
                      <a:pt x="174266" y="85988"/>
                    </a:cubicBezTo>
                    <a:lnTo>
                      <a:pt x="174266" y="85988"/>
                    </a:lnTo>
                    <a:cubicBezTo>
                      <a:pt x="174266" y="133479"/>
                      <a:pt x="135767" y="171977"/>
                      <a:pt x="88277" y="171977"/>
                    </a:cubicBezTo>
                    <a:lnTo>
                      <a:pt x="85988" y="171977"/>
                    </a:lnTo>
                    <a:cubicBezTo>
                      <a:pt x="63183" y="171977"/>
                      <a:pt x="41311" y="162917"/>
                      <a:pt x="25185" y="146791"/>
                    </a:cubicBezTo>
                    <a:cubicBezTo>
                      <a:pt x="9059" y="130666"/>
                      <a:pt x="0" y="108794"/>
                      <a:pt x="0" y="85988"/>
                    </a:cubicBezTo>
                    <a:lnTo>
                      <a:pt x="0" y="85988"/>
                    </a:lnTo>
                    <a:cubicBezTo>
                      <a:pt x="0" y="63183"/>
                      <a:pt x="9059" y="41311"/>
                      <a:pt x="25185" y="25185"/>
                    </a:cubicBezTo>
                    <a:cubicBezTo>
                      <a:pt x="41311" y="9059"/>
                      <a:pt x="63183" y="0"/>
                      <a:pt x="85988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34075">
                      <a:alpha val="100000"/>
                    </a:srgbClr>
                  </a:gs>
                  <a:gs pos="100000">
                    <a:srgbClr val="66446E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174266" cy="21007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74374" y="127492"/>
              <a:ext cx="594490" cy="440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0"/>
                </a:lnSpc>
              </a:pPr>
              <a:r>
                <a:rPr lang="en-US" sz="2021">
                  <a:solidFill>
                    <a:srgbClr val="FFFFFF"/>
                  </a:solidFill>
                  <a:latin typeface="Alexandria Light"/>
                  <a:ea typeface="Alexandria Light"/>
                  <a:cs typeface="Alexandria Light"/>
                  <a:sym typeface="Alexandria Light"/>
                </a:rPr>
                <a:t>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74792" y="5807003"/>
            <a:ext cx="557428" cy="550107"/>
            <a:chOff x="0" y="0"/>
            <a:chExt cx="743237" cy="733476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743237" cy="733476"/>
              <a:chOff x="0" y="0"/>
              <a:chExt cx="174266" cy="171977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74266" cy="171977"/>
              </a:xfrm>
              <a:custGeom>
                <a:avLst/>
                <a:gdLst/>
                <a:ahLst/>
                <a:cxnLst/>
                <a:rect r="r" b="b" t="t" l="l"/>
                <a:pathLst>
                  <a:path h="171977" w="174266">
                    <a:moveTo>
                      <a:pt x="85988" y="0"/>
                    </a:moveTo>
                    <a:lnTo>
                      <a:pt x="88277" y="0"/>
                    </a:lnTo>
                    <a:cubicBezTo>
                      <a:pt x="111083" y="0"/>
                      <a:pt x="132954" y="9059"/>
                      <a:pt x="149080" y="25185"/>
                    </a:cubicBezTo>
                    <a:cubicBezTo>
                      <a:pt x="165206" y="41311"/>
                      <a:pt x="174266" y="63183"/>
                      <a:pt x="174266" y="85988"/>
                    </a:cubicBezTo>
                    <a:lnTo>
                      <a:pt x="174266" y="85988"/>
                    </a:lnTo>
                    <a:cubicBezTo>
                      <a:pt x="174266" y="133479"/>
                      <a:pt x="135767" y="171977"/>
                      <a:pt x="88277" y="171977"/>
                    </a:cubicBezTo>
                    <a:lnTo>
                      <a:pt x="85988" y="171977"/>
                    </a:lnTo>
                    <a:cubicBezTo>
                      <a:pt x="63183" y="171977"/>
                      <a:pt x="41311" y="162917"/>
                      <a:pt x="25185" y="146791"/>
                    </a:cubicBezTo>
                    <a:cubicBezTo>
                      <a:pt x="9059" y="130666"/>
                      <a:pt x="0" y="108794"/>
                      <a:pt x="0" y="85988"/>
                    </a:cubicBezTo>
                    <a:lnTo>
                      <a:pt x="0" y="85988"/>
                    </a:lnTo>
                    <a:cubicBezTo>
                      <a:pt x="0" y="63183"/>
                      <a:pt x="9059" y="41311"/>
                      <a:pt x="25185" y="25185"/>
                    </a:cubicBezTo>
                    <a:cubicBezTo>
                      <a:pt x="41311" y="9059"/>
                      <a:pt x="63183" y="0"/>
                      <a:pt x="85988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34075">
                      <a:alpha val="100000"/>
                    </a:srgbClr>
                  </a:gs>
                  <a:gs pos="100000">
                    <a:srgbClr val="66446E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74266" cy="21007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74374" y="127492"/>
              <a:ext cx="594490" cy="440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0"/>
                </a:lnSpc>
              </a:pPr>
              <a:r>
                <a:rPr lang="en-US" sz="2021">
                  <a:solidFill>
                    <a:srgbClr val="FFFFFF"/>
                  </a:solidFill>
                  <a:latin typeface="Alexandria Light"/>
                  <a:ea typeface="Alexandria Light"/>
                  <a:cs typeface="Alexandria Light"/>
                  <a:sym typeface="Alexandria Light"/>
                </a:rPr>
                <a:t>3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74792" y="6690485"/>
            <a:ext cx="557428" cy="550107"/>
            <a:chOff x="0" y="0"/>
            <a:chExt cx="743237" cy="733476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743237" cy="733476"/>
              <a:chOff x="0" y="0"/>
              <a:chExt cx="174266" cy="17197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74266" cy="171977"/>
              </a:xfrm>
              <a:custGeom>
                <a:avLst/>
                <a:gdLst/>
                <a:ahLst/>
                <a:cxnLst/>
                <a:rect r="r" b="b" t="t" l="l"/>
                <a:pathLst>
                  <a:path h="171977" w="174266">
                    <a:moveTo>
                      <a:pt x="85988" y="0"/>
                    </a:moveTo>
                    <a:lnTo>
                      <a:pt x="88277" y="0"/>
                    </a:lnTo>
                    <a:cubicBezTo>
                      <a:pt x="111083" y="0"/>
                      <a:pt x="132954" y="9059"/>
                      <a:pt x="149080" y="25185"/>
                    </a:cubicBezTo>
                    <a:cubicBezTo>
                      <a:pt x="165206" y="41311"/>
                      <a:pt x="174266" y="63183"/>
                      <a:pt x="174266" y="85988"/>
                    </a:cubicBezTo>
                    <a:lnTo>
                      <a:pt x="174266" y="85988"/>
                    </a:lnTo>
                    <a:cubicBezTo>
                      <a:pt x="174266" y="133479"/>
                      <a:pt x="135767" y="171977"/>
                      <a:pt x="88277" y="171977"/>
                    </a:cubicBezTo>
                    <a:lnTo>
                      <a:pt x="85988" y="171977"/>
                    </a:lnTo>
                    <a:cubicBezTo>
                      <a:pt x="63183" y="171977"/>
                      <a:pt x="41311" y="162917"/>
                      <a:pt x="25185" y="146791"/>
                    </a:cubicBezTo>
                    <a:cubicBezTo>
                      <a:pt x="9059" y="130666"/>
                      <a:pt x="0" y="108794"/>
                      <a:pt x="0" y="85988"/>
                    </a:cubicBezTo>
                    <a:lnTo>
                      <a:pt x="0" y="85988"/>
                    </a:lnTo>
                    <a:cubicBezTo>
                      <a:pt x="0" y="63183"/>
                      <a:pt x="9059" y="41311"/>
                      <a:pt x="25185" y="25185"/>
                    </a:cubicBezTo>
                    <a:cubicBezTo>
                      <a:pt x="41311" y="9059"/>
                      <a:pt x="63183" y="0"/>
                      <a:pt x="85988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34075">
                      <a:alpha val="100000"/>
                    </a:srgbClr>
                  </a:gs>
                  <a:gs pos="100000">
                    <a:srgbClr val="66446E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74266" cy="21007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74374" y="127492"/>
              <a:ext cx="594490" cy="440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0"/>
                </a:lnSpc>
              </a:pPr>
              <a:r>
                <a:rPr lang="en-US" sz="2021">
                  <a:solidFill>
                    <a:srgbClr val="FFFFFF"/>
                  </a:solidFill>
                  <a:latin typeface="Alexandria Light"/>
                  <a:ea typeface="Alexandria Light"/>
                  <a:cs typeface="Alexandria Light"/>
                  <a:sym typeface="Alexandria Light"/>
                </a:rPr>
                <a:t>4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74792" y="7707316"/>
            <a:ext cx="557428" cy="550107"/>
            <a:chOff x="0" y="0"/>
            <a:chExt cx="743237" cy="733476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743237" cy="733476"/>
              <a:chOff x="0" y="0"/>
              <a:chExt cx="174266" cy="171977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74266" cy="171977"/>
              </a:xfrm>
              <a:custGeom>
                <a:avLst/>
                <a:gdLst/>
                <a:ahLst/>
                <a:cxnLst/>
                <a:rect r="r" b="b" t="t" l="l"/>
                <a:pathLst>
                  <a:path h="171977" w="174266">
                    <a:moveTo>
                      <a:pt x="85988" y="0"/>
                    </a:moveTo>
                    <a:lnTo>
                      <a:pt x="88277" y="0"/>
                    </a:lnTo>
                    <a:cubicBezTo>
                      <a:pt x="111083" y="0"/>
                      <a:pt x="132954" y="9059"/>
                      <a:pt x="149080" y="25185"/>
                    </a:cubicBezTo>
                    <a:cubicBezTo>
                      <a:pt x="165206" y="41311"/>
                      <a:pt x="174266" y="63183"/>
                      <a:pt x="174266" y="85988"/>
                    </a:cubicBezTo>
                    <a:lnTo>
                      <a:pt x="174266" y="85988"/>
                    </a:lnTo>
                    <a:cubicBezTo>
                      <a:pt x="174266" y="133479"/>
                      <a:pt x="135767" y="171977"/>
                      <a:pt x="88277" y="171977"/>
                    </a:cubicBezTo>
                    <a:lnTo>
                      <a:pt x="85988" y="171977"/>
                    </a:lnTo>
                    <a:cubicBezTo>
                      <a:pt x="63183" y="171977"/>
                      <a:pt x="41311" y="162917"/>
                      <a:pt x="25185" y="146791"/>
                    </a:cubicBezTo>
                    <a:cubicBezTo>
                      <a:pt x="9059" y="130666"/>
                      <a:pt x="0" y="108794"/>
                      <a:pt x="0" y="85988"/>
                    </a:cubicBezTo>
                    <a:lnTo>
                      <a:pt x="0" y="85988"/>
                    </a:lnTo>
                    <a:cubicBezTo>
                      <a:pt x="0" y="63183"/>
                      <a:pt x="9059" y="41311"/>
                      <a:pt x="25185" y="25185"/>
                    </a:cubicBezTo>
                    <a:cubicBezTo>
                      <a:pt x="41311" y="9059"/>
                      <a:pt x="63183" y="0"/>
                      <a:pt x="85988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34075">
                      <a:alpha val="100000"/>
                    </a:srgbClr>
                  </a:gs>
                  <a:gs pos="100000">
                    <a:srgbClr val="66446E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174266" cy="21007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74374" y="127492"/>
              <a:ext cx="594490" cy="440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0"/>
                </a:lnSpc>
              </a:pPr>
              <a:r>
                <a:rPr lang="en-US" sz="2021">
                  <a:solidFill>
                    <a:srgbClr val="FFFFFF"/>
                  </a:solidFill>
                  <a:latin typeface="Alexandria Light"/>
                  <a:ea typeface="Alexandria Light"/>
                  <a:cs typeface="Alexandria Light"/>
                  <a:sym typeface="Alexandria Light"/>
                </a:rPr>
                <a:t>5</a:t>
              </a:r>
            </a:p>
          </p:txBody>
        </p:sp>
      </p:grpSp>
      <p:graphicFrame>
        <p:nvGraphicFramePr>
          <p:cNvPr name="Table 40" id="40"/>
          <p:cNvGraphicFramePr>
            <a:graphicFrameLocks noGrp="true"/>
          </p:cNvGraphicFramePr>
          <p:nvPr/>
        </p:nvGraphicFramePr>
        <p:xfrm>
          <a:off x="9846455" y="5071235"/>
          <a:ext cx="6981376" cy="3238500"/>
        </p:xfrm>
        <a:graphic>
          <a:graphicData uri="http://schemas.openxmlformats.org/drawingml/2006/table">
            <a:tbl>
              <a:tblPr/>
              <a:tblGrid>
                <a:gridCol w="3490688"/>
                <a:gridCol w="3490688"/>
              </a:tblGrid>
              <a:tr h="8096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Metric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Error Range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</a:tr>
              <a:tr h="8096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Energy prediction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4.9% - 19.1%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96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CO2 emissions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7.3% - 19.9%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96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Duration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0.8% - 4.6%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1" id="41"/>
          <p:cNvSpPr txBox="true"/>
          <p:nvPr/>
        </p:nvSpPr>
        <p:spPr>
          <a:xfrm rot="0">
            <a:off x="1374792" y="1380616"/>
            <a:ext cx="5237738" cy="819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3"/>
              </a:lnSpc>
            </a:pPr>
            <a:r>
              <a:rPr lang="en-US" sz="4845" b="true">
                <a:solidFill>
                  <a:srgbClr val="FFFFFF"/>
                </a:solidFill>
                <a:latin typeface="Nunito Sans Ultra-Bold"/>
                <a:ea typeface="Nunito Sans Ultra-Bold"/>
                <a:cs typeface="Nunito Sans Ultra-Bold"/>
                <a:sym typeface="Nunito Sans Ultra-Bold"/>
              </a:rPr>
              <a:t>Carbontracker: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74792" y="2114688"/>
            <a:ext cx="6177998" cy="819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3"/>
              </a:lnSpc>
            </a:pPr>
            <a:r>
              <a:rPr lang="en-US" sz="4845">
                <a:solidFill>
                  <a:srgbClr val="FFFFFF"/>
                </a:solidFill>
                <a:latin typeface="Nunito Sans Light"/>
                <a:ea typeface="Nunito Sans Light"/>
                <a:cs typeface="Nunito Sans Light"/>
                <a:sym typeface="Nunito Sans Light"/>
              </a:rPr>
              <a:t>How It works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892710" y="2437659"/>
            <a:ext cx="6888864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Core Assumption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Energy scales linearly across epochs. Ignores LR schedules, warmup, convergence, and variable compute per epoch.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147231" y="1538611"/>
            <a:ext cx="6968168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Key Assumptions &amp; Accuracy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115574" y="4187349"/>
            <a:ext cx="6809611" cy="4478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Training starts. Carbontracker monitors the first N epochs (default: 1).</a:t>
            </a:r>
          </a:p>
          <a:p>
            <a:pPr algn="l">
              <a:lnSpc>
                <a:spcPts val="2300"/>
              </a:lnSpc>
            </a:pPr>
          </a:p>
          <a:p>
            <a:pPr algn="l">
              <a:lnSpc>
                <a:spcPts val="2000"/>
              </a:lnSpc>
            </a:pPr>
            <a:r>
              <a:rPr lang="en-US" sz="20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Reads power from Intel RAPL (CPU + DRAM) and NVIDIA NVML (GPU) in a separate thread.</a:t>
            </a:r>
          </a:p>
          <a:p>
            <a:pPr algn="l">
              <a:lnSpc>
                <a:spcPts val="2000"/>
              </a:lnSpc>
            </a:pPr>
          </a:p>
          <a:p>
            <a:pPr algn="l">
              <a:lnSpc>
                <a:spcPts val="2300"/>
              </a:lnSpc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Measures actual energy and duration for monitored epochs.</a:t>
            </a:r>
          </a:p>
          <a:p>
            <a:pPr algn="l">
              <a:lnSpc>
                <a:spcPts val="2300"/>
              </a:lnSpc>
            </a:pPr>
          </a:p>
          <a:p>
            <a:pPr algn="l">
              <a:lnSpc>
                <a:spcPts val="2300"/>
              </a:lnSpc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Linear extrapolation:</a:t>
            </a:r>
          </a:p>
          <a:p>
            <a:pPr algn="l">
              <a:lnSpc>
                <a:spcPts val="2300"/>
              </a:lnSpc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Total Energy = Measured × (Total Epochs / Monitored)</a:t>
            </a:r>
          </a:p>
          <a:p>
            <a:pPr algn="l">
              <a:lnSpc>
                <a:spcPts val="2300"/>
              </a:lnSpc>
            </a:pPr>
          </a:p>
          <a:p>
            <a:pPr algn="l">
              <a:lnSpc>
                <a:spcPts val="2300"/>
              </a:lnSpc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Fetches real-time carbon intensity (gCO₂/kWh) and converts energy to carbon emissions.</a:t>
            </a:r>
          </a:p>
          <a:p>
            <a:pPr algn="l">
              <a:lnSpc>
                <a:spcPts val="2300"/>
              </a:lnSpc>
            </a:pPr>
          </a:p>
        </p:txBody>
      </p:sp>
      <p:sp>
        <p:nvSpPr>
          <p:cNvPr name="TextBox 46" id="46"/>
          <p:cNvSpPr txBox="true"/>
          <p:nvPr/>
        </p:nvSpPr>
        <p:spPr>
          <a:xfrm rot="0">
            <a:off x="1913895" y="3439954"/>
            <a:ext cx="5792306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The Prediction Mechism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878023" y="534031"/>
            <a:ext cx="786537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University of Ghana | Computer Science Department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D185B">
                <a:alpha val="100000"/>
              </a:srgbClr>
            </a:gs>
            <a:gs pos="100000">
              <a:srgbClr val="310C3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12645934" y="3277533"/>
            <a:ext cx="7121203" cy="10681805"/>
          </a:xfrm>
          <a:custGeom>
            <a:avLst/>
            <a:gdLst/>
            <a:ahLst/>
            <a:cxnLst/>
            <a:rect r="r" b="b" t="t" l="l"/>
            <a:pathLst>
              <a:path h="10681805" w="7121203">
                <a:moveTo>
                  <a:pt x="0" y="10681804"/>
                </a:moveTo>
                <a:lnTo>
                  <a:pt x="7121203" y="10681804"/>
                </a:lnTo>
                <a:lnTo>
                  <a:pt x="7121203" y="0"/>
                </a:lnTo>
                <a:lnTo>
                  <a:pt x="0" y="0"/>
                </a:lnTo>
                <a:lnTo>
                  <a:pt x="0" y="10681804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-2697390" y="-6430709"/>
            <a:ext cx="7121203" cy="10681805"/>
          </a:xfrm>
          <a:custGeom>
            <a:avLst/>
            <a:gdLst/>
            <a:ahLst/>
            <a:cxnLst/>
            <a:rect r="r" b="b" t="t" l="l"/>
            <a:pathLst>
              <a:path h="10681805" w="7121203">
                <a:moveTo>
                  <a:pt x="7121203" y="0"/>
                </a:moveTo>
                <a:lnTo>
                  <a:pt x="0" y="0"/>
                </a:lnTo>
                <a:lnTo>
                  <a:pt x="0" y="10681804"/>
                </a:lnTo>
                <a:lnTo>
                  <a:pt x="7121203" y="10681804"/>
                </a:lnTo>
                <a:lnTo>
                  <a:pt x="7121203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332618" y="-5079170"/>
            <a:ext cx="11161226" cy="11161226"/>
          </a:xfrm>
          <a:custGeom>
            <a:avLst/>
            <a:gdLst/>
            <a:ahLst/>
            <a:cxnLst/>
            <a:rect r="r" b="b" t="t" l="l"/>
            <a:pathLst>
              <a:path h="11161226" w="11161226">
                <a:moveTo>
                  <a:pt x="0" y="0"/>
                </a:moveTo>
                <a:lnTo>
                  <a:pt x="11161226" y="0"/>
                </a:lnTo>
                <a:lnTo>
                  <a:pt x="11161226" y="11161226"/>
                </a:lnTo>
                <a:lnTo>
                  <a:pt x="0" y="111612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56446" y="6598423"/>
            <a:ext cx="11161226" cy="11161226"/>
          </a:xfrm>
          <a:custGeom>
            <a:avLst/>
            <a:gdLst/>
            <a:ahLst/>
            <a:cxnLst/>
            <a:rect r="r" b="b" t="t" l="l"/>
            <a:pathLst>
              <a:path h="11161226" w="11161226">
                <a:moveTo>
                  <a:pt x="0" y="0"/>
                </a:moveTo>
                <a:lnTo>
                  <a:pt x="11161226" y="0"/>
                </a:lnTo>
                <a:lnTo>
                  <a:pt x="11161226" y="11161227"/>
                </a:lnTo>
                <a:lnTo>
                  <a:pt x="0" y="111612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25550" y="2470794"/>
            <a:ext cx="15933750" cy="6965349"/>
            <a:chOff x="0" y="0"/>
            <a:chExt cx="4196543" cy="18344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96543" cy="1834495"/>
            </a:xfrm>
            <a:custGeom>
              <a:avLst/>
              <a:gdLst/>
              <a:ahLst/>
              <a:cxnLst/>
              <a:rect r="r" b="b" t="t" l="l"/>
              <a:pathLst>
                <a:path h="1834495" w="4196543">
                  <a:moveTo>
                    <a:pt x="7288" y="0"/>
                  </a:moveTo>
                  <a:lnTo>
                    <a:pt x="4189255" y="0"/>
                  </a:lnTo>
                  <a:cubicBezTo>
                    <a:pt x="4193280" y="0"/>
                    <a:pt x="4196543" y="3263"/>
                    <a:pt x="4196543" y="7288"/>
                  </a:cubicBezTo>
                  <a:lnTo>
                    <a:pt x="4196543" y="1827207"/>
                  </a:lnTo>
                  <a:cubicBezTo>
                    <a:pt x="4196543" y="1831232"/>
                    <a:pt x="4193280" y="1834495"/>
                    <a:pt x="4189255" y="1834495"/>
                  </a:cubicBezTo>
                  <a:lnTo>
                    <a:pt x="7288" y="1834495"/>
                  </a:lnTo>
                  <a:cubicBezTo>
                    <a:pt x="3263" y="1834495"/>
                    <a:pt x="0" y="1831232"/>
                    <a:pt x="0" y="1827207"/>
                  </a:cubicBezTo>
                  <a:lnTo>
                    <a:pt x="0" y="7288"/>
                  </a:lnTo>
                  <a:cubicBezTo>
                    <a:pt x="0" y="3263"/>
                    <a:pt x="3263" y="0"/>
                    <a:pt x="728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34075">
                    <a:alpha val="100000"/>
                  </a:srgbClr>
                </a:gs>
                <a:gs pos="100000">
                  <a:srgbClr val="66446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196543" cy="1872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729783" y="2863078"/>
            <a:ext cx="441271" cy="438146"/>
          </a:xfrm>
          <a:custGeom>
            <a:avLst/>
            <a:gdLst/>
            <a:ahLst/>
            <a:cxnLst/>
            <a:rect r="r" b="b" t="t" l="l"/>
            <a:pathLst>
              <a:path h="438146" w="441271">
                <a:moveTo>
                  <a:pt x="0" y="0"/>
                </a:moveTo>
                <a:lnTo>
                  <a:pt x="441271" y="0"/>
                </a:lnTo>
                <a:lnTo>
                  <a:pt x="441271" y="438146"/>
                </a:lnTo>
                <a:lnTo>
                  <a:pt x="0" y="4381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330189" y="2863078"/>
            <a:ext cx="441271" cy="438146"/>
          </a:xfrm>
          <a:custGeom>
            <a:avLst/>
            <a:gdLst/>
            <a:ahLst/>
            <a:cxnLst/>
            <a:rect r="r" b="b" t="t" l="l"/>
            <a:pathLst>
              <a:path h="438146" w="441271">
                <a:moveTo>
                  <a:pt x="0" y="0"/>
                </a:moveTo>
                <a:lnTo>
                  <a:pt x="441272" y="0"/>
                </a:lnTo>
                <a:lnTo>
                  <a:pt x="441272" y="438146"/>
                </a:lnTo>
                <a:lnTo>
                  <a:pt x="0" y="4381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14854" y="8730315"/>
            <a:ext cx="1031331" cy="1055971"/>
          </a:xfrm>
          <a:custGeom>
            <a:avLst/>
            <a:gdLst/>
            <a:ahLst/>
            <a:cxnLst/>
            <a:rect r="r" b="b" t="t" l="l"/>
            <a:pathLst>
              <a:path h="1055971" w="1031331">
                <a:moveTo>
                  <a:pt x="0" y="0"/>
                </a:moveTo>
                <a:lnTo>
                  <a:pt x="1031332" y="0"/>
                </a:lnTo>
                <a:lnTo>
                  <a:pt x="1031332" y="1055970"/>
                </a:lnTo>
                <a:lnTo>
                  <a:pt x="0" y="10559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628867" y="2200413"/>
            <a:ext cx="1260866" cy="1282780"/>
          </a:xfrm>
          <a:custGeom>
            <a:avLst/>
            <a:gdLst/>
            <a:ahLst/>
            <a:cxnLst/>
            <a:rect r="r" b="b" t="t" l="l"/>
            <a:pathLst>
              <a:path h="1282780" w="1260866">
                <a:moveTo>
                  <a:pt x="0" y="0"/>
                </a:moveTo>
                <a:lnTo>
                  <a:pt x="1260866" y="0"/>
                </a:lnTo>
                <a:lnTo>
                  <a:pt x="1260866" y="1282780"/>
                </a:lnTo>
                <a:lnTo>
                  <a:pt x="0" y="12827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25550" y="1237753"/>
            <a:ext cx="5306728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FFFFFF"/>
                </a:solidFill>
                <a:latin typeface="Nunito Sans Ultra-Bold"/>
                <a:ea typeface="Nunito Sans Ultra-Bold"/>
                <a:cs typeface="Nunito Sans Ultra-Bold"/>
                <a:sym typeface="Nunito Sans Ultra-Bold"/>
              </a:rPr>
              <a:t>C</a:t>
            </a:r>
            <a:r>
              <a:rPr lang="en-US" sz="5600" b="true">
                <a:solidFill>
                  <a:srgbClr val="FFFFFF"/>
                </a:solidFill>
                <a:latin typeface="Nunito Sans Ultra-Bold"/>
                <a:ea typeface="Nunito Sans Ultra-Bold"/>
                <a:cs typeface="Nunito Sans Ultra-Bold"/>
                <a:sym typeface="Nunito Sans Ultra-Bold"/>
              </a:rPr>
              <a:t>arbontracker: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23944" y="1237753"/>
            <a:ext cx="9482592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FFFFFF"/>
                </a:solidFill>
                <a:latin typeface="Nunito Sans Light"/>
                <a:ea typeface="Nunito Sans Light"/>
                <a:cs typeface="Nunito Sans Light"/>
                <a:sym typeface="Nunito Sans Light"/>
              </a:rPr>
              <a:t>Strengths &amp; L</a:t>
            </a:r>
            <a:r>
              <a:rPr lang="en-US" sz="5600">
                <a:solidFill>
                  <a:srgbClr val="FFFFFF"/>
                </a:solidFill>
                <a:latin typeface="Nunito Sans Light"/>
                <a:ea typeface="Nunito Sans Light"/>
                <a:cs typeface="Nunito Sans Light"/>
                <a:sym typeface="Nunito Sans Light"/>
              </a:rPr>
              <a:t>imitations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66594" y="3253599"/>
            <a:ext cx="6822745" cy="5189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Real-Time Carbon: Converts energy to CO₂ using live grid data. Training at night reduces emissions up to 75%.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Proactive Stopping: Set carbon budgets, auto-stop if exceeded. Safety net no pre-training predictor offers.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Full System Power: CPU+DRAM = 40–50% of total. GPU-only tools miss nearly half the consumption.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Portable: Any RAPL+NVML system: clusters, desktops, Colab.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Interpretable: "Equivalent to X km driven." Makes CO₂ tangible for practitioners.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67001" y="3253599"/>
            <a:ext cx="6974288" cy="6390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No Pre-Training Prediction: Must run at least 1 epoch. Can’t help choose architecture or hardware beforehand.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Linear Assumption: Assumes every epoch costs the same. Breaks with LR schedules, warmup, convergence.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Software Sensors: RAPL+NVML miss PSU losses, cooling, storage. Fischer (2025): up to 40% underestimate.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No Generalization: No learned patterns. Each new model needs a fresh run. Zero cross-architecture transfer.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Can’t Compare Architectures: 50 candidates = 50 partial training runs. Our framework compares them in seconds.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2318128" y="2784653"/>
            <a:ext cx="518346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Where </a:t>
            </a:r>
            <a:r>
              <a:rPr lang="en-US" sz="3000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It Shines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18534" y="2784653"/>
            <a:ext cx="536868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Wher</a:t>
            </a:r>
            <a:r>
              <a:rPr lang="en-US" sz="3000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e It Falls Short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25550" y="525855"/>
            <a:ext cx="450692" cy="45069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71778" y="0"/>
                  </a:moveTo>
                  <a:lnTo>
                    <a:pt x="641022" y="0"/>
                  </a:lnTo>
                  <a:cubicBezTo>
                    <a:pt x="735892" y="0"/>
                    <a:pt x="812800" y="76908"/>
                    <a:pt x="812800" y="171778"/>
                  </a:cubicBezTo>
                  <a:lnTo>
                    <a:pt x="812800" y="641022"/>
                  </a:lnTo>
                  <a:cubicBezTo>
                    <a:pt x="812800" y="735892"/>
                    <a:pt x="735892" y="812800"/>
                    <a:pt x="641022" y="812800"/>
                  </a:cubicBezTo>
                  <a:lnTo>
                    <a:pt x="171778" y="812800"/>
                  </a:lnTo>
                  <a:cubicBezTo>
                    <a:pt x="76908" y="812800"/>
                    <a:pt x="0" y="735892"/>
                    <a:pt x="0" y="641022"/>
                  </a:cubicBezTo>
                  <a:lnTo>
                    <a:pt x="0" y="171778"/>
                  </a:lnTo>
                  <a:cubicBezTo>
                    <a:pt x="0" y="76908"/>
                    <a:pt x="76908" y="0"/>
                    <a:pt x="171778" y="0"/>
                  </a:cubicBezTo>
                  <a:close/>
                </a:path>
              </a:pathLst>
            </a:custGeom>
            <a:blipFill>
              <a:blip r:embed="rId7"/>
              <a:stretch>
                <a:fillRect l="-35556" t="0" r="-3111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878023" y="534031"/>
            <a:ext cx="786537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University of Ghana | Computer Science Department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D185B">
                <a:alpha val="100000"/>
              </a:srgbClr>
            </a:gs>
            <a:gs pos="100000">
              <a:srgbClr val="310C3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5400000">
            <a:off x="9994714" y="7101603"/>
            <a:ext cx="7121203" cy="10681805"/>
          </a:xfrm>
          <a:custGeom>
            <a:avLst/>
            <a:gdLst/>
            <a:ahLst/>
            <a:cxnLst/>
            <a:rect r="r" b="b" t="t" l="l"/>
            <a:pathLst>
              <a:path h="10681805" w="7121203">
                <a:moveTo>
                  <a:pt x="7121203" y="10681805"/>
                </a:moveTo>
                <a:lnTo>
                  <a:pt x="0" y="10681805"/>
                </a:lnTo>
                <a:lnTo>
                  <a:pt x="0" y="0"/>
                </a:lnTo>
                <a:lnTo>
                  <a:pt x="7121203" y="0"/>
                </a:lnTo>
                <a:lnTo>
                  <a:pt x="7121203" y="10681805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5400000">
            <a:off x="2686200" y="-7578025"/>
            <a:ext cx="7121203" cy="10681805"/>
          </a:xfrm>
          <a:custGeom>
            <a:avLst/>
            <a:gdLst/>
            <a:ahLst/>
            <a:cxnLst/>
            <a:rect r="r" b="b" t="t" l="l"/>
            <a:pathLst>
              <a:path h="10681805" w="7121203">
                <a:moveTo>
                  <a:pt x="7121203" y="10681804"/>
                </a:moveTo>
                <a:lnTo>
                  <a:pt x="0" y="10681804"/>
                </a:lnTo>
                <a:lnTo>
                  <a:pt x="0" y="0"/>
                </a:lnTo>
                <a:lnTo>
                  <a:pt x="7121203" y="0"/>
                </a:lnTo>
                <a:lnTo>
                  <a:pt x="7121203" y="10681804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400000">
            <a:off x="-5383420" y="5673355"/>
            <a:ext cx="7121203" cy="10681805"/>
          </a:xfrm>
          <a:custGeom>
            <a:avLst/>
            <a:gdLst/>
            <a:ahLst/>
            <a:cxnLst/>
            <a:rect r="r" b="b" t="t" l="l"/>
            <a:pathLst>
              <a:path h="10681805" w="7121203">
                <a:moveTo>
                  <a:pt x="7121203" y="0"/>
                </a:moveTo>
                <a:lnTo>
                  <a:pt x="0" y="0"/>
                </a:lnTo>
                <a:lnTo>
                  <a:pt x="0" y="10681805"/>
                </a:lnTo>
                <a:lnTo>
                  <a:pt x="7121203" y="10681805"/>
                </a:lnTo>
                <a:lnTo>
                  <a:pt x="7121203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5400000">
            <a:off x="-2697390" y="-6430709"/>
            <a:ext cx="7121203" cy="10681805"/>
          </a:xfrm>
          <a:custGeom>
            <a:avLst/>
            <a:gdLst/>
            <a:ahLst/>
            <a:cxnLst/>
            <a:rect r="r" b="b" t="t" l="l"/>
            <a:pathLst>
              <a:path h="10681805" w="7121203">
                <a:moveTo>
                  <a:pt x="7121203" y="0"/>
                </a:moveTo>
                <a:lnTo>
                  <a:pt x="0" y="0"/>
                </a:lnTo>
                <a:lnTo>
                  <a:pt x="0" y="10681804"/>
                </a:lnTo>
                <a:lnTo>
                  <a:pt x="7121203" y="10681804"/>
                </a:lnTo>
                <a:lnTo>
                  <a:pt x="7121203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332618" y="-5079170"/>
            <a:ext cx="11161226" cy="11161226"/>
          </a:xfrm>
          <a:custGeom>
            <a:avLst/>
            <a:gdLst/>
            <a:ahLst/>
            <a:cxnLst/>
            <a:rect r="r" b="b" t="t" l="l"/>
            <a:pathLst>
              <a:path h="11161226" w="11161226">
                <a:moveTo>
                  <a:pt x="0" y="0"/>
                </a:moveTo>
                <a:lnTo>
                  <a:pt x="11161226" y="0"/>
                </a:lnTo>
                <a:lnTo>
                  <a:pt x="11161226" y="11161226"/>
                </a:lnTo>
                <a:lnTo>
                  <a:pt x="0" y="111612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256446" y="6598423"/>
            <a:ext cx="11161226" cy="11161226"/>
          </a:xfrm>
          <a:custGeom>
            <a:avLst/>
            <a:gdLst/>
            <a:ahLst/>
            <a:cxnLst/>
            <a:rect r="r" b="b" t="t" l="l"/>
            <a:pathLst>
              <a:path h="11161226" w="11161226">
                <a:moveTo>
                  <a:pt x="0" y="0"/>
                </a:moveTo>
                <a:lnTo>
                  <a:pt x="11161226" y="0"/>
                </a:lnTo>
                <a:lnTo>
                  <a:pt x="11161226" y="11161227"/>
                </a:lnTo>
                <a:lnTo>
                  <a:pt x="0" y="111612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97811" y="2264554"/>
            <a:ext cx="16357750" cy="1307169"/>
            <a:chOff x="0" y="0"/>
            <a:chExt cx="4308214" cy="3442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08214" cy="344275"/>
            </a:xfrm>
            <a:custGeom>
              <a:avLst/>
              <a:gdLst/>
              <a:ahLst/>
              <a:cxnLst/>
              <a:rect r="r" b="b" t="t" l="l"/>
              <a:pathLst>
                <a:path h="344275" w="4308214">
                  <a:moveTo>
                    <a:pt x="27924" y="0"/>
                  </a:moveTo>
                  <a:lnTo>
                    <a:pt x="4280290" y="0"/>
                  </a:lnTo>
                  <a:cubicBezTo>
                    <a:pt x="4295712" y="0"/>
                    <a:pt x="4308214" y="12502"/>
                    <a:pt x="4308214" y="27924"/>
                  </a:cubicBezTo>
                  <a:lnTo>
                    <a:pt x="4308214" y="316351"/>
                  </a:lnTo>
                  <a:cubicBezTo>
                    <a:pt x="4308214" y="331773"/>
                    <a:pt x="4295712" y="344275"/>
                    <a:pt x="4280290" y="344275"/>
                  </a:cubicBezTo>
                  <a:lnTo>
                    <a:pt x="27924" y="344275"/>
                  </a:lnTo>
                  <a:cubicBezTo>
                    <a:pt x="12502" y="344275"/>
                    <a:pt x="0" y="331773"/>
                    <a:pt x="0" y="316351"/>
                  </a:cubicBezTo>
                  <a:lnTo>
                    <a:pt x="0" y="27924"/>
                  </a:lnTo>
                  <a:cubicBezTo>
                    <a:pt x="0" y="12502"/>
                    <a:pt x="12502" y="0"/>
                    <a:pt x="2792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AD4FF">
                    <a:alpha val="25000"/>
                  </a:srgbClr>
                </a:gs>
                <a:gs pos="100000">
                  <a:srgbClr val="F103EA">
                    <a:alpha val="25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308214" cy="382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7811" y="4030893"/>
            <a:ext cx="16357750" cy="1307169"/>
            <a:chOff x="0" y="0"/>
            <a:chExt cx="4308214" cy="3442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308214" cy="344275"/>
            </a:xfrm>
            <a:custGeom>
              <a:avLst/>
              <a:gdLst/>
              <a:ahLst/>
              <a:cxnLst/>
              <a:rect r="r" b="b" t="t" l="l"/>
              <a:pathLst>
                <a:path h="344275" w="4308214">
                  <a:moveTo>
                    <a:pt x="27924" y="0"/>
                  </a:moveTo>
                  <a:lnTo>
                    <a:pt x="4280290" y="0"/>
                  </a:lnTo>
                  <a:cubicBezTo>
                    <a:pt x="4295712" y="0"/>
                    <a:pt x="4308214" y="12502"/>
                    <a:pt x="4308214" y="27924"/>
                  </a:cubicBezTo>
                  <a:lnTo>
                    <a:pt x="4308214" y="316351"/>
                  </a:lnTo>
                  <a:cubicBezTo>
                    <a:pt x="4308214" y="331773"/>
                    <a:pt x="4295712" y="344275"/>
                    <a:pt x="4280290" y="344275"/>
                  </a:cubicBezTo>
                  <a:lnTo>
                    <a:pt x="27924" y="344275"/>
                  </a:lnTo>
                  <a:cubicBezTo>
                    <a:pt x="12502" y="344275"/>
                    <a:pt x="0" y="331773"/>
                    <a:pt x="0" y="316351"/>
                  </a:cubicBezTo>
                  <a:lnTo>
                    <a:pt x="0" y="27924"/>
                  </a:lnTo>
                  <a:cubicBezTo>
                    <a:pt x="0" y="12502"/>
                    <a:pt x="12502" y="0"/>
                    <a:pt x="2792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AD4FF">
                    <a:alpha val="25000"/>
                  </a:srgbClr>
                </a:gs>
                <a:gs pos="100000">
                  <a:srgbClr val="F103EA">
                    <a:alpha val="25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308214" cy="382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97811" y="5802814"/>
            <a:ext cx="16357750" cy="1307169"/>
            <a:chOff x="0" y="0"/>
            <a:chExt cx="4308214" cy="3442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08214" cy="344275"/>
            </a:xfrm>
            <a:custGeom>
              <a:avLst/>
              <a:gdLst/>
              <a:ahLst/>
              <a:cxnLst/>
              <a:rect r="r" b="b" t="t" l="l"/>
              <a:pathLst>
                <a:path h="344275" w="4308214">
                  <a:moveTo>
                    <a:pt x="27924" y="0"/>
                  </a:moveTo>
                  <a:lnTo>
                    <a:pt x="4280290" y="0"/>
                  </a:lnTo>
                  <a:cubicBezTo>
                    <a:pt x="4295712" y="0"/>
                    <a:pt x="4308214" y="12502"/>
                    <a:pt x="4308214" y="27924"/>
                  </a:cubicBezTo>
                  <a:lnTo>
                    <a:pt x="4308214" y="316351"/>
                  </a:lnTo>
                  <a:cubicBezTo>
                    <a:pt x="4308214" y="331773"/>
                    <a:pt x="4295712" y="344275"/>
                    <a:pt x="4280290" y="344275"/>
                  </a:cubicBezTo>
                  <a:lnTo>
                    <a:pt x="27924" y="344275"/>
                  </a:lnTo>
                  <a:cubicBezTo>
                    <a:pt x="12502" y="344275"/>
                    <a:pt x="0" y="331773"/>
                    <a:pt x="0" y="316351"/>
                  </a:cubicBezTo>
                  <a:lnTo>
                    <a:pt x="0" y="27924"/>
                  </a:lnTo>
                  <a:cubicBezTo>
                    <a:pt x="0" y="12502"/>
                    <a:pt x="12502" y="0"/>
                    <a:pt x="2792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AD4FF">
                    <a:alpha val="25000"/>
                  </a:srgbClr>
                </a:gs>
                <a:gs pos="100000">
                  <a:srgbClr val="F103EA">
                    <a:alpha val="25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308214" cy="382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97811" y="7574735"/>
            <a:ext cx="16357750" cy="1307169"/>
            <a:chOff x="0" y="0"/>
            <a:chExt cx="4308214" cy="3442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308214" cy="344275"/>
            </a:xfrm>
            <a:custGeom>
              <a:avLst/>
              <a:gdLst/>
              <a:ahLst/>
              <a:cxnLst/>
              <a:rect r="r" b="b" t="t" l="l"/>
              <a:pathLst>
                <a:path h="344275" w="4308214">
                  <a:moveTo>
                    <a:pt x="27924" y="0"/>
                  </a:moveTo>
                  <a:lnTo>
                    <a:pt x="4280290" y="0"/>
                  </a:lnTo>
                  <a:cubicBezTo>
                    <a:pt x="4295712" y="0"/>
                    <a:pt x="4308214" y="12502"/>
                    <a:pt x="4308214" y="27924"/>
                  </a:cubicBezTo>
                  <a:lnTo>
                    <a:pt x="4308214" y="316351"/>
                  </a:lnTo>
                  <a:cubicBezTo>
                    <a:pt x="4308214" y="331773"/>
                    <a:pt x="4295712" y="344275"/>
                    <a:pt x="4280290" y="344275"/>
                  </a:cubicBezTo>
                  <a:lnTo>
                    <a:pt x="27924" y="344275"/>
                  </a:lnTo>
                  <a:cubicBezTo>
                    <a:pt x="12502" y="344275"/>
                    <a:pt x="0" y="331773"/>
                    <a:pt x="0" y="316351"/>
                  </a:cubicBezTo>
                  <a:lnTo>
                    <a:pt x="0" y="27924"/>
                  </a:lnTo>
                  <a:cubicBezTo>
                    <a:pt x="0" y="12502"/>
                    <a:pt x="12502" y="0"/>
                    <a:pt x="2792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AD4FF">
                    <a:alpha val="25000"/>
                  </a:srgbClr>
                </a:gs>
                <a:gs pos="100000">
                  <a:srgbClr val="F103EA">
                    <a:alpha val="25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308214" cy="382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35383" y="2647110"/>
            <a:ext cx="542057" cy="54205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C4E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35383" y="6185370"/>
            <a:ext cx="542057" cy="542057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C4E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35966" y="4416240"/>
            <a:ext cx="542057" cy="542057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C4E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35383" y="7957708"/>
            <a:ext cx="542057" cy="542057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C4E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325550" y="1237753"/>
            <a:ext cx="5827066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FFFFFF"/>
                </a:solidFill>
                <a:latin typeface="Nunito Sans Ultra-Bold"/>
                <a:ea typeface="Nunito Sans Ultra-Bold"/>
                <a:cs typeface="Nunito Sans Ultra-Bold"/>
                <a:sym typeface="Nunito Sans Ultra-Bold"/>
              </a:rPr>
              <a:t>CarbonTracker: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861647" y="1237753"/>
            <a:ext cx="7015026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FFFFFF"/>
                </a:solidFill>
                <a:latin typeface="Nunito Sans Light"/>
                <a:ea typeface="Nunito Sans Light"/>
                <a:cs typeface="Nunito Sans Light"/>
                <a:sym typeface="Nunito Sans Light"/>
              </a:rPr>
              <a:t>What We Learned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196467" y="2491336"/>
            <a:ext cx="4050334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Pr</a:t>
            </a:r>
            <a:r>
              <a:rPr lang="en-US" sz="24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ediction ≠ a priori 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prediction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152616" y="2421803"/>
            <a:ext cx="9944794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Carbontracker does pr</a:t>
            </a:r>
            <a:r>
              <a:rPr lang="en-US" sz="18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edict — but from observed data, not from architecture specs. It extrapolates after seeing real training. Our framework predicts before any computation. Both are valid but serve different decision points.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152616" y="4223067"/>
            <a:ext cx="9944794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Their own exp</a:t>
            </a:r>
            <a:r>
              <a:rPr lang="en-US" sz="18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eriments showed GPU = 50–60%, CPU+DRAM = 40–50%. RAPL+NVML only see chip-level power. BUTTER-E’s hardware watt-meters capture everything. Our training data advantage is confirmed.        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152616" y="6070837"/>
            <a:ext cx="9944794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Carbontrack</a:t>
            </a:r>
            <a:r>
              <a:rPr lang="en-US" sz="18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er’s real value is carbon-aware monitoring and proactive stopping — not the linear extrapolation. Our value is generalizable prediction from features.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152616" y="7716726"/>
            <a:ext cx="9944794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Wid</a:t>
            </a:r>
            <a:r>
              <a:rPr lang="en-US" sz="18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e range across models/datasets. Linear scaling breaks for complex training dynamics. ML-based prediction from architecture features should produce more stable accuracy because it learns from 63K+ diverse runs, not one model.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196467" y="4292600"/>
            <a:ext cx="4665180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Softwar</a:t>
            </a:r>
            <a:r>
              <a:rPr lang="en-US" sz="24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e sensors miss 40–50% of system power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196467" y="6011899"/>
            <a:ext cx="4665180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The tool and the p</a:t>
            </a:r>
            <a:r>
              <a:rPr lang="en-US" sz="24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rediction are different contributions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196467" y="7786258"/>
            <a:ext cx="4665180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4.9–19.1% er</a:t>
            </a:r>
            <a:r>
              <a:rPr lang="en-US" sz="24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ror range shows the limits of extrapolation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325550" y="525855"/>
            <a:ext cx="450692" cy="450692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71778" y="0"/>
                  </a:moveTo>
                  <a:lnTo>
                    <a:pt x="641022" y="0"/>
                  </a:lnTo>
                  <a:cubicBezTo>
                    <a:pt x="735892" y="0"/>
                    <a:pt x="812800" y="76908"/>
                    <a:pt x="812800" y="171778"/>
                  </a:cubicBezTo>
                  <a:lnTo>
                    <a:pt x="812800" y="641022"/>
                  </a:lnTo>
                  <a:cubicBezTo>
                    <a:pt x="812800" y="735892"/>
                    <a:pt x="735892" y="812800"/>
                    <a:pt x="641022" y="812800"/>
                  </a:cubicBezTo>
                  <a:lnTo>
                    <a:pt x="171778" y="812800"/>
                  </a:lnTo>
                  <a:cubicBezTo>
                    <a:pt x="76908" y="812800"/>
                    <a:pt x="0" y="735892"/>
                    <a:pt x="0" y="641022"/>
                  </a:cubicBezTo>
                  <a:lnTo>
                    <a:pt x="0" y="171778"/>
                  </a:lnTo>
                  <a:cubicBezTo>
                    <a:pt x="0" y="76908"/>
                    <a:pt x="76908" y="0"/>
                    <a:pt x="171778" y="0"/>
                  </a:cubicBezTo>
                  <a:close/>
                </a:path>
              </a:pathLst>
            </a:custGeom>
            <a:blipFill>
              <a:blip r:embed="rId4"/>
              <a:stretch>
                <a:fillRect l="-35556" t="0" r="-31110" b="0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878023" y="534031"/>
            <a:ext cx="786537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University of Ghana | Computer Science Department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44797" y="2700969"/>
            <a:ext cx="12323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gradFill>
                  <a:gsLst>
                    <a:gs pos="0">
                      <a:srgbClr val="1D185B">
                        <a:alpha val="100000"/>
                      </a:srgbClr>
                    </a:gs>
                    <a:gs pos="100000">
                      <a:srgbClr val="310C3B">
                        <a:alpha val="100000"/>
                      </a:srgbClr>
                    </a:gs>
                  </a:gsLst>
                  <a:lin ang="2700000"/>
                </a:gradFill>
                <a:latin typeface="Alexandria Bold"/>
                <a:ea typeface="Alexandria Bold"/>
                <a:cs typeface="Alexandria Bold"/>
                <a:sym typeface="Alexandria Bold"/>
              </a:rPr>
              <a:t>1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514139" y="4476599"/>
            <a:ext cx="184547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gradFill>
                  <a:gsLst>
                    <a:gs pos="0">
                      <a:srgbClr val="1D185B">
                        <a:alpha val="100000"/>
                      </a:srgbClr>
                    </a:gs>
                    <a:gs pos="100000">
                      <a:srgbClr val="310C3B">
                        <a:alpha val="100000"/>
                      </a:srgbClr>
                    </a:gs>
                  </a:gsLst>
                  <a:lin ang="2700000"/>
                </a:gradFill>
                <a:latin typeface="Alexandria Bold"/>
                <a:ea typeface="Alexandria Bold"/>
                <a:cs typeface="Alexandria Bold"/>
                <a:sym typeface="Alexandria Bold"/>
              </a:rPr>
              <a:t>2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514511" y="6239229"/>
            <a:ext cx="18380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gradFill>
                  <a:gsLst>
                    <a:gs pos="0">
                      <a:srgbClr val="1D185B">
                        <a:alpha val="100000"/>
                      </a:srgbClr>
                    </a:gs>
                    <a:gs pos="100000">
                      <a:srgbClr val="310C3B">
                        <a:alpha val="100000"/>
                      </a:srgbClr>
                    </a:gs>
                  </a:gsLst>
                  <a:lin ang="2700000"/>
                </a:gradFill>
                <a:latin typeface="Alexandria Bold"/>
                <a:ea typeface="Alexandria Bold"/>
                <a:cs typeface="Alexandria Bold"/>
                <a:sym typeface="Alexandria Bold"/>
              </a:rPr>
              <a:t>3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513841" y="8014858"/>
            <a:ext cx="18514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gradFill>
                  <a:gsLst>
                    <a:gs pos="0">
                      <a:srgbClr val="1D185B">
                        <a:alpha val="100000"/>
                      </a:srgbClr>
                    </a:gs>
                    <a:gs pos="100000">
                      <a:srgbClr val="310C3B">
                        <a:alpha val="100000"/>
                      </a:srgbClr>
                    </a:gs>
                  </a:gsLst>
                  <a:lin ang="2700000"/>
                </a:gradFill>
                <a:latin typeface="Alexandria Bold"/>
                <a:ea typeface="Alexandria Bold"/>
                <a:cs typeface="Alexandria Bold"/>
                <a:sym typeface="Alexandria Bold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D185B">
                <a:alpha val="100000"/>
              </a:srgbClr>
            </a:gs>
            <a:gs pos="100000">
              <a:srgbClr val="310C3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9386496" y="4229498"/>
            <a:ext cx="7121203" cy="10681805"/>
          </a:xfrm>
          <a:custGeom>
            <a:avLst/>
            <a:gdLst/>
            <a:ahLst/>
            <a:cxnLst/>
            <a:rect r="r" b="b" t="t" l="l"/>
            <a:pathLst>
              <a:path h="10681805" w="7121203">
                <a:moveTo>
                  <a:pt x="0" y="10681805"/>
                </a:moveTo>
                <a:lnTo>
                  <a:pt x="7121203" y="10681805"/>
                </a:lnTo>
                <a:lnTo>
                  <a:pt x="7121203" y="0"/>
                </a:lnTo>
                <a:lnTo>
                  <a:pt x="0" y="0"/>
                </a:lnTo>
                <a:lnTo>
                  <a:pt x="0" y="10681805"/>
                </a:lnTo>
                <a:close/>
              </a:path>
            </a:pathLst>
          </a:custGeom>
          <a:blipFill>
            <a:blip r:embed="rId2">
              <a:alphaModFix amt="10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-2697390" y="-6430709"/>
            <a:ext cx="7121203" cy="10681805"/>
          </a:xfrm>
          <a:custGeom>
            <a:avLst/>
            <a:gdLst/>
            <a:ahLst/>
            <a:cxnLst/>
            <a:rect r="r" b="b" t="t" l="l"/>
            <a:pathLst>
              <a:path h="10681805" w="7121203">
                <a:moveTo>
                  <a:pt x="7121203" y="0"/>
                </a:moveTo>
                <a:lnTo>
                  <a:pt x="0" y="0"/>
                </a:lnTo>
                <a:lnTo>
                  <a:pt x="0" y="10681804"/>
                </a:lnTo>
                <a:lnTo>
                  <a:pt x="7121203" y="10681804"/>
                </a:lnTo>
                <a:lnTo>
                  <a:pt x="7121203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332618" y="-5079170"/>
            <a:ext cx="11161226" cy="11161226"/>
          </a:xfrm>
          <a:custGeom>
            <a:avLst/>
            <a:gdLst/>
            <a:ahLst/>
            <a:cxnLst/>
            <a:rect r="r" b="b" t="t" l="l"/>
            <a:pathLst>
              <a:path h="11161226" w="11161226">
                <a:moveTo>
                  <a:pt x="0" y="0"/>
                </a:moveTo>
                <a:lnTo>
                  <a:pt x="11161226" y="0"/>
                </a:lnTo>
                <a:lnTo>
                  <a:pt x="11161226" y="11161226"/>
                </a:lnTo>
                <a:lnTo>
                  <a:pt x="0" y="111612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56446" y="6598423"/>
            <a:ext cx="11161226" cy="11161226"/>
          </a:xfrm>
          <a:custGeom>
            <a:avLst/>
            <a:gdLst/>
            <a:ahLst/>
            <a:cxnLst/>
            <a:rect r="r" b="b" t="t" l="l"/>
            <a:pathLst>
              <a:path h="11161226" w="11161226">
                <a:moveTo>
                  <a:pt x="0" y="0"/>
                </a:moveTo>
                <a:lnTo>
                  <a:pt x="11161226" y="0"/>
                </a:lnTo>
                <a:lnTo>
                  <a:pt x="11161226" y="11161227"/>
                </a:lnTo>
                <a:lnTo>
                  <a:pt x="0" y="111612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558886" y="2065354"/>
            <a:ext cx="7556512" cy="3834395"/>
            <a:chOff x="0" y="0"/>
            <a:chExt cx="1990193" cy="10098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90193" cy="1009882"/>
            </a:xfrm>
            <a:custGeom>
              <a:avLst/>
              <a:gdLst/>
              <a:ahLst/>
              <a:cxnLst/>
              <a:rect r="r" b="b" t="t" l="l"/>
              <a:pathLst>
                <a:path h="1009882" w="1990193">
                  <a:moveTo>
                    <a:pt x="15368" y="0"/>
                  </a:moveTo>
                  <a:lnTo>
                    <a:pt x="1974825" y="0"/>
                  </a:lnTo>
                  <a:cubicBezTo>
                    <a:pt x="1978901" y="0"/>
                    <a:pt x="1982809" y="1619"/>
                    <a:pt x="1985691" y="4501"/>
                  </a:cubicBezTo>
                  <a:cubicBezTo>
                    <a:pt x="1988574" y="7383"/>
                    <a:pt x="1990193" y="11292"/>
                    <a:pt x="1990193" y="15368"/>
                  </a:cubicBezTo>
                  <a:lnTo>
                    <a:pt x="1990193" y="994514"/>
                  </a:lnTo>
                  <a:cubicBezTo>
                    <a:pt x="1990193" y="998590"/>
                    <a:pt x="1988574" y="1002498"/>
                    <a:pt x="1985691" y="1005380"/>
                  </a:cubicBezTo>
                  <a:cubicBezTo>
                    <a:pt x="1982809" y="1008263"/>
                    <a:pt x="1978901" y="1009882"/>
                    <a:pt x="1974825" y="1009882"/>
                  </a:cubicBezTo>
                  <a:lnTo>
                    <a:pt x="15368" y="1009882"/>
                  </a:lnTo>
                  <a:cubicBezTo>
                    <a:pt x="11292" y="1009882"/>
                    <a:pt x="7383" y="1008263"/>
                    <a:pt x="4501" y="1005380"/>
                  </a:cubicBezTo>
                  <a:cubicBezTo>
                    <a:pt x="1619" y="1002498"/>
                    <a:pt x="0" y="998590"/>
                    <a:pt x="0" y="994514"/>
                  </a:cubicBezTo>
                  <a:lnTo>
                    <a:pt x="0" y="15368"/>
                  </a:lnTo>
                  <a:cubicBezTo>
                    <a:pt x="0" y="11292"/>
                    <a:pt x="1619" y="7383"/>
                    <a:pt x="4501" y="4501"/>
                  </a:cubicBezTo>
                  <a:cubicBezTo>
                    <a:pt x="7383" y="1619"/>
                    <a:pt x="11292" y="0"/>
                    <a:pt x="153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34075">
                    <a:alpha val="100000"/>
                  </a:srgbClr>
                </a:gs>
                <a:gs pos="100000">
                  <a:srgbClr val="66446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90193" cy="1047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558886" y="1434728"/>
            <a:ext cx="441271" cy="438146"/>
          </a:xfrm>
          <a:custGeom>
            <a:avLst/>
            <a:gdLst/>
            <a:ahLst/>
            <a:cxnLst/>
            <a:rect r="r" b="b" t="t" l="l"/>
            <a:pathLst>
              <a:path h="438146" w="441271">
                <a:moveTo>
                  <a:pt x="0" y="0"/>
                </a:moveTo>
                <a:lnTo>
                  <a:pt x="441272" y="0"/>
                </a:lnTo>
                <a:lnTo>
                  <a:pt x="441272" y="438146"/>
                </a:lnTo>
                <a:lnTo>
                  <a:pt x="0" y="4381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25550" y="3518379"/>
            <a:ext cx="441271" cy="438146"/>
          </a:xfrm>
          <a:custGeom>
            <a:avLst/>
            <a:gdLst/>
            <a:ahLst/>
            <a:cxnLst/>
            <a:rect r="r" b="b" t="t" l="l"/>
            <a:pathLst>
              <a:path h="438146" w="441271">
                <a:moveTo>
                  <a:pt x="0" y="0"/>
                </a:moveTo>
                <a:lnTo>
                  <a:pt x="441271" y="0"/>
                </a:lnTo>
                <a:lnTo>
                  <a:pt x="441271" y="438145"/>
                </a:lnTo>
                <a:lnTo>
                  <a:pt x="0" y="4381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325550" y="9423653"/>
            <a:ext cx="15933750" cy="554260"/>
            <a:chOff x="0" y="0"/>
            <a:chExt cx="2468555" cy="858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68555" cy="85869"/>
            </a:xfrm>
            <a:custGeom>
              <a:avLst/>
              <a:gdLst/>
              <a:ahLst/>
              <a:cxnLst/>
              <a:rect r="r" b="b" t="t" l="l"/>
              <a:pathLst>
                <a:path h="85869" w="2468555">
                  <a:moveTo>
                    <a:pt x="11175" y="0"/>
                  </a:moveTo>
                  <a:lnTo>
                    <a:pt x="2457379" y="0"/>
                  </a:lnTo>
                  <a:cubicBezTo>
                    <a:pt x="2463551" y="0"/>
                    <a:pt x="2468555" y="5003"/>
                    <a:pt x="2468555" y="11175"/>
                  </a:cubicBezTo>
                  <a:lnTo>
                    <a:pt x="2468555" y="74694"/>
                  </a:lnTo>
                  <a:cubicBezTo>
                    <a:pt x="2468555" y="80866"/>
                    <a:pt x="2463551" y="85869"/>
                    <a:pt x="2457379" y="85869"/>
                  </a:cubicBezTo>
                  <a:lnTo>
                    <a:pt x="11175" y="85869"/>
                  </a:lnTo>
                  <a:cubicBezTo>
                    <a:pt x="5003" y="85869"/>
                    <a:pt x="0" y="80866"/>
                    <a:pt x="0" y="74694"/>
                  </a:cubicBezTo>
                  <a:lnTo>
                    <a:pt x="0" y="11175"/>
                  </a:lnTo>
                  <a:cubicBezTo>
                    <a:pt x="0" y="5003"/>
                    <a:pt x="5003" y="0"/>
                    <a:pt x="11175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769710" r="0" b="-104560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25550" y="525855"/>
            <a:ext cx="450692" cy="45069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71778" y="0"/>
                  </a:moveTo>
                  <a:lnTo>
                    <a:pt x="641022" y="0"/>
                  </a:lnTo>
                  <a:cubicBezTo>
                    <a:pt x="735892" y="0"/>
                    <a:pt x="812800" y="76908"/>
                    <a:pt x="812800" y="171778"/>
                  </a:cubicBezTo>
                  <a:lnTo>
                    <a:pt x="812800" y="641022"/>
                  </a:lnTo>
                  <a:cubicBezTo>
                    <a:pt x="812800" y="735892"/>
                    <a:pt x="735892" y="812800"/>
                    <a:pt x="641022" y="812800"/>
                  </a:cubicBezTo>
                  <a:lnTo>
                    <a:pt x="171778" y="812800"/>
                  </a:lnTo>
                  <a:cubicBezTo>
                    <a:pt x="76908" y="812800"/>
                    <a:pt x="0" y="735892"/>
                    <a:pt x="0" y="641022"/>
                  </a:cubicBezTo>
                  <a:lnTo>
                    <a:pt x="0" y="171778"/>
                  </a:lnTo>
                  <a:cubicBezTo>
                    <a:pt x="0" y="76908"/>
                    <a:pt x="76908" y="0"/>
                    <a:pt x="171778" y="0"/>
                  </a:cubicBezTo>
                  <a:close/>
                </a:path>
              </a:pathLst>
            </a:custGeom>
            <a:blipFill>
              <a:blip r:embed="rId6"/>
              <a:stretch>
                <a:fillRect l="-35556" t="0" r="-3111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74792" y="4164859"/>
            <a:ext cx="557428" cy="550107"/>
            <a:chOff x="0" y="0"/>
            <a:chExt cx="743237" cy="733476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743237" cy="733476"/>
              <a:chOff x="0" y="0"/>
              <a:chExt cx="174266" cy="17197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74266" cy="171977"/>
              </a:xfrm>
              <a:custGeom>
                <a:avLst/>
                <a:gdLst/>
                <a:ahLst/>
                <a:cxnLst/>
                <a:rect r="r" b="b" t="t" l="l"/>
                <a:pathLst>
                  <a:path h="171977" w="174266">
                    <a:moveTo>
                      <a:pt x="85988" y="0"/>
                    </a:moveTo>
                    <a:lnTo>
                      <a:pt x="88277" y="0"/>
                    </a:lnTo>
                    <a:cubicBezTo>
                      <a:pt x="111083" y="0"/>
                      <a:pt x="132954" y="9059"/>
                      <a:pt x="149080" y="25185"/>
                    </a:cubicBezTo>
                    <a:cubicBezTo>
                      <a:pt x="165206" y="41311"/>
                      <a:pt x="174266" y="63183"/>
                      <a:pt x="174266" y="85988"/>
                    </a:cubicBezTo>
                    <a:lnTo>
                      <a:pt x="174266" y="85988"/>
                    </a:lnTo>
                    <a:cubicBezTo>
                      <a:pt x="174266" y="133479"/>
                      <a:pt x="135767" y="171977"/>
                      <a:pt x="88277" y="171977"/>
                    </a:cubicBezTo>
                    <a:lnTo>
                      <a:pt x="85988" y="171977"/>
                    </a:lnTo>
                    <a:cubicBezTo>
                      <a:pt x="63183" y="171977"/>
                      <a:pt x="41311" y="162917"/>
                      <a:pt x="25185" y="146791"/>
                    </a:cubicBezTo>
                    <a:cubicBezTo>
                      <a:pt x="9059" y="130666"/>
                      <a:pt x="0" y="108794"/>
                      <a:pt x="0" y="85988"/>
                    </a:cubicBezTo>
                    <a:lnTo>
                      <a:pt x="0" y="85988"/>
                    </a:lnTo>
                    <a:cubicBezTo>
                      <a:pt x="0" y="63183"/>
                      <a:pt x="9059" y="41311"/>
                      <a:pt x="25185" y="25185"/>
                    </a:cubicBezTo>
                    <a:cubicBezTo>
                      <a:pt x="41311" y="9059"/>
                      <a:pt x="63183" y="0"/>
                      <a:pt x="85988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34075">
                      <a:alpha val="100000"/>
                    </a:srgbClr>
                  </a:gs>
                  <a:gs pos="100000">
                    <a:srgbClr val="66446E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74266" cy="21007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74374" y="127492"/>
              <a:ext cx="594490" cy="440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0"/>
                </a:lnSpc>
              </a:pPr>
              <a:r>
                <a:rPr lang="en-US" sz="2021">
                  <a:solidFill>
                    <a:srgbClr val="FFFFFF"/>
                  </a:solidFill>
                  <a:latin typeface="Alexandria Light"/>
                  <a:ea typeface="Alexandria Light"/>
                  <a:cs typeface="Alexandria Light"/>
                  <a:sym typeface="Alexandria Light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74792" y="5143500"/>
            <a:ext cx="557428" cy="550107"/>
            <a:chOff x="0" y="0"/>
            <a:chExt cx="743237" cy="733476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743237" cy="733476"/>
              <a:chOff x="0" y="0"/>
              <a:chExt cx="174266" cy="171977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74266" cy="171977"/>
              </a:xfrm>
              <a:custGeom>
                <a:avLst/>
                <a:gdLst/>
                <a:ahLst/>
                <a:cxnLst/>
                <a:rect r="r" b="b" t="t" l="l"/>
                <a:pathLst>
                  <a:path h="171977" w="174266">
                    <a:moveTo>
                      <a:pt x="85988" y="0"/>
                    </a:moveTo>
                    <a:lnTo>
                      <a:pt x="88277" y="0"/>
                    </a:lnTo>
                    <a:cubicBezTo>
                      <a:pt x="111083" y="0"/>
                      <a:pt x="132954" y="9059"/>
                      <a:pt x="149080" y="25185"/>
                    </a:cubicBezTo>
                    <a:cubicBezTo>
                      <a:pt x="165206" y="41311"/>
                      <a:pt x="174266" y="63183"/>
                      <a:pt x="174266" y="85988"/>
                    </a:cubicBezTo>
                    <a:lnTo>
                      <a:pt x="174266" y="85988"/>
                    </a:lnTo>
                    <a:cubicBezTo>
                      <a:pt x="174266" y="133479"/>
                      <a:pt x="135767" y="171977"/>
                      <a:pt x="88277" y="171977"/>
                    </a:cubicBezTo>
                    <a:lnTo>
                      <a:pt x="85988" y="171977"/>
                    </a:lnTo>
                    <a:cubicBezTo>
                      <a:pt x="63183" y="171977"/>
                      <a:pt x="41311" y="162917"/>
                      <a:pt x="25185" y="146791"/>
                    </a:cubicBezTo>
                    <a:cubicBezTo>
                      <a:pt x="9059" y="130666"/>
                      <a:pt x="0" y="108794"/>
                      <a:pt x="0" y="85988"/>
                    </a:cubicBezTo>
                    <a:lnTo>
                      <a:pt x="0" y="85988"/>
                    </a:lnTo>
                    <a:cubicBezTo>
                      <a:pt x="0" y="63183"/>
                      <a:pt x="9059" y="41311"/>
                      <a:pt x="25185" y="25185"/>
                    </a:cubicBezTo>
                    <a:cubicBezTo>
                      <a:pt x="41311" y="9059"/>
                      <a:pt x="63183" y="0"/>
                      <a:pt x="85988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34075">
                      <a:alpha val="100000"/>
                    </a:srgbClr>
                  </a:gs>
                  <a:gs pos="100000">
                    <a:srgbClr val="66446E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174266" cy="21007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74374" y="127492"/>
              <a:ext cx="594490" cy="440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0"/>
                </a:lnSpc>
              </a:pPr>
              <a:r>
                <a:rPr lang="en-US" sz="2021">
                  <a:solidFill>
                    <a:srgbClr val="FFFFFF"/>
                  </a:solidFill>
                  <a:latin typeface="Alexandria Light"/>
                  <a:ea typeface="Alexandria Light"/>
                  <a:cs typeface="Alexandria Light"/>
                  <a:sym typeface="Alexandria Light"/>
                </a:rPr>
                <a:t>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74792" y="6189405"/>
            <a:ext cx="557428" cy="550107"/>
            <a:chOff x="0" y="0"/>
            <a:chExt cx="743237" cy="733476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743237" cy="733476"/>
              <a:chOff x="0" y="0"/>
              <a:chExt cx="174266" cy="171977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74266" cy="171977"/>
              </a:xfrm>
              <a:custGeom>
                <a:avLst/>
                <a:gdLst/>
                <a:ahLst/>
                <a:cxnLst/>
                <a:rect r="r" b="b" t="t" l="l"/>
                <a:pathLst>
                  <a:path h="171977" w="174266">
                    <a:moveTo>
                      <a:pt x="85988" y="0"/>
                    </a:moveTo>
                    <a:lnTo>
                      <a:pt x="88277" y="0"/>
                    </a:lnTo>
                    <a:cubicBezTo>
                      <a:pt x="111083" y="0"/>
                      <a:pt x="132954" y="9059"/>
                      <a:pt x="149080" y="25185"/>
                    </a:cubicBezTo>
                    <a:cubicBezTo>
                      <a:pt x="165206" y="41311"/>
                      <a:pt x="174266" y="63183"/>
                      <a:pt x="174266" y="85988"/>
                    </a:cubicBezTo>
                    <a:lnTo>
                      <a:pt x="174266" y="85988"/>
                    </a:lnTo>
                    <a:cubicBezTo>
                      <a:pt x="174266" y="133479"/>
                      <a:pt x="135767" y="171977"/>
                      <a:pt x="88277" y="171977"/>
                    </a:cubicBezTo>
                    <a:lnTo>
                      <a:pt x="85988" y="171977"/>
                    </a:lnTo>
                    <a:cubicBezTo>
                      <a:pt x="63183" y="171977"/>
                      <a:pt x="41311" y="162917"/>
                      <a:pt x="25185" y="146791"/>
                    </a:cubicBezTo>
                    <a:cubicBezTo>
                      <a:pt x="9059" y="130666"/>
                      <a:pt x="0" y="108794"/>
                      <a:pt x="0" y="85988"/>
                    </a:cubicBezTo>
                    <a:lnTo>
                      <a:pt x="0" y="85988"/>
                    </a:lnTo>
                    <a:cubicBezTo>
                      <a:pt x="0" y="63183"/>
                      <a:pt x="9059" y="41311"/>
                      <a:pt x="25185" y="25185"/>
                    </a:cubicBezTo>
                    <a:cubicBezTo>
                      <a:pt x="41311" y="9059"/>
                      <a:pt x="63183" y="0"/>
                      <a:pt x="85988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34075">
                      <a:alpha val="100000"/>
                    </a:srgbClr>
                  </a:gs>
                  <a:gs pos="100000">
                    <a:srgbClr val="66446E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74266" cy="21007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74374" y="127492"/>
              <a:ext cx="594490" cy="440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0"/>
                </a:lnSpc>
              </a:pPr>
              <a:r>
                <a:rPr lang="en-US" sz="2021">
                  <a:solidFill>
                    <a:srgbClr val="FFFFFF"/>
                  </a:solidFill>
                  <a:latin typeface="Alexandria Light"/>
                  <a:ea typeface="Alexandria Light"/>
                  <a:cs typeface="Alexandria Light"/>
                  <a:sym typeface="Alexandria Light"/>
                </a:rPr>
                <a:t>3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74792" y="7084730"/>
            <a:ext cx="557428" cy="550107"/>
            <a:chOff x="0" y="0"/>
            <a:chExt cx="743237" cy="733476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743237" cy="733476"/>
              <a:chOff x="0" y="0"/>
              <a:chExt cx="174266" cy="17197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74266" cy="171977"/>
              </a:xfrm>
              <a:custGeom>
                <a:avLst/>
                <a:gdLst/>
                <a:ahLst/>
                <a:cxnLst/>
                <a:rect r="r" b="b" t="t" l="l"/>
                <a:pathLst>
                  <a:path h="171977" w="174266">
                    <a:moveTo>
                      <a:pt x="85988" y="0"/>
                    </a:moveTo>
                    <a:lnTo>
                      <a:pt x="88277" y="0"/>
                    </a:lnTo>
                    <a:cubicBezTo>
                      <a:pt x="111083" y="0"/>
                      <a:pt x="132954" y="9059"/>
                      <a:pt x="149080" y="25185"/>
                    </a:cubicBezTo>
                    <a:cubicBezTo>
                      <a:pt x="165206" y="41311"/>
                      <a:pt x="174266" y="63183"/>
                      <a:pt x="174266" y="85988"/>
                    </a:cubicBezTo>
                    <a:lnTo>
                      <a:pt x="174266" y="85988"/>
                    </a:lnTo>
                    <a:cubicBezTo>
                      <a:pt x="174266" y="133479"/>
                      <a:pt x="135767" y="171977"/>
                      <a:pt x="88277" y="171977"/>
                    </a:cubicBezTo>
                    <a:lnTo>
                      <a:pt x="85988" y="171977"/>
                    </a:lnTo>
                    <a:cubicBezTo>
                      <a:pt x="63183" y="171977"/>
                      <a:pt x="41311" y="162917"/>
                      <a:pt x="25185" y="146791"/>
                    </a:cubicBezTo>
                    <a:cubicBezTo>
                      <a:pt x="9059" y="130666"/>
                      <a:pt x="0" y="108794"/>
                      <a:pt x="0" y="85988"/>
                    </a:cubicBezTo>
                    <a:lnTo>
                      <a:pt x="0" y="85988"/>
                    </a:lnTo>
                    <a:cubicBezTo>
                      <a:pt x="0" y="63183"/>
                      <a:pt x="9059" y="41311"/>
                      <a:pt x="25185" y="25185"/>
                    </a:cubicBezTo>
                    <a:cubicBezTo>
                      <a:pt x="41311" y="9059"/>
                      <a:pt x="63183" y="0"/>
                      <a:pt x="85988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34075">
                      <a:alpha val="100000"/>
                    </a:srgbClr>
                  </a:gs>
                  <a:gs pos="100000">
                    <a:srgbClr val="66446E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74266" cy="21007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74374" y="127492"/>
              <a:ext cx="594490" cy="440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0"/>
                </a:lnSpc>
              </a:pPr>
              <a:r>
                <a:rPr lang="en-US" sz="2021">
                  <a:solidFill>
                    <a:srgbClr val="FFFFFF"/>
                  </a:solidFill>
                  <a:latin typeface="Alexandria Light"/>
                  <a:ea typeface="Alexandria Light"/>
                  <a:cs typeface="Alexandria Light"/>
                  <a:sym typeface="Alexandria Light"/>
                </a:rPr>
                <a:t>4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56467" y="7850191"/>
            <a:ext cx="557428" cy="550107"/>
            <a:chOff x="0" y="0"/>
            <a:chExt cx="743237" cy="733476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743237" cy="733476"/>
              <a:chOff x="0" y="0"/>
              <a:chExt cx="174266" cy="171977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74266" cy="171977"/>
              </a:xfrm>
              <a:custGeom>
                <a:avLst/>
                <a:gdLst/>
                <a:ahLst/>
                <a:cxnLst/>
                <a:rect r="r" b="b" t="t" l="l"/>
                <a:pathLst>
                  <a:path h="171977" w="174266">
                    <a:moveTo>
                      <a:pt x="85988" y="0"/>
                    </a:moveTo>
                    <a:lnTo>
                      <a:pt x="88277" y="0"/>
                    </a:lnTo>
                    <a:cubicBezTo>
                      <a:pt x="111083" y="0"/>
                      <a:pt x="132954" y="9059"/>
                      <a:pt x="149080" y="25185"/>
                    </a:cubicBezTo>
                    <a:cubicBezTo>
                      <a:pt x="165206" y="41311"/>
                      <a:pt x="174266" y="63183"/>
                      <a:pt x="174266" y="85988"/>
                    </a:cubicBezTo>
                    <a:lnTo>
                      <a:pt x="174266" y="85988"/>
                    </a:lnTo>
                    <a:cubicBezTo>
                      <a:pt x="174266" y="133479"/>
                      <a:pt x="135767" y="171977"/>
                      <a:pt x="88277" y="171977"/>
                    </a:cubicBezTo>
                    <a:lnTo>
                      <a:pt x="85988" y="171977"/>
                    </a:lnTo>
                    <a:cubicBezTo>
                      <a:pt x="63183" y="171977"/>
                      <a:pt x="41311" y="162917"/>
                      <a:pt x="25185" y="146791"/>
                    </a:cubicBezTo>
                    <a:cubicBezTo>
                      <a:pt x="9059" y="130666"/>
                      <a:pt x="0" y="108794"/>
                      <a:pt x="0" y="85988"/>
                    </a:cubicBezTo>
                    <a:lnTo>
                      <a:pt x="0" y="85988"/>
                    </a:lnTo>
                    <a:cubicBezTo>
                      <a:pt x="0" y="63183"/>
                      <a:pt x="9059" y="41311"/>
                      <a:pt x="25185" y="25185"/>
                    </a:cubicBezTo>
                    <a:cubicBezTo>
                      <a:pt x="41311" y="9059"/>
                      <a:pt x="63183" y="0"/>
                      <a:pt x="85988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34075">
                      <a:alpha val="100000"/>
                    </a:srgbClr>
                  </a:gs>
                  <a:gs pos="100000">
                    <a:srgbClr val="66446E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174266" cy="21007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74374" y="127492"/>
              <a:ext cx="594490" cy="440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0"/>
                </a:lnSpc>
              </a:pPr>
              <a:r>
                <a:rPr lang="en-US" sz="2021">
                  <a:solidFill>
                    <a:srgbClr val="FFFFFF"/>
                  </a:solidFill>
                  <a:latin typeface="Alexandria Light"/>
                  <a:ea typeface="Alexandria Light"/>
                  <a:cs typeface="Alexandria Light"/>
                  <a:sym typeface="Alexandria Light"/>
                </a:rPr>
                <a:t>5</a:t>
              </a:r>
            </a:p>
          </p:txBody>
        </p:sp>
      </p:grpSp>
      <p:graphicFrame>
        <p:nvGraphicFramePr>
          <p:cNvPr name="Table 40" id="40"/>
          <p:cNvGraphicFramePr>
            <a:graphicFrameLocks noGrp="true"/>
          </p:cNvGraphicFramePr>
          <p:nvPr/>
        </p:nvGraphicFramePr>
        <p:xfrm>
          <a:off x="9892710" y="2470794"/>
          <a:ext cx="6981376" cy="2925121"/>
        </p:xfrm>
        <a:graphic>
          <a:graphicData uri="http://schemas.openxmlformats.org/drawingml/2006/table">
            <a:tbl>
              <a:tblPr/>
              <a:tblGrid>
                <a:gridCol w="4043816"/>
                <a:gridCol w="2937559"/>
              </a:tblGrid>
              <a:tr h="80196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Metric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Result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</a:tr>
              <a:tr h="4246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Acucracy prediction error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8.77%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46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>
                          <a:solidFill>
                            <a:srgbClr val="FF5757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Energy prediction error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>
                          <a:solidFill>
                            <a:srgbClr val="FF5757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14.3%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46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Trade-off score error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8.95%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46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>
                          <a:solidFill>
                            <a:srgbClr val="00BF63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Energy saved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>
                          <a:solidFill>
                            <a:srgbClr val="00BF63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56.5%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46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>
                          <a:solidFill>
                            <a:srgbClr val="00BF63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Accuracy change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>
                          <a:solidFill>
                            <a:srgbClr val="00BF63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+2.38%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1" id="41"/>
          <p:cNvSpPr txBox="true"/>
          <p:nvPr/>
        </p:nvSpPr>
        <p:spPr>
          <a:xfrm rot="0">
            <a:off x="1374792" y="1380616"/>
            <a:ext cx="6676982" cy="819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3"/>
              </a:lnSpc>
            </a:pPr>
            <a:r>
              <a:rPr lang="en-US" sz="4845" b="true">
                <a:solidFill>
                  <a:srgbClr val="FFFFFF"/>
                </a:solidFill>
                <a:latin typeface="Nunito Sans Ultra-Bold"/>
                <a:ea typeface="Nunito Sans Ultra-Bold"/>
                <a:cs typeface="Nunito Sans Ultra-Bold"/>
                <a:sym typeface="Nunito Sans Ultra-Bold"/>
              </a:rPr>
              <a:t>Reguero et al. (2024)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74792" y="2114688"/>
            <a:ext cx="6177998" cy="819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3"/>
              </a:lnSpc>
            </a:pPr>
            <a:r>
              <a:rPr lang="en-US" sz="4845">
                <a:solidFill>
                  <a:srgbClr val="FFFFFF"/>
                </a:solidFill>
                <a:latin typeface="Nunito Sans Light"/>
                <a:ea typeface="Nunito Sans Light"/>
                <a:cs typeface="Nunito Sans Light"/>
                <a:sym typeface="Nunito Sans Light"/>
              </a:rPr>
              <a:t>How It works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147231" y="1356304"/>
            <a:ext cx="6968168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Key Results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115574" y="4187349"/>
            <a:ext cx="6809611" cy="459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Train VGG16 on 12 computer vision datasets (CIFAR-10, Food101, Caltech101, etc.).</a:t>
            </a:r>
          </a:p>
          <a:p>
            <a:pPr algn="l">
              <a:lnSpc>
                <a:spcPts val="2300"/>
              </a:lnSpc>
            </a:pPr>
          </a:p>
          <a:p>
            <a:pPr algn="l">
              <a:lnSpc>
                <a:spcPts val="2300"/>
              </a:lnSpc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Ev</a:t>
            </a: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ery 10th epoch: clone model, explore 3 branches — continue, freeze layers, or quantize to 16-bit.</a:t>
            </a:r>
          </a:p>
          <a:p>
            <a:pPr algn="l">
              <a:lnSpc>
                <a:spcPts val="2300"/>
              </a:lnSpc>
            </a:pPr>
          </a:p>
          <a:p>
            <a:pPr algn="l">
              <a:lnSpc>
                <a:spcPts val="2300"/>
              </a:lnSpc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Measure energy per second (nvidia-smi) and log accuracy per epoch.</a:t>
            </a:r>
          </a:p>
          <a:p>
            <a:pPr algn="l">
              <a:lnSpc>
                <a:spcPts val="2300"/>
              </a:lnSpc>
            </a:pPr>
          </a:p>
          <a:p>
            <a:pPr algn="l">
              <a:lnSpc>
                <a:spcPts val="2300"/>
              </a:lnSpc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Build auto-regressive fixed effects model: 4 lagged accuracies + 1 lagged training mode.</a:t>
            </a:r>
          </a:p>
          <a:p>
            <a:pPr algn="l">
              <a:lnSpc>
                <a:spcPts val="2300"/>
              </a:lnSpc>
            </a:pPr>
          </a:p>
          <a:p>
            <a:pPr algn="l">
              <a:lnSpc>
                <a:spcPts val="2300"/>
              </a:lnSpc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At each decision point: predict 10 epochs ahead, fit score curve, choose optimal branch.</a:t>
            </a:r>
          </a:p>
          <a:p>
            <a:pPr algn="l">
              <a:lnSpc>
                <a:spcPts val="2300"/>
              </a:lnSpc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1913895" y="3439954"/>
            <a:ext cx="797881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The Approach: Runtime Optimization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878023" y="534031"/>
            <a:ext cx="786537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University of Ghana | Computer Science Department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607201" y="6208013"/>
            <a:ext cx="7872523" cy="321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Empirical Findings</a:t>
            </a:r>
          </a:p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Layer freezing:</a:t>
            </a:r>
            <a:r>
              <a:rPr lang="en-US" sz="2300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 </a:t>
            </a: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Improves accuracy anytime. Saves energy if applied by epoch 27.</a:t>
            </a:r>
          </a:p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Early stopping:</a:t>
            </a: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 After epoch 17, saves energy with no accuracy loss.</a:t>
            </a:r>
          </a:p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Quantization:</a:t>
            </a: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 No significant effect on energy or accuracy.</a:t>
            </a:r>
          </a:p>
          <a:p>
            <a:pPr algn="l">
              <a:lnSpc>
                <a:spcPts val="322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D185B">
                <a:alpha val="100000"/>
              </a:srgbClr>
            </a:gs>
            <a:gs pos="100000">
              <a:srgbClr val="310C3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12645934" y="3277533"/>
            <a:ext cx="7121203" cy="10681805"/>
          </a:xfrm>
          <a:custGeom>
            <a:avLst/>
            <a:gdLst/>
            <a:ahLst/>
            <a:cxnLst/>
            <a:rect r="r" b="b" t="t" l="l"/>
            <a:pathLst>
              <a:path h="10681805" w="7121203">
                <a:moveTo>
                  <a:pt x="0" y="10681804"/>
                </a:moveTo>
                <a:lnTo>
                  <a:pt x="7121203" y="10681804"/>
                </a:lnTo>
                <a:lnTo>
                  <a:pt x="7121203" y="0"/>
                </a:lnTo>
                <a:lnTo>
                  <a:pt x="0" y="0"/>
                </a:lnTo>
                <a:lnTo>
                  <a:pt x="0" y="10681804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-2697390" y="-6430709"/>
            <a:ext cx="7121203" cy="10681805"/>
          </a:xfrm>
          <a:custGeom>
            <a:avLst/>
            <a:gdLst/>
            <a:ahLst/>
            <a:cxnLst/>
            <a:rect r="r" b="b" t="t" l="l"/>
            <a:pathLst>
              <a:path h="10681805" w="7121203">
                <a:moveTo>
                  <a:pt x="7121203" y="0"/>
                </a:moveTo>
                <a:lnTo>
                  <a:pt x="0" y="0"/>
                </a:lnTo>
                <a:lnTo>
                  <a:pt x="0" y="10681804"/>
                </a:lnTo>
                <a:lnTo>
                  <a:pt x="7121203" y="10681804"/>
                </a:lnTo>
                <a:lnTo>
                  <a:pt x="7121203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332618" y="-5079170"/>
            <a:ext cx="11161226" cy="11161226"/>
          </a:xfrm>
          <a:custGeom>
            <a:avLst/>
            <a:gdLst/>
            <a:ahLst/>
            <a:cxnLst/>
            <a:rect r="r" b="b" t="t" l="l"/>
            <a:pathLst>
              <a:path h="11161226" w="11161226">
                <a:moveTo>
                  <a:pt x="0" y="0"/>
                </a:moveTo>
                <a:lnTo>
                  <a:pt x="11161226" y="0"/>
                </a:lnTo>
                <a:lnTo>
                  <a:pt x="11161226" y="11161226"/>
                </a:lnTo>
                <a:lnTo>
                  <a:pt x="0" y="111612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56446" y="6598423"/>
            <a:ext cx="11161226" cy="11161226"/>
          </a:xfrm>
          <a:custGeom>
            <a:avLst/>
            <a:gdLst/>
            <a:ahLst/>
            <a:cxnLst/>
            <a:rect r="r" b="b" t="t" l="l"/>
            <a:pathLst>
              <a:path h="11161226" w="11161226">
                <a:moveTo>
                  <a:pt x="0" y="0"/>
                </a:moveTo>
                <a:lnTo>
                  <a:pt x="11161226" y="0"/>
                </a:lnTo>
                <a:lnTo>
                  <a:pt x="11161226" y="11161227"/>
                </a:lnTo>
                <a:lnTo>
                  <a:pt x="0" y="111612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25550" y="2470794"/>
            <a:ext cx="15933750" cy="6965349"/>
            <a:chOff x="0" y="0"/>
            <a:chExt cx="4196543" cy="18344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96543" cy="1834495"/>
            </a:xfrm>
            <a:custGeom>
              <a:avLst/>
              <a:gdLst/>
              <a:ahLst/>
              <a:cxnLst/>
              <a:rect r="r" b="b" t="t" l="l"/>
              <a:pathLst>
                <a:path h="1834495" w="4196543">
                  <a:moveTo>
                    <a:pt x="7288" y="0"/>
                  </a:moveTo>
                  <a:lnTo>
                    <a:pt x="4189255" y="0"/>
                  </a:lnTo>
                  <a:cubicBezTo>
                    <a:pt x="4193280" y="0"/>
                    <a:pt x="4196543" y="3263"/>
                    <a:pt x="4196543" y="7288"/>
                  </a:cubicBezTo>
                  <a:lnTo>
                    <a:pt x="4196543" y="1827207"/>
                  </a:lnTo>
                  <a:cubicBezTo>
                    <a:pt x="4196543" y="1831232"/>
                    <a:pt x="4193280" y="1834495"/>
                    <a:pt x="4189255" y="1834495"/>
                  </a:cubicBezTo>
                  <a:lnTo>
                    <a:pt x="7288" y="1834495"/>
                  </a:lnTo>
                  <a:cubicBezTo>
                    <a:pt x="3263" y="1834495"/>
                    <a:pt x="0" y="1831232"/>
                    <a:pt x="0" y="1827207"/>
                  </a:cubicBezTo>
                  <a:lnTo>
                    <a:pt x="0" y="7288"/>
                  </a:lnTo>
                  <a:cubicBezTo>
                    <a:pt x="0" y="3263"/>
                    <a:pt x="3263" y="0"/>
                    <a:pt x="728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34075">
                    <a:alpha val="100000"/>
                  </a:srgbClr>
                </a:gs>
                <a:gs pos="100000">
                  <a:srgbClr val="66446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196543" cy="1872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729783" y="2863078"/>
            <a:ext cx="441271" cy="438146"/>
          </a:xfrm>
          <a:custGeom>
            <a:avLst/>
            <a:gdLst/>
            <a:ahLst/>
            <a:cxnLst/>
            <a:rect r="r" b="b" t="t" l="l"/>
            <a:pathLst>
              <a:path h="438146" w="441271">
                <a:moveTo>
                  <a:pt x="0" y="0"/>
                </a:moveTo>
                <a:lnTo>
                  <a:pt x="441271" y="0"/>
                </a:lnTo>
                <a:lnTo>
                  <a:pt x="441271" y="438146"/>
                </a:lnTo>
                <a:lnTo>
                  <a:pt x="0" y="4381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330189" y="2863078"/>
            <a:ext cx="441271" cy="438146"/>
          </a:xfrm>
          <a:custGeom>
            <a:avLst/>
            <a:gdLst/>
            <a:ahLst/>
            <a:cxnLst/>
            <a:rect r="r" b="b" t="t" l="l"/>
            <a:pathLst>
              <a:path h="438146" w="441271">
                <a:moveTo>
                  <a:pt x="0" y="0"/>
                </a:moveTo>
                <a:lnTo>
                  <a:pt x="441272" y="0"/>
                </a:lnTo>
                <a:lnTo>
                  <a:pt x="441272" y="438146"/>
                </a:lnTo>
                <a:lnTo>
                  <a:pt x="0" y="4381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14854" y="8730315"/>
            <a:ext cx="1031331" cy="1055971"/>
          </a:xfrm>
          <a:custGeom>
            <a:avLst/>
            <a:gdLst/>
            <a:ahLst/>
            <a:cxnLst/>
            <a:rect r="r" b="b" t="t" l="l"/>
            <a:pathLst>
              <a:path h="1055971" w="1031331">
                <a:moveTo>
                  <a:pt x="0" y="0"/>
                </a:moveTo>
                <a:lnTo>
                  <a:pt x="1031332" y="0"/>
                </a:lnTo>
                <a:lnTo>
                  <a:pt x="1031332" y="1055970"/>
                </a:lnTo>
                <a:lnTo>
                  <a:pt x="0" y="10559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628867" y="2200413"/>
            <a:ext cx="1260866" cy="1282780"/>
          </a:xfrm>
          <a:custGeom>
            <a:avLst/>
            <a:gdLst/>
            <a:ahLst/>
            <a:cxnLst/>
            <a:rect r="r" b="b" t="t" l="l"/>
            <a:pathLst>
              <a:path h="1282780" w="1260866">
                <a:moveTo>
                  <a:pt x="0" y="0"/>
                </a:moveTo>
                <a:lnTo>
                  <a:pt x="1260866" y="0"/>
                </a:lnTo>
                <a:lnTo>
                  <a:pt x="1260866" y="1282780"/>
                </a:lnTo>
                <a:lnTo>
                  <a:pt x="0" y="12827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25550" y="1237753"/>
            <a:ext cx="5306728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FFFFFF"/>
                </a:solidFill>
                <a:latin typeface="Nunito Sans Ultra-Bold"/>
                <a:ea typeface="Nunito Sans Ultra-Bold"/>
                <a:cs typeface="Nunito Sans Ultra-Bold"/>
                <a:sym typeface="Nunito Sans Ultra-Bold"/>
              </a:rPr>
              <a:t>Regureo et al.: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23944" y="1237753"/>
            <a:ext cx="9482592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FFFFFF"/>
                </a:solidFill>
                <a:latin typeface="Nunito Sans Light"/>
                <a:ea typeface="Nunito Sans Light"/>
                <a:cs typeface="Nunito Sans Light"/>
                <a:sym typeface="Nunito Sans Light"/>
              </a:rPr>
              <a:t>Strengths &amp; L</a:t>
            </a:r>
            <a:r>
              <a:rPr lang="en-US" sz="5600">
                <a:solidFill>
                  <a:srgbClr val="FFFFFF"/>
                </a:solidFill>
                <a:latin typeface="Nunito Sans Light"/>
                <a:ea typeface="Nunito Sans Light"/>
                <a:cs typeface="Nunito Sans Light"/>
                <a:sym typeface="Nunito Sans Light"/>
              </a:rPr>
              <a:t>imitations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66594" y="3253599"/>
            <a:ext cx="6822745" cy="558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Timing Matters: First to study when interventions help, not just what. Epoch 27 threshold is actionable.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Rigorous Statistics: Kruskal-Wallis, Wilcoxon, Kendall, Hausman, fixed effects. 12-fold CV. Proper methodology.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Dual Prediction: Predicts accuracy AND energy simultaneously. Score = accuracy/energy is practical.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Win-Win Finding: Layer freezing improves accuracy AND saves energy. Not a compromise — genuine improvement.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R</a:t>
            </a: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eproducible: EAT-IT dataset + code on Zenodo. Study cost only 3.24 kWh.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67001" y="3253599"/>
            <a:ext cx="6974288" cy="6390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Requires Training: Needs 4 epochs of data before predicting. Can’t help with pre-training selection.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Single Architecture: Only VGG16. No ResNet, Transformers, MLPs. Authors acknowledge generalizability threat.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14.3% Energy Error: Even with live second-by-second data. Benchmark our a priori model aims to match.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Software Sensors: nvidia-smi for GPU only. Misses the 40–50% that Carbontracker’s own experiments revealed.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No Cross-Architecture: Trained and tested on VGG16. Predictions are model-specific, not generalizable.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2318128" y="2784653"/>
            <a:ext cx="518346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Where </a:t>
            </a:r>
            <a:r>
              <a:rPr lang="en-US" sz="3000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It Shines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18534" y="2784653"/>
            <a:ext cx="536868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Wher</a:t>
            </a:r>
            <a:r>
              <a:rPr lang="en-US" sz="3000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e It Falls Short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25550" y="525855"/>
            <a:ext cx="450692" cy="45069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71778" y="0"/>
                  </a:moveTo>
                  <a:lnTo>
                    <a:pt x="641022" y="0"/>
                  </a:lnTo>
                  <a:cubicBezTo>
                    <a:pt x="735892" y="0"/>
                    <a:pt x="812800" y="76908"/>
                    <a:pt x="812800" y="171778"/>
                  </a:cubicBezTo>
                  <a:lnTo>
                    <a:pt x="812800" y="641022"/>
                  </a:lnTo>
                  <a:cubicBezTo>
                    <a:pt x="812800" y="735892"/>
                    <a:pt x="735892" y="812800"/>
                    <a:pt x="641022" y="812800"/>
                  </a:cubicBezTo>
                  <a:lnTo>
                    <a:pt x="171778" y="812800"/>
                  </a:lnTo>
                  <a:cubicBezTo>
                    <a:pt x="76908" y="812800"/>
                    <a:pt x="0" y="735892"/>
                    <a:pt x="0" y="641022"/>
                  </a:cubicBezTo>
                  <a:lnTo>
                    <a:pt x="0" y="171778"/>
                  </a:lnTo>
                  <a:cubicBezTo>
                    <a:pt x="0" y="76908"/>
                    <a:pt x="76908" y="0"/>
                    <a:pt x="171778" y="0"/>
                  </a:cubicBezTo>
                  <a:close/>
                </a:path>
              </a:pathLst>
            </a:custGeom>
            <a:blipFill>
              <a:blip r:embed="rId7"/>
              <a:stretch>
                <a:fillRect l="-35556" t="0" r="-3111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878023" y="534031"/>
            <a:ext cx="786537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University of Ghana | Computer Science Department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D185B">
                <a:alpha val="100000"/>
              </a:srgbClr>
            </a:gs>
            <a:gs pos="100000">
              <a:srgbClr val="310C3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5400000">
            <a:off x="9994714" y="7101603"/>
            <a:ext cx="7121203" cy="10681805"/>
          </a:xfrm>
          <a:custGeom>
            <a:avLst/>
            <a:gdLst/>
            <a:ahLst/>
            <a:cxnLst/>
            <a:rect r="r" b="b" t="t" l="l"/>
            <a:pathLst>
              <a:path h="10681805" w="7121203">
                <a:moveTo>
                  <a:pt x="7121203" y="10681805"/>
                </a:moveTo>
                <a:lnTo>
                  <a:pt x="0" y="10681805"/>
                </a:lnTo>
                <a:lnTo>
                  <a:pt x="0" y="0"/>
                </a:lnTo>
                <a:lnTo>
                  <a:pt x="7121203" y="0"/>
                </a:lnTo>
                <a:lnTo>
                  <a:pt x="7121203" y="10681805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5400000">
            <a:off x="2686200" y="-7578025"/>
            <a:ext cx="7121203" cy="10681805"/>
          </a:xfrm>
          <a:custGeom>
            <a:avLst/>
            <a:gdLst/>
            <a:ahLst/>
            <a:cxnLst/>
            <a:rect r="r" b="b" t="t" l="l"/>
            <a:pathLst>
              <a:path h="10681805" w="7121203">
                <a:moveTo>
                  <a:pt x="7121203" y="10681804"/>
                </a:moveTo>
                <a:lnTo>
                  <a:pt x="0" y="10681804"/>
                </a:lnTo>
                <a:lnTo>
                  <a:pt x="0" y="0"/>
                </a:lnTo>
                <a:lnTo>
                  <a:pt x="7121203" y="0"/>
                </a:lnTo>
                <a:lnTo>
                  <a:pt x="7121203" y="10681804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400000">
            <a:off x="-5383420" y="5673355"/>
            <a:ext cx="7121203" cy="10681805"/>
          </a:xfrm>
          <a:custGeom>
            <a:avLst/>
            <a:gdLst/>
            <a:ahLst/>
            <a:cxnLst/>
            <a:rect r="r" b="b" t="t" l="l"/>
            <a:pathLst>
              <a:path h="10681805" w="7121203">
                <a:moveTo>
                  <a:pt x="7121203" y="0"/>
                </a:moveTo>
                <a:lnTo>
                  <a:pt x="0" y="0"/>
                </a:lnTo>
                <a:lnTo>
                  <a:pt x="0" y="10681805"/>
                </a:lnTo>
                <a:lnTo>
                  <a:pt x="7121203" y="10681805"/>
                </a:lnTo>
                <a:lnTo>
                  <a:pt x="7121203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5400000">
            <a:off x="-2697390" y="-6430709"/>
            <a:ext cx="7121203" cy="10681805"/>
          </a:xfrm>
          <a:custGeom>
            <a:avLst/>
            <a:gdLst/>
            <a:ahLst/>
            <a:cxnLst/>
            <a:rect r="r" b="b" t="t" l="l"/>
            <a:pathLst>
              <a:path h="10681805" w="7121203">
                <a:moveTo>
                  <a:pt x="7121203" y="0"/>
                </a:moveTo>
                <a:lnTo>
                  <a:pt x="0" y="0"/>
                </a:lnTo>
                <a:lnTo>
                  <a:pt x="0" y="10681804"/>
                </a:lnTo>
                <a:lnTo>
                  <a:pt x="7121203" y="10681804"/>
                </a:lnTo>
                <a:lnTo>
                  <a:pt x="7121203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332618" y="-5079170"/>
            <a:ext cx="11161226" cy="11161226"/>
          </a:xfrm>
          <a:custGeom>
            <a:avLst/>
            <a:gdLst/>
            <a:ahLst/>
            <a:cxnLst/>
            <a:rect r="r" b="b" t="t" l="l"/>
            <a:pathLst>
              <a:path h="11161226" w="11161226">
                <a:moveTo>
                  <a:pt x="0" y="0"/>
                </a:moveTo>
                <a:lnTo>
                  <a:pt x="11161226" y="0"/>
                </a:lnTo>
                <a:lnTo>
                  <a:pt x="11161226" y="11161226"/>
                </a:lnTo>
                <a:lnTo>
                  <a:pt x="0" y="111612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256446" y="6598423"/>
            <a:ext cx="11161226" cy="11161226"/>
          </a:xfrm>
          <a:custGeom>
            <a:avLst/>
            <a:gdLst/>
            <a:ahLst/>
            <a:cxnLst/>
            <a:rect r="r" b="b" t="t" l="l"/>
            <a:pathLst>
              <a:path h="11161226" w="11161226">
                <a:moveTo>
                  <a:pt x="0" y="0"/>
                </a:moveTo>
                <a:lnTo>
                  <a:pt x="11161226" y="0"/>
                </a:lnTo>
                <a:lnTo>
                  <a:pt x="11161226" y="11161227"/>
                </a:lnTo>
                <a:lnTo>
                  <a:pt x="0" y="111612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97811" y="2264554"/>
            <a:ext cx="16357750" cy="1307169"/>
            <a:chOff x="0" y="0"/>
            <a:chExt cx="4308214" cy="3442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08214" cy="344275"/>
            </a:xfrm>
            <a:custGeom>
              <a:avLst/>
              <a:gdLst/>
              <a:ahLst/>
              <a:cxnLst/>
              <a:rect r="r" b="b" t="t" l="l"/>
              <a:pathLst>
                <a:path h="344275" w="4308214">
                  <a:moveTo>
                    <a:pt x="27924" y="0"/>
                  </a:moveTo>
                  <a:lnTo>
                    <a:pt x="4280290" y="0"/>
                  </a:lnTo>
                  <a:cubicBezTo>
                    <a:pt x="4295712" y="0"/>
                    <a:pt x="4308214" y="12502"/>
                    <a:pt x="4308214" y="27924"/>
                  </a:cubicBezTo>
                  <a:lnTo>
                    <a:pt x="4308214" y="316351"/>
                  </a:lnTo>
                  <a:cubicBezTo>
                    <a:pt x="4308214" y="331773"/>
                    <a:pt x="4295712" y="344275"/>
                    <a:pt x="4280290" y="344275"/>
                  </a:cubicBezTo>
                  <a:lnTo>
                    <a:pt x="27924" y="344275"/>
                  </a:lnTo>
                  <a:cubicBezTo>
                    <a:pt x="12502" y="344275"/>
                    <a:pt x="0" y="331773"/>
                    <a:pt x="0" y="316351"/>
                  </a:cubicBezTo>
                  <a:lnTo>
                    <a:pt x="0" y="27924"/>
                  </a:lnTo>
                  <a:cubicBezTo>
                    <a:pt x="0" y="12502"/>
                    <a:pt x="12502" y="0"/>
                    <a:pt x="2792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AD4FF">
                    <a:alpha val="25000"/>
                  </a:srgbClr>
                </a:gs>
                <a:gs pos="100000">
                  <a:srgbClr val="F103EA">
                    <a:alpha val="25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308214" cy="382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7811" y="4030893"/>
            <a:ext cx="16357750" cy="1307169"/>
            <a:chOff x="0" y="0"/>
            <a:chExt cx="4308214" cy="3442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308214" cy="344275"/>
            </a:xfrm>
            <a:custGeom>
              <a:avLst/>
              <a:gdLst/>
              <a:ahLst/>
              <a:cxnLst/>
              <a:rect r="r" b="b" t="t" l="l"/>
              <a:pathLst>
                <a:path h="344275" w="4308214">
                  <a:moveTo>
                    <a:pt x="27924" y="0"/>
                  </a:moveTo>
                  <a:lnTo>
                    <a:pt x="4280290" y="0"/>
                  </a:lnTo>
                  <a:cubicBezTo>
                    <a:pt x="4295712" y="0"/>
                    <a:pt x="4308214" y="12502"/>
                    <a:pt x="4308214" y="27924"/>
                  </a:cubicBezTo>
                  <a:lnTo>
                    <a:pt x="4308214" y="316351"/>
                  </a:lnTo>
                  <a:cubicBezTo>
                    <a:pt x="4308214" y="331773"/>
                    <a:pt x="4295712" y="344275"/>
                    <a:pt x="4280290" y="344275"/>
                  </a:cubicBezTo>
                  <a:lnTo>
                    <a:pt x="27924" y="344275"/>
                  </a:lnTo>
                  <a:cubicBezTo>
                    <a:pt x="12502" y="344275"/>
                    <a:pt x="0" y="331773"/>
                    <a:pt x="0" y="316351"/>
                  </a:cubicBezTo>
                  <a:lnTo>
                    <a:pt x="0" y="27924"/>
                  </a:lnTo>
                  <a:cubicBezTo>
                    <a:pt x="0" y="12502"/>
                    <a:pt x="12502" y="0"/>
                    <a:pt x="2792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AD4FF">
                    <a:alpha val="25000"/>
                  </a:srgbClr>
                </a:gs>
                <a:gs pos="100000">
                  <a:srgbClr val="F103EA">
                    <a:alpha val="25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308214" cy="382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97811" y="5802814"/>
            <a:ext cx="16357750" cy="1307169"/>
            <a:chOff x="0" y="0"/>
            <a:chExt cx="4308214" cy="3442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08214" cy="344275"/>
            </a:xfrm>
            <a:custGeom>
              <a:avLst/>
              <a:gdLst/>
              <a:ahLst/>
              <a:cxnLst/>
              <a:rect r="r" b="b" t="t" l="l"/>
              <a:pathLst>
                <a:path h="344275" w="4308214">
                  <a:moveTo>
                    <a:pt x="27924" y="0"/>
                  </a:moveTo>
                  <a:lnTo>
                    <a:pt x="4280290" y="0"/>
                  </a:lnTo>
                  <a:cubicBezTo>
                    <a:pt x="4295712" y="0"/>
                    <a:pt x="4308214" y="12502"/>
                    <a:pt x="4308214" y="27924"/>
                  </a:cubicBezTo>
                  <a:lnTo>
                    <a:pt x="4308214" y="316351"/>
                  </a:lnTo>
                  <a:cubicBezTo>
                    <a:pt x="4308214" y="331773"/>
                    <a:pt x="4295712" y="344275"/>
                    <a:pt x="4280290" y="344275"/>
                  </a:cubicBezTo>
                  <a:lnTo>
                    <a:pt x="27924" y="344275"/>
                  </a:lnTo>
                  <a:cubicBezTo>
                    <a:pt x="12502" y="344275"/>
                    <a:pt x="0" y="331773"/>
                    <a:pt x="0" y="316351"/>
                  </a:cubicBezTo>
                  <a:lnTo>
                    <a:pt x="0" y="27924"/>
                  </a:lnTo>
                  <a:cubicBezTo>
                    <a:pt x="0" y="12502"/>
                    <a:pt x="12502" y="0"/>
                    <a:pt x="2792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AD4FF">
                    <a:alpha val="25000"/>
                  </a:srgbClr>
                </a:gs>
                <a:gs pos="100000">
                  <a:srgbClr val="F103EA">
                    <a:alpha val="25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308214" cy="382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97811" y="7574735"/>
            <a:ext cx="16357750" cy="1307169"/>
            <a:chOff x="0" y="0"/>
            <a:chExt cx="4308214" cy="3442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308214" cy="344275"/>
            </a:xfrm>
            <a:custGeom>
              <a:avLst/>
              <a:gdLst/>
              <a:ahLst/>
              <a:cxnLst/>
              <a:rect r="r" b="b" t="t" l="l"/>
              <a:pathLst>
                <a:path h="344275" w="4308214">
                  <a:moveTo>
                    <a:pt x="27924" y="0"/>
                  </a:moveTo>
                  <a:lnTo>
                    <a:pt x="4280290" y="0"/>
                  </a:lnTo>
                  <a:cubicBezTo>
                    <a:pt x="4295712" y="0"/>
                    <a:pt x="4308214" y="12502"/>
                    <a:pt x="4308214" y="27924"/>
                  </a:cubicBezTo>
                  <a:lnTo>
                    <a:pt x="4308214" y="316351"/>
                  </a:lnTo>
                  <a:cubicBezTo>
                    <a:pt x="4308214" y="331773"/>
                    <a:pt x="4295712" y="344275"/>
                    <a:pt x="4280290" y="344275"/>
                  </a:cubicBezTo>
                  <a:lnTo>
                    <a:pt x="27924" y="344275"/>
                  </a:lnTo>
                  <a:cubicBezTo>
                    <a:pt x="12502" y="344275"/>
                    <a:pt x="0" y="331773"/>
                    <a:pt x="0" y="316351"/>
                  </a:cubicBezTo>
                  <a:lnTo>
                    <a:pt x="0" y="27924"/>
                  </a:lnTo>
                  <a:cubicBezTo>
                    <a:pt x="0" y="12502"/>
                    <a:pt x="12502" y="0"/>
                    <a:pt x="2792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AD4FF">
                    <a:alpha val="25000"/>
                  </a:srgbClr>
                </a:gs>
                <a:gs pos="100000">
                  <a:srgbClr val="F103EA">
                    <a:alpha val="25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308214" cy="382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35383" y="2647110"/>
            <a:ext cx="542057" cy="54205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C4E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35383" y="6185370"/>
            <a:ext cx="542057" cy="542057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C4E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35966" y="4416240"/>
            <a:ext cx="542057" cy="542057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C4E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35383" y="7957708"/>
            <a:ext cx="542057" cy="542057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C4E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325550" y="1237753"/>
            <a:ext cx="5827066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FFFFFF"/>
                </a:solidFill>
                <a:latin typeface="Nunito Sans Ultra-Bold"/>
                <a:ea typeface="Nunito Sans Ultra-Bold"/>
                <a:cs typeface="Nunito Sans Ultra-Bold"/>
                <a:sym typeface="Nunito Sans Ultra-Bold"/>
              </a:rPr>
              <a:t>Reguero et al.: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861647" y="1237753"/>
            <a:ext cx="7015026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FFFFFF"/>
                </a:solidFill>
                <a:latin typeface="Nunito Sans Light"/>
                <a:ea typeface="Nunito Sans Light"/>
                <a:cs typeface="Nunito Sans Light"/>
                <a:sym typeface="Nunito Sans Light"/>
              </a:rPr>
              <a:t>What We Learned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196467" y="2684459"/>
            <a:ext cx="4050334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14.3% </a:t>
            </a:r>
            <a:r>
              <a:rPr lang="en-US" sz="24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is our benchmark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152616" y="2421803"/>
            <a:ext cx="9944794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Best runtime pr</a:t>
            </a:r>
            <a:r>
              <a:rPr lang="en-US" sz="18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edictor with live data gets 14.3% error. If we match this from pre-training features alone, that’s a significantly stronger result — same accuracy without any computational cost.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152616" y="4223067"/>
            <a:ext cx="9944794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Ljung-Box test: 28/30 cases show no autocorrelation. Each epoch </a:t>
            </a:r>
            <a:r>
              <a:rPr lang="en-US" sz="18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costs roughly the same. Total energy is predictable from static features (which determine per-epoch cost) — validates our entire approach.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152616" y="5985763"/>
            <a:ext cx="9944794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Quantization (32→16-bit) had no significant en</a:t>
            </a:r>
            <a:r>
              <a:rPr lang="en-US" sz="18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ergy effect. Structural choices — the features we predict from — dominate energy consumption. Precision-level changes are secondary.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152616" y="7716726"/>
            <a:ext cx="9944794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They optimiz</a:t>
            </a:r>
            <a:r>
              <a:rPr lang="en-US" sz="18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e how to train. We predict whether and what to train. A practitioner uses our tool first (select architecture), then theirs (optimize the run). Both are needed.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196467" y="4459053"/>
            <a:ext cx="4665180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Energy p</a:t>
            </a:r>
            <a:r>
              <a:rPr lang="en-US" sz="24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er epoch is constant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196467" y="6011899"/>
            <a:ext cx="4665180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Archit</a:t>
            </a:r>
            <a:r>
              <a:rPr lang="en-US" sz="24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ecture &gt; precision tweaks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196467" y="7786258"/>
            <a:ext cx="4665180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C</a:t>
            </a:r>
            <a:r>
              <a:rPr lang="en-US" sz="24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omplementary, not competing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325550" y="525855"/>
            <a:ext cx="450692" cy="450692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71778" y="0"/>
                  </a:moveTo>
                  <a:lnTo>
                    <a:pt x="641022" y="0"/>
                  </a:lnTo>
                  <a:cubicBezTo>
                    <a:pt x="735892" y="0"/>
                    <a:pt x="812800" y="76908"/>
                    <a:pt x="812800" y="171778"/>
                  </a:cubicBezTo>
                  <a:lnTo>
                    <a:pt x="812800" y="641022"/>
                  </a:lnTo>
                  <a:cubicBezTo>
                    <a:pt x="812800" y="735892"/>
                    <a:pt x="735892" y="812800"/>
                    <a:pt x="641022" y="812800"/>
                  </a:cubicBezTo>
                  <a:lnTo>
                    <a:pt x="171778" y="812800"/>
                  </a:lnTo>
                  <a:cubicBezTo>
                    <a:pt x="76908" y="812800"/>
                    <a:pt x="0" y="735892"/>
                    <a:pt x="0" y="641022"/>
                  </a:cubicBezTo>
                  <a:lnTo>
                    <a:pt x="0" y="171778"/>
                  </a:lnTo>
                  <a:cubicBezTo>
                    <a:pt x="0" y="76908"/>
                    <a:pt x="76908" y="0"/>
                    <a:pt x="171778" y="0"/>
                  </a:cubicBezTo>
                  <a:close/>
                </a:path>
              </a:pathLst>
            </a:custGeom>
            <a:blipFill>
              <a:blip r:embed="rId4"/>
              <a:stretch>
                <a:fillRect l="-35556" t="0" r="-31110" b="0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878023" y="534031"/>
            <a:ext cx="786537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University of Ghana | Computer Science Department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44797" y="2700969"/>
            <a:ext cx="12323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gradFill>
                  <a:gsLst>
                    <a:gs pos="0">
                      <a:srgbClr val="1D185B">
                        <a:alpha val="100000"/>
                      </a:srgbClr>
                    </a:gs>
                    <a:gs pos="100000">
                      <a:srgbClr val="310C3B">
                        <a:alpha val="100000"/>
                      </a:srgbClr>
                    </a:gs>
                  </a:gsLst>
                  <a:lin ang="2700000"/>
                </a:gradFill>
                <a:latin typeface="Alexandria Bold"/>
                <a:ea typeface="Alexandria Bold"/>
                <a:cs typeface="Alexandria Bold"/>
                <a:sym typeface="Alexandria Bold"/>
              </a:rPr>
              <a:t>1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514139" y="4476599"/>
            <a:ext cx="184547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gradFill>
                  <a:gsLst>
                    <a:gs pos="0">
                      <a:srgbClr val="1D185B">
                        <a:alpha val="100000"/>
                      </a:srgbClr>
                    </a:gs>
                    <a:gs pos="100000">
                      <a:srgbClr val="310C3B">
                        <a:alpha val="100000"/>
                      </a:srgbClr>
                    </a:gs>
                  </a:gsLst>
                  <a:lin ang="2700000"/>
                </a:gradFill>
                <a:latin typeface="Alexandria Bold"/>
                <a:ea typeface="Alexandria Bold"/>
                <a:cs typeface="Alexandria Bold"/>
                <a:sym typeface="Alexandria Bold"/>
              </a:rPr>
              <a:t>2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514511" y="6239229"/>
            <a:ext cx="18380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gradFill>
                  <a:gsLst>
                    <a:gs pos="0">
                      <a:srgbClr val="1D185B">
                        <a:alpha val="100000"/>
                      </a:srgbClr>
                    </a:gs>
                    <a:gs pos="100000">
                      <a:srgbClr val="310C3B">
                        <a:alpha val="100000"/>
                      </a:srgbClr>
                    </a:gs>
                  </a:gsLst>
                  <a:lin ang="2700000"/>
                </a:gradFill>
                <a:latin typeface="Alexandria Bold"/>
                <a:ea typeface="Alexandria Bold"/>
                <a:cs typeface="Alexandria Bold"/>
                <a:sym typeface="Alexandria Bold"/>
              </a:rPr>
              <a:t>3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513841" y="8014858"/>
            <a:ext cx="18514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gradFill>
                  <a:gsLst>
                    <a:gs pos="0">
                      <a:srgbClr val="1D185B">
                        <a:alpha val="100000"/>
                      </a:srgbClr>
                    </a:gs>
                    <a:gs pos="100000">
                      <a:srgbClr val="310C3B">
                        <a:alpha val="100000"/>
                      </a:srgbClr>
                    </a:gs>
                  </a:gsLst>
                  <a:lin ang="2700000"/>
                </a:gradFill>
                <a:latin typeface="Alexandria Bold"/>
                <a:ea typeface="Alexandria Bold"/>
                <a:cs typeface="Alexandria Bold"/>
                <a:sym typeface="Alexandria Bold"/>
              </a:rPr>
              <a:t>4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D185B">
                <a:alpha val="100000"/>
              </a:srgbClr>
            </a:gs>
            <a:gs pos="100000">
              <a:srgbClr val="310C3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9386496" y="4229498"/>
            <a:ext cx="7121203" cy="10681805"/>
          </a:xfrm>
          <a:custGeom>
            <a:avLst/>
            <a:gdLst/>
            <a:ahLst/>
            <a:cxnLst/>
            <a:rect r="r" b="b" t="t" l="l"/>
            <a:pathLst>
              <a:path h="10681805" w="7121203">
                <a:moveTo>
                  <a:pt x="0" y="10681805"/>
                </a:moveTo>
                <a:lnTo>
                  <a:pt x="7121203" y="10681805"/>
                </a:lnTo>
                <a:lnTo>
                  <a:pt x="7121203" y="0"/>
                </a:lnTo>
                <a:lnTo>
                  <a:pt x="0" y="0"/>
                </a:lnTo>
                <a:lnTo>
                  <a:pt x="0" y="10681805"/>
                </a:lnTo>
                <a:close/>
              </a:path>
            </a:pathLst>
          </a:custGeom>
          <a:blipFill>
            <a:blip r:embed="rId2">
              <a:alphaModFix amt="10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-2697390" y="-6430709"/>
            <a:ext cx="7121203" cy="10681805"/>
          </a:xfrm>
          <a:custGeom>
            <a:avLst/>
            <a:gdLst/>
            <a:ahLst/>
            <a:cxnLst/>
            <a:rect r="r" b="b" t="t" l="l"/>
            <a:pathLst>
              <a:path h="10681805" w="7121203">
                <a:moveTo>
                  <a:pt x="7121203" y="0"/>
                </a:moveTo>
                <a:lnTo>
                  <a:pt x="0" y="0"/>
                </a:lnTo>
                <a:lnTo>
                  <a:pt x="0" y="10681804"/>
                </a:lnTo>
                <a:lnTo>
                  <a:pt x="7121203" y="10681804"/>
                </a:lnTo>
                <a:lnTo>
                  <a:pt x="7121203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332618" y="-5079170"/>
            <a:ext cx="11161226" cy="11161226"/>
          </a:xfrm>
          <a:custGeom>
            <a:avLst/>
            <a:gdLst/>
            <a:ahLst/>
            <a:cxnLst/>
            <a:rect r="r" b="b" t="t" l="l"/>
            <a:pathLst>
              <a:path h="11161226" w="11161226">
                <a:moveTo>
                  <a:pt x="0" y="0"/>
                </a:moveTo>
                <a:lnTo>
                  <a:pt x="11161226" y="0"/>
                </a:lnTo>
                <a:lnTo>
                  <a:pt x="11161226" y="11161226"/>
                </a:lnTo>
                <a:lnTo>
                  <a:pt x="0" y="111612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56446" y="6598423"/>
            <a:ext cx="11161226" cy="11161226"/>
          </a:xfrm>
          <a:custGeom>
            <a:avLst/>
            <a:gdLst/>
            <a:ahLst/>
            <a:cxnLst/>
            <a:rect r="r" b="b" t="t" l="l"/>
            <a:pathLst>
              <a:path h="11161226" w="11161226">
                <a:moveTo>
                  <a:pt x="0" y="0"/>
                </a:moveTo>
                <a:lnTo>
                  <a:pt x="11161226" y="0"/>
                </a:lnTo>
                <a:lnTo>
                  <a:pt x="11161226" y="11161227"/>
                </a:lnTo>
                <a:lnTo>
                  <a:pt x="0" y="111612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543636" y="2286075"/>
            <a:ext cx="7920838" cy="2649611"/>
            <a:chOff x="0" y="0"/>
            <a:chExt cx="2086147" cy="697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86147" cy="697840"/>
            </a:xfrm>
            <a:custGeom>
              <a:avLst/>
              <a:gdLst/>
              <a:ahLst/>
              <a:cxnLst/>
              <a:rect r="r" b="b" t="t" l="l"/>
              <a:pathLst>
                <a:path h="697840" w="2086147">
                  <a:moveTo>
                    <a:pt x="14661" y="0"/>
                  </a:moveTo>
                  <a:lnTo>
                    <a:pt x="2071486" y="0"/>
                  </a:lnTo>
                  <a:cubicBezTo>
                    <a:pt x="2075374" y="0"/>
                    <a:pt x="2079103" y="1545"/>
                    <a:pt x="2081853" y="4294"/>
                  </a:cubicBezTo>
                  <a:cubicBezTo>
                    <a:pt x="2084602" y="7044"/>
                    <a:pt x="2086147" y="10773"/>
                    <a:pt x="2086147" y="14661"/>
                  </a:cubicBezTo>
                  <a:lnTo>
                    <a:pt x="2086147" y="683179"/>
                  </a:lnTo>
                  <a:cubicBezTo>
                    <a:pt x="2086147" y="691276"/>
                    <a:pt x="2079583" y="697840"/>
                    <a:pt x="2071486" y="697840"/>
                  </a:cubicBezTo>
                  <a:lnTo>
                    <a:pt x="14661" y="697840"/>
                  </a:lnTo>
                  <a:cubicBezTo>
                    <a:pt x="6564" y="697840"/>
                    <a:pt x="0" y="691276"/>
                    <a:pt x="0" y="683179"/>
                  </a:cubicBezTo>
                  <a:lnTo>
                    <a:pt x="0" y="14661"/>
                  </a:lnTo>
                  <a:cubicBezTo>
                    <a:pt x="0" y="6564"/>
                    <a:pt x="6564" y="0"/>
                    <a:pt x="1466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34075">
                    <a:alpha val="100000"/>
                  </a:srgbClr>
                </a:gs>
                <a:gs pos="100000">
                  <a:srgbClr val="66446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86147" cy="735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558886" y="1434728"/>
            <a:ext cx="441271" cy="438146"/>
          </a:xfrm>
          <a:custGeom>
            <a:avLst/>
            <a:gdLst/>
            <a:ahLst/>
            <a:cxnLst/>
            <a:rect r="r" b="b" t="t" l="l"/>
            <a:pathLst>
              <a:path h="438146" w="441271">
                <a:moveTo>
                  <a:pt x="0" y="0"/>
                </a:moveTo>
                <a:lnTo>
                  <a:pt x="441272" y="0"/>
                </a:lnTo>
                <a:lnTo>
                  <a:pt x="441272" y="438146"/>
                </a:lnTo>
                <a:lnTo>
                  <a:pt x="0" y="4381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25550" y="3518379"/>
            <a:ext cx="441271" cy="438146"/>
          </a:xfrm>
          <a:custGeom>
            <a:avLst/>
            <a:gdLst/>
            <a:ahLst/>
            <a:cxnLst/>
            <a:rect r="r" b="b" t="t" l="l"/>
            <a:pathLst>
              <a:path h="438146" w="441271">
                <a:moveTo>
                  <a:pt x="0" y="0"/>
                </a:moveTo>
                <a:lnTo>
                  <a:pt x="441271" y="0"/>
                </a:lnTo>
                <a:lnTo>
                  <a:pt x="441271" y="438145"/>
                </a:lnTo>
                <a:lnTo>
                  <a:pt x="0" y="4381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325550" y="9423653"/>
            <a:ext cx="15933750" cy="554260"/>
            <a:chOff x="0" y="0"/>
            <a:chExt cx="2468555" cy="858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68555" cy="85869"/>
            </a:xfrm>
            <a:custGeom>
              <a:avLst/>
              <a:gdLst/>
              <a:ahLst/>
              <a:cxnLst/>
              <a:rect r="r" b="b" t="t" l="l"/>
              <a:pathLst>
                <a:path h="85869" w="2468555">
                  <a:moveTo>
                    <a:pt x="11175" y="0"/>
                  </a:moveTo>
                  <a:lnTo>
                    <a:pt x="2457379" y="0"/>
                  </a:lnTo>
                  <a:cubicBezTo>
                    <a:pt x="2463551" y="0"/>
                    <a:pt x="2468555" y="5003"/>
                    <a:pt x="2468555" y="11175"/>
                  </a:cubicBezTo>
                  <a:lnTo>
                    <a:pt x="2468555" y="74694"/>
                  </a:lnTo>
                  <a:cubicBezTo>
                    <a:pt x="2468555" y="80866"/>
                    <a:pt x="2463551" y="85869"/>
                    <a:pt x="2457379" y="85869"/>
                  </a:cubicBezTo>
                  <a:lnTo>
                    <a:pt x="11175" y="85869"/>
                  </a:lnTo>
                  <a:cubicBezTo>
                    <a:pt x="5003" y="85869"/>
                    <a:pt x="0" y="80866"/>
                    <a:pt x="0" y="74694"/>
                  </a:cubicBezTo>
                  <a:lnTo>
                    <a:pt x="0" y="11175"/>
                  </a:lnTo>
                  <a:cubicBezTo>
                    <a:pt x="0" y="5003"/>
                    <a:pt x="5003" y="0"/>
                    <a:pt x="11175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769710" r="0" b="-104560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25550" y="525855"/>
            <a:ext cx="450692" cy="45069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71778" y="0"/>
                  </a:moveTo>
                  <a:lnTo>
                    <a:pt x="641022" y="0"/>
                  </a:lnTo>
                  <a:cubicBezTo>
                    <a:pt x="735892" y="0"/>
                    <a:pt x="812800" y="76908"/>
                    <a:pt x="812800" y="171778"/>
                  </a:cubicBezTo>
                  <a:lnTo>
                    <a:pt x="812800" y="641022"/>
                  </a:lnTo>
                  <a:cubicBezTo>
                    <a:pt x="812800" y="735892"/>
                    <a:pt x="735892" y="812800"/>
                    <a:pt x="641022" y="812800"/>
                  </a:cubicBezTo>
                  <a:lnTo>
                    <a:pt x="171778" y="812800"/>
                  </a:lnTo>
                  <a:cubicBezTo>
                    <a:pt x="76908" y="812800"/>
                    <a:pt x="0" y="735892"/>
                    <a:pt x="0" y="641022"/>
                  </a:cubicBezTo>
                  <a:lnTo>
                    <a:pt x="0" y="171778"/>
                  </a:lnTo>
                  <a:cubicBezTo>
                    <a:pt x="0" y="76908"/>
                    <a:pt x="76908" y="0"/>
                    <a:pt x="171778" y="0"/>
                  </a:cubicBezTo>
                  <a:close/>
                </a:path>
              </a:pathLst>
            </a:custGeom>
            <a:blipFill>
              <a:blip r:embed="rId6"/>
              <a:stretch>
                <a:fillRect l="-35556" t="0" r="-3111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74792" y="4164859"/>
            <a:ext cx="557428" cy="550107"/>
            <a:chOff x="0" y="0"/>
            <a:chExt cx="743237" cy="733476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743237" cy="733476"/>
              <a:chOff x="0" y="0"/>
              <a:chExt cx="174266" cy="17197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74266" cy="171977"/>
              </a:xfrm>
              <a:custGeom>
                <a:avLst/>
                <a:gdLst/>
                <a:ahLst/>
                <a:cxnLst/>
                <a:rect r="r" b="b" t="t" l="l"/>
                <a:pathLst>
                  <a:path h="171977" w="174266">
                    <a:moveTo>
                      <a:pt x="85988" y="0"/>
                    </a:moveTo>
                    <a:lnTo>
                      <a:pt x="88277" y="0"/>
                    </a:lnTo>
                    <a:cubicBezTo>
                      <a:pt x="111083" y="0"/>
                      <a:pt x="132954" y="9059"/>
                      <a:pt x="149080" y="25185"/>
                    </a:cubicBezTo>
                    <a:cubicBezTo>
                      <a:pt x="165206" y="41311"/>
                      <a:pt x="174266" y="63183"/>
                      <a:pt x="174266" y="85988"/>
                    </a:cubicBezTo>
                    <a:lnTo>
                      <a:pt x="174266" y="85988"/>
                    </a:lnTo>
                    <a:cubicBezTo>
                      <a:pt x="174266" y="133479"/>
                      <a:pt x="135767" y="171977"/>
                      <a:pt x="88277" y="171977"/>
                    </a:cubicBezTo>
                    <a:lnTo>
                      <a:pt x="85988" y="171977"/>
                    </a:lnTo>
                    <a:cubicBezTo>
                      <a:pt x="63183" y="171977"/>
                      <a:pt x="41311" y="162917"/>
                      <a:pt x="25185" y="146791"/>
                    </a:cubicBezTo>
                    <a:cubicBezTo>
                      <a:pt x="9059" y="130666"/>
                      <a:pt x="0" y="108794"/>
                      <a:pt x="0" y="85988"/>
                    </a:cubicBezTo>
                    <a:lnTo>
                      <a:pt x="0" y="85988"/>
                    </a:lnTo>
                    <a:cubicBezTo>
                      <a:pt x="0" y="63183"/>
                      <a:pt x="9059" y="41311"/>
                      <a:pt x="25185" y="25185"/>
                    </a:cubicBezTo>
                    <a:cubicBezTo>
                      <a:pt x="41311" y="9059"/>
                      <a:pt x="63183" y="0"/>
                      <a:pt x="85988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34075">
                      <a:alpha val="100000"/>
                    </a:srgbClr>
                  </a:gs>
                  <a:gs pos="100000">
                    <a:srgbClr val="66446E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74266" cy="21007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74374" y="127492"/>
              <a:ext cx="594490" cy="440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0"/>
                </a:lnSpc>
              </a:pPr>
              <a:r>
                <a:rPr lang="en-US" sz="2021">
                  <a:solidFill>
                    <a:srgbClr val="FFFFFF"/>
                  </a:solidFill>
                  <a:latin typeface="Alexandria Light"/>
                  <a:ea typeface="Alexandria Light"/>
                  <a:cs typeface="Alexandria Light"/>
                  <a:sym typeface="Alexandria Light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74792" y="5143500"/>
            <a:ext cx="557428" cy="550107"/>
            <a:chOff x="0" y="0"/>
            <a:chExt cx="743237" cy="733476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743237" cy="733476"/>
              <a:chOff x="0" y="0"/>
              <a:chExt cx="174266" cy="171977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74266" cy="171977"/>
              </a:xfrm>
              <a:custGeom>
                <a:avLst/>
                <a:gdLst/>
                <a:ahLst/>
                <a:cxnLst/>
                <a:rect r="r" b="b" t="t" l="l"/>
                <a:pathLst>
                  <a:path h="171977" w="174266">
                    <a:moveTo>
                      <a:pt x="85988" y="0"/>
                    </a:moveTo>
                    <a:lnTo>
                      <a:pt x="88277" y="0"/>
                    </a:lnTo>
                    <a:cubicBezTo>
                      <a:pt x="111083" y="0"/>
                      <a:pt x="132954" y="9059"/>
                      <a:pt x="149080" y="25185"/>
                    </a:cubicBezTo>
                    <a:cubicBezTo>
                      <a:pt x="165206" y="41311"/>
                      <a:pt x="174266" y="63183"/>
                      <a:pt x="174266" y="85988"/>
                    </a:cubicBezTo>
                    <a:lnTo>
                      <a:pt x="174266" y="85988"/>
                    </a:lnTo>
                    <a:cubicBezTo>
                      <a:pt x="174266" y="133479"/>
                      <a:pt x="135767" y="171977"/>
                      <a:pt x="88277" y="171977"/>
                    </a:cubicBezTo>
                    <a:lnTo>
                      <a:pt x="85988" y="171977"/>
                    </a:lnTo>
                    <a:cubicBezTo>
                      <a:pt x="63183" y="171977"/>
                      <a:pt x="41311" y="162917"/>
                      <a:pt x="25185" y="146791"/>
                    </a:cubicBezTo>
                    <a:cubicBezTo>
                      <a:pt x="9059" y="130666"/>
                      <a:pt x="0" y="108794"/>
                      <a:pt x="0" y="85988"/>
                    </a:cubicBezTo>
                    <a:lnTo>
                      <a:pt x="0" y="85988"/>
                    </a:lnTo>
                    <a:cubicBezTo>
                      <a:pt x="0" y="63183"/>
                      <a:pt x="9059" y="41311"/>
                      <a:pt x="25185" y="25185"/>
                    </a:cubicBezTo>
                    <a:cubicBezTo>
                      <a:pt x="41311" y="9059"/>
                      <a:pt x="63183" y="0"/>
                      <a:pt x="85988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34075">
                      <a:alpha val="100000"/>
                    </a:srgbClr>
                  </a:gs>
                  <a:gs pos="100000">
                    <a:srgbClr val="66446E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174266" cy="21007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74374" y="127492"/>
              <a:ext cx="594490" cy="440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0"/>
                </a:lnSpc>
              </a:pPr>
              <a:r>
                <a:rPr lang="en-US" sz="2021">
                  <a:solidFill>
                    <a:srgbClr val="FFFFFF"/>
                  </a:solidFill>
                  <a:latin typeface="Alexandria Light"/>
                  <a:ea typeface="Alexandria Light"/>
                  <a:cs typeface="Alexandria Light"/>
                  <a:sym typeface="Alexandria Light"/>
                </a:rPr>
                <a:t>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74792" y="6189405"/>
            <a:ext cx="557428" cy="550107"/>
            <a:chOff x="0" y="0"/>
            <a:chExt cx="743237" cy="733476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743237" cy="733476"/>
              <a:chOff x="0" y="0"/>
              <a:chExt cx="174266" cy="171977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74266" cy="171977"/>
              </a:xfrm>
              <a:custGeom>
                <a:avLst/>
                <a:gdLst/>
                <a:ahLst/>
                <a:cxnLst/>
                <a:rect r="r" b="b" t="t" l="l"/>
                <a:pathLst>
                  <a:path h="171977" w="174266">
                    <a:moveTo>
                      <a:pt x="85988" y="0"/>
                    </a:moveTo>
                    <a:lnTo>
                      <a:pt x="88277" y="0"/>
                    </a:lnTo>
                    <a:cubicBezTo>
                      <a:pt x="111083" y="0"/>
                      <a:pt x="132954" y="9059"/>
                      <a:pt x="149080" y="25185"/>
                    </a:cubicBezTo>
                    <a:cubicBezTo>
                      <a:pt x="165206" y="41311"/>
                      <a:pt x="174266" y="63183"/>
                      <a:pt x="174266" y="85988"/>
                    </a:cubicBezTo>
                    <a:lnTo>
                      <a:pt x="174266" y="85988"/>
                    </a:lnTo>
                    <a:cubicBezTo>
                      <a:pt x="174266" y="133479"/>
                      <a:pt x="135767" y="171977"/>
                      <a:pt x="88277" y="171977"/>
                    </a:cubicBezTo>
                    <a:lnTo>
                      <a:pt x="85988" y="171977"/>
                    </a:lnTo>
                    <a:cubicBezTo>
                      <a:pt x="63183" y="171977"/>
                      <a:pt x="41311" y="162917"/>
                      <a:pt x="25185" y="146791"/>
                    </a:cubicBezTo>
                    <a:cubicBezTo>
                      <a:pt x="9059" y="130666"/>
                      <a:pt x="0" y="108794"/>
                      <a:pt x="0" y="85988"/>
                    </a:cubicBezTo>
                    <a:lnTo>
                      <a:pt x="0" y="85988"/>
                    </a:lnTo>
                    <a:cubicBezTo>
                      <a:pt x="0" y="63183"/>
                      <a:pt x="9059" y="41311"/>
                      <a:pt x="25185" y="25185"/>
                    </a:cubicBezTo>
                    <a:cubicBezTo>
                      <a:pt x="41311" y="9059"/>
                      <a:pt x="63183" y="0"/>
                      <a:pt x="85988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34075">
                      <a:alpha val="100000"/>
                    </a:srgbClr>
                  </a:gs>
                  <a:gs pos="100000">
                    <a:srgbClr val="66446E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74266" cy="21007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74374" y="127492"/>
              <a:ext cx="594490" cy="440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0"/>
                </a:lnSpc>
              </a:pPr>
              <a:r>
                <a:rPr lang="en-US" sz="2021">
                  <a:solidFill>
                    <a:srgbClr val="FFFFFF"/>
                  </a:solidFill>
                  <a:latin typeface="Alexandria Light"/>
                  <a:ea typeface="Alexandria Light"/>
                  <a:cs typeface="Alexandria Light"/>
                  <a:sym typeface="Alexandria Light"/>
                </a:rPr>
                <a:t>3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74792" y="7084730"/>
            <a:ext cx="557428" cy="550107"/>
            <a:chOff x="0" y="0"/>
            <a:chExt cx="743237" cy="733476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743237" cy="733476"/>
              <a:chOff x="0" y="0"/>
              <a:chExt cx="174266" cy="17197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74266" cy="171977"/>
              </a:xfrm>
              <a:custGeom>
                <a:avLst/>
                <a:gdLst/>
                <a:ahLst/>
                <a:cxnLst/>
                <a:rect r="r" b="b" t="t" l="l"/>
                <a:pathLst>
                  <a:path h="171977" w="174266">
                    <a:moveTo>
                      <a:pt x="85988" y="0"/>
                    </a:moveTo>
                    <a:lnTo>
                      <a:pt x="88277" y="0"/>
                    </a:lnTo>
                    <a:cubicBezTo>
                      <a:pt x="111083" y="0"/>
                      <a:pt x="132954" y="9059"/>
                      <a:pt x="149080" y="25185"/>
                    </a:cubicBezTo>
                    <a:cubicBezTo>
                      <a:pt x="165206" y="41311"/>
                      <a:pt x="174266" y="63183"/>
                      <a:pt x="174266" y="85988"/>
                    </a:cubicBezTo>
                    <a:lnTo>
                      <a:pt x="174266" y="85988"/>
                    </a:lnTo>
                    <a:cubicBezTo>
                      <a:pt x="174266" y="133479"/>
                      <a:pt x="135767" y="171977"/>
                      <a:pt x="88277" y="171977"/>
                    </a:cubicBezTo>
                    <a:lnTo>
                      <a:pt x="85988" y="171977"/>
                    </a:lnTo>
                    <a:cubicBezTo>
                      <a:pt x="63183" y="171977"/>
                      <a:pt x="41311" y="162917"/>
                      <a:pt x="25185" y="146791"/>
                    </a:cubicBezTo>
                    <a:cubicBezTo>
                      <a:pt x="9059" y="130666"/>
                      <a:pt x="0" y="108794"/>
                      <a:pt x="0" y="85988"/>
                    </a:cubicBezTo>
                    <a:lnTo>
                      <a:pt x="0" y="85988"/>
                    </a:lnTo>
                    <a:cubicBezTo>
                      <a:pt x="0" y="63183"/>
                      <a:pt x="9059" y="41311"/>
                      <a:pt x="25185" y="25185"/>
                    </a:cubicBezTo>
                    <a:cubicBezTo>
                      <a:pt x="41311" y="9059"/>
                      <a:pt x="63183" y="0"/>
                      <a:pt x="85988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34075">
                      <a:alpha val="100000"/>
                    </a:srgbClr>
                  </a:gs>
                  <a:gs pos="100000">
                    <a:srgbClr val="66446E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74266" cy="21007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74374" y="127492"/>
              <a:ext cx="594490" cy="440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0"/>
                </a:lnSpc>
              </a:pPr>
              <a:r>
                <a:rPr lang="en-US" sz="2021">
                  <a:solidFill>
                    <a:srgbClr val="FFFFFF"/>
                  </a:solidFill>
                  <a:latin typeface="Alexandria Light"/>
                  <a:ea typeface="Alexandria Light"/>
                  <a:cs typeface="Alexandria Light"/>
                  <a:sym typeface="Alexandria Light"/>
                </a:rPr>
                <a:t>4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56467" y="7850191"/>
            <a:ext cx="557428" cy="550107"/>
            <a:chOff x="0" y="0"/>
            <a:chExt cx="743237" cy="733476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743237" cy="733476"/>
              <a:chOff x="0" y="0"/>
              <a:chExt cx="174266" cy="171977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74266" cy="171977"/>
              </a:xfrm>
              <a:custGeom>
                <a:avLst/>
                <a:gdLst/>
                <a:ahLst/>
                <a:cxnLst/>
                <a:rect r="r" b="b" t="t" l="l"/>
                <a:pathLst>
                  <a:path h="171977" w="174266">
                    <a:moveTo>
                      <a:pt x="85988" y="0"/>
                    </a:moveTo>
                    <a:lnTo>
                      <a:pt x="88277" y="0"/>
                    </a:lnTo>
                    <a:cubicBezTo>
                      <a:pt x="111083" y="0"/>
                      <a:pt x="132954" y="9059"/>
                      <a:pt x="149080" y="25185"/>
                    </a:cubicBezTo>
                    <a:cubicBezTo>
                      <a:pt x="165206" y="41311"/>
                      <a:pt x="174266" y="63183"/>
                      <a:pt x="174266" y="85988"/>
                    </a:cubicBezTo>
                    <a:lnTo>
                      <a:pt x="174266" y="85988"/>
                    </a:lnTo>
                    <a:cubicBezTo>
                      <a:pt x="174266" y="133479"/>
                      <a:pt x="135767" y="171977"/>
                      <a:pt x="88277" y="171977"/>
                    </a:cubicBezTo>
                    <a:lnTo>
                      <a:pt x="85988" y="171977"/>
                    </a:lnTo>
                    <a:cubicBezTo>
                      <a:pt x="63183" y="171977"/>
                      <a:pt x="41311" y="162917"/>
                      <a:pt x="25185" y="146791"/>
                    </a:cubicBezTo>
                    <a:cubicBezTo>
                      <a:pt x="9059" y="130666"/>
                      <a:pt x="0" y="108794"/>
                      <a:pt x="0" y="85988"/>
                    </a:cubicBezTo>
                    <a:lnTo>
                      <a:pt x="0" y="85988"/>
                    </a:lnTo>
                    <a:cubicBezTo>
                      <a:pt x="0" y="63183"/>
                      <a:pt x="9059" y="41311"/>
                      <a:pt x="25185" y="25185"/>
                    </a:cubicBezTo>
                    <a:cubicBezTo>
                      <a:pt x="41311" y="9059"/>
                      <a:pt x="63183" y="0"/>
                      <a:pt x="85988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34075">
                      <a:alpha val="100000"/>
                    </a:srgbClr>
                  </a:gs>
                  <a:gs pos="100000">
                    <a:srgbClr val="66446E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174266" cy="21007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74374" y="127492"/>
              <a:ext cx="594490" cy="440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0"/>
                </a:lnSpc>
              </a:pPr>
              <a:r>
                <a:rPr lang="en-US" sz="2021">
                  <a:solidFill>
                    <a:srgbClr val="FFFFFF"/>
                  </a:solidFill>
                  <a:latin typeface="Alexandria Light"/>
                  <a:ea typeface="Alexandria Light"/>
                  <a:cs typeface="Alexandria Light"/>
                  <a:sym typeface="Alexandria Light"/>
                </a:rPr>
                <a:t>5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374792" y="1380616"/>
            <a:ext cx="8184094" cy="819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3"/>
              </a:lnSpc>
            </a:pPr>
            <a:r>
              <a:rPr lang="en-US" sz="4845" b="true">
                <a:solidFill>
                  <a:srgbClr val="FFFFFF"/>
                </a:solidFill>
                <a:latin typeface="Nunito Sans Ultra-Bold"/>
                <a:ea typeface="Nunito Sans Ultra-Bold"/>
                <a:cs typeface="Nunito Sans Ultra-Bold"/>
                <a:sym typeface="Nunito Sans Ultra-Bold"/>
              </a:rPr>
              <a:t>NeurstrucEnergy (2022):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74792" y="2114688"/>
            <a:ext cx="6177998" cy="819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3"/>
              </a:lnSpc>
            </a:pPr>
            <a:r>
              <a:rPr lang="en-US" sz="4845">
                <a:solidFill>
                  <a:srgbClr val="FFFFFF"/>
                </a:solidFill>
                <a:latin typeface="Nunito Sans Light"/>
                <a:ea typeface="Nunito Sans Light"/>
                <a:cs typeface="Nunito Sans Light"/>
                <a:sym typeface="Nunito Sans Light"/>
              </a:rPr>
              <a:t>How It works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147231" y="1356304"/>
            <a:ext cx="6968168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 Critical Insight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115574" y="4187349"/>
            <a:ext cx="6809611" cy="4306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Represent any NN as a directed graph: layers = nodes, connections = edges. Captures topology.</a:t>
            </a:r>
          </a:p>
          <a:p>
            <a:pPr algn="l">
              <a:lnSpc>
                <a:spcPts val="2300"/>
              </a:lnSpc>
            </a:pPr>
          </a:p>
          <a:p>
            <a:pPr algn="l">
              <a:lnSpc>
                <a:spcPts val="2300"/>
              </a:lnSpc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Ext</a:t>
            </a: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ract layer features (kernel size, filters, stride)</a:t>
            </a:r>
          </a:p>
          <a:p>
            <a:pPr algn="l">
              <a:lnSpc>
                <a:spcPts val="2300"/>
              </a:lnSpc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 into a f</a:t>
            </a: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eature matrix per node.</a:t>
            </a:r>
          </a:p>
          <a:p>
            <a:pPr algn="l">
              <a:lnSpc>
                <a:spcPts val="2300"/>
              </a:lnSpc>
            </a:pPr>
          </a:p>
          <a:p>
            <a:pPr algn="l">
              <a:lnSpc>
                <a:spcPts val="2300"/>
              </a:lnSpc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Bi-directional GNN: one stream from parents (forward), another from children (backward).</a:t>
            </a:r>
          </a:p>
          <a:p>
            <a:pPr algn="l">
              <a:lnSpc>
                <a:spcPts val="2300"/>
              </a:lnSpc>
            </a:pPr>
          </a:p>
          <a:p>
            <a:pPr algn="l">
              <a:lnSpc>
                <a:spcPts val="2300"/>
              </a:lnSpc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Multi-head attention weights which connections matter most for energy prediction.</a:t>
            </a:r>
          </a:p>
          <a:p>
            <a:pPr algn="l">
              <a:lnSpc>
                <a:spcPts val="2300"/>
              </a:lnSpc>
            </a:pPr>
          </a:p>
          <a:p>
            <a:pPr algn="l">
              <a:lnSpc>
                <a:spcPts val="2300"/>
              </a:lnSpc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Readout combines node embeddings into graph-level vector. Final MLP predicts energy.</a:t>
            </a:r>
          </a:p>
          <a:p>
            <a:pPr algn="l">
              <a:lnSpc>
                <a:spcPts val="2300"/>
              </a:lnSpc>
            </a:pPr>
          </a:p>
        </p:txBody>
      </p:sp>
      <p:sp>
        <p:nvSpPr>
          <p:cNvPr name="TextBox 44" id="44"/>
          <p:cNvSpPr txBox="true"/>
          <p:nvPr/>
        </p:nvSpPr>
        <p:spPr>
          <a:xfrm rot="0">
            <a:off x="1913895" y="3439954"/>
            <a:ext cx="797881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The Approach: Runtime Optimization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878023" y="534031"/>
            <a:ext cx="786537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University of Ghana | Computer Science Department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892710" y="2546182"/>
            <a:ext cx="7222688" cy="2389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Two networks with identical layers but different connections: 1352mJ vs 1528mJ. Per-layer models predict the same. The GNN captures topology — skip connections, branching, parallel paths — that tabular features miss.</a:t>
            </a:r>
          </a:p>
          <a:p>
            <a:pPr algn="l">
              <a:lnSpc>
                <a:spcPts val="322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D185B">
                <a:alpha val="100000"/>
              </a:srgbClr>
            </a:gs>
            <a:gs pos="100000">
              <a:srgbClr val="310C3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12645934" y="3277533"/>
            <a:ext cx="7121203" cy="10681805"/>
          </a:xfrm>
          <a:custGeom>
            <a:avLst/>
            <a:gdLst/>
            <a:ahLst/>
            <a:cxnLst/>
            <a:rect r="r" b="b" t="t" l="l"/>
            <a:pathLst>
              <a:path h="10681805" w="7121203">
                <a:moveTo>
                  <a:pt x="0" y="10681804"/>
                </a:moveTo>
                <a:lnTo>
                  <a:pt x="7121203" y="10681804"/>
                </a:lnTo>
                <a:lnTo>
                  <a:pt x="7121203" y="0"/>
                </a:lnTo>
                <a:lnTo>
                  <a:pt x="0" y="0"/>
                </a:lnTo>
                <a:lnTo>
                  <a:pt x="0" y="10681804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-2697390" y="-6430709"/>
            <a:ext cx="7121203" cy="10681805"/>
          </a:xfrm>
          <a:custGeom>
            <a:avLst/>
            <a:gdLst/>
            <a:ahLst/>
            <a:cxnLst/>
            <a:rect r="r" b="b" t="t" l="l"/>
            <a:pathLst>
              <a:path h="10681805" w="7121203">
                <a:moveTo>
                  <a:pt x="7121203" y="0"/>
                </a:moveTo>
                <a:lnTo>
                  <a:pt x="0" y="0"/>
                </a:lnTo>
                <a:lnTo>
                  <a:pt x="0" y="10681804"/>
                </a:lnTo>
                <a:lnTo>
                  <a:pt x="7121203" y="10681804"/>
                </a:lnTo>
                <a:lnTo>
                  <a:pt x="7121203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332618" y="-5079170"/>
            <a:ext cx="11161226" cy="11161226"/>
          </a:xfrm>
          <a:custGeom>
            <a:avLst/>
            <a:gdLst/>
            <a:ahLst/>
            <a:cxnLst/>
            <a:rect r="r" b="b" t="t" l="l"/>
            <a:pathLst>
              <a:path h="11161226" w="11161226">
                <a:moveTo>
                  <a:pt x="0" y="0"/>
                </a:moveTo>
                <a:lnTo>
                  <a:pt x="11161226" y="0"/>
                </a:lnTo>
                <a:lnTo>
                  <a:pt x="11161226" y="11161226"/>
                </a:lnTo>
                <a:lnTo>
                  <a:pt x="0" y="111612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56446" y="6598423"/>
            <a:ext cx="11161226" cy="11161226"/>
          </a:xfrm>
          <a:custGeom>
            <a:avLst/>
            <a:gdLst/>
            <a:ahLst/>
            <a:cxnLst/>
            <a:rect r="r" b="b" t="t" l="l"/>
            <a:pathLst>
              <a:path h="11161226" w="11161226">
                <a:moveTo>
                  <a:pt x="0" y="0"/>
                </a:moveTo>
                <a:lnTo>
                  <a:pt x="11161226" y="0"/>
                </a:lnTo>
                <a:lnTo>
                  <a:pt x="11161226" y="11161227"/>
                </a:lnTo>
                <a:lnTo>
                  <a:pt x="0" y="111612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25550" y="2470794"/>
            <a:ext cx="15933750" cy="6965349"/>
            <a:chOff x="0" y="0"/>
            <a:chExt cx="4196543" cy="18344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96543" cy="1834495"/>
            </a:xfrm>
            <a:custGeom>
              <a:avLst/>
              <a:gdLst/>
              <a:ahLst/>
              <a:cxnLst/>
              <a:rect r="r" b="b" t="t" l="l"/>
              <a:pathLst>
                <a:path h="1834495" w="4196543">
                  <a:moveTo>
                    <a:pt x="7288" y="0"/>
                  </a:moveTo>
                  <a:lnTo>
                    <a:pt x="4189255" y="0"/>
                  </a:lnTo>
                  <a:cubicBezTo>
                    <a:pt x="4193280" y="0"/>
                    <a:pt x="4196543" y="3263"/>
                    <a:pt x="4196543" y="7288"/>
                  </a:cubicBezTo>
                  <a:lnTo>
                    <a:pt x="4196543" y="1827207"/>
                  </a:lnTo>
                  <a:cubicBezTo>
                    <a:pt x="4196543" y="1831232"/>
                    <a:pt x="4193280" y="1834495"/>
                    <a:pt x="4189255" y="1834495"/>
                  </a:cubicBezTo>
                  <a:lnTo>
                    <a:pt x="7288" y="1834495"/>
                  </a:lnTo>
                  <a:cubicBezTo>
                    <a:pt x="3263" y="1834495"/>
                    <a:pt x="0" y="1831232"/>
                    <a:pt x="0" y="1827207"/>
                  </a:cubicBezTo>
                  <a:lnTo>
                    <a:pt x="0" y="7288"/>
                  </a:lnTo>
                  <a:cubicBezTo>
                    <a:pt x="0" y="3263"/>
                    <a:pt x="3263" y="0"/>
                    <a:pt x="728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34075">
                    <a:alpha val="100000"/>
                  </a:srgbClr>
                </a:gs>
                <a:gs pos="100000">
                  <a:srgbClr val="66446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196543" cy="1872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729783" y="2863078"/>
            <a:ext cx="441271" cy="438146"/>
          </a:xfrm>
          <a:custGeom>
            <a:avLst/>
            <a:gdLst/>
            <a:ahLst/>
            <a:cxnLst/>
            <a:rect r="r" b="b" t="t" l="l"/>
            <a:pathLst>
              <a:path h="438146" w="441271">
                <a:moveTo>
                  <a:pt x="0" y="0"/>
                </a:moveTo>
                <a:lnTo>
                  <a:pt x="441271" y="0"/>
                </a:lnTo>
                <a:lnTo>
                  <a:pt x="441271" y="438146"/>
                </a:lnTo>
                <a:lnTo>
                  <a:pt x="0" y="4381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330189" y="2863078"/>
            <a:ext cx="441271" cy="438146"/>
          </a:xfrm>
          <a:custGeom>
            <a:avLst/>
            <a:gdLst/>
            <a:ahLst/>
            <a:cxnLst/>
            <a:rect r="r" b="b" t="t" l="l"/>
            <a:pathLst>
              <a:path h="438146" w="441271">
                <a:moveTo>
                  <a:pt x="0" y="0"/>
                </a:moveTo>
                <a:lnTo>
                  <a:pt x="441272" y="0"/>
                </a:lnTo>
                <a:lnTo>
                  <a:pt x="441272" y="438146"/>
                </a:lnTo>
                <a:lnTo>
                  <a:pt x="0" y="4381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14854" y="8730315"/>
            <a:ext cx="1031331" cy="1055971"/>
          </a:xfrm>
          <a:custGeom>
            <a:avLst/>
            <a:gdLst/>
            <a:ahLst/>
            <a:cxnLst/>
            <a:rect r="r" b="b" t="t" l="l"/>
            <a:pathLst>
              <a:path h="1055971" w="1031331">
                <a:moveTo>
                  <a:pt x="0" y="0"/>
                </a:moveTo>
                <a:lnTo>
                  <a:pt x="1031332" y="0"/>
                </a:lnTo>
                <a:lnTo>
                  <a:pt x="1031332" y="1055970"/>
                </a:lnTo>
                <a:lnTo>
                  <a:pt x="0" y="10559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628867" y="2200413"/>
            <a:ext cx="1260866" cy="1282780"/>
          </a:xfrm>
          <a:custGeom>
            <a:avLst/>
            <a:gdLst/>
            <a:ahLst/>
            <a:cxnLst/>
            <a:rect r="r" b="b" t="t" l="l"/>
            <a:pathLst>
              <a:path h="1282780" w="1260866">
                <a:moveTo>
                  <a:pt x="0" y="0"/>
                </a:moveTo>
                <a:lnTo>
                  <a:pt x="1260866" y="0"/>
                </a:lnTo>
                <a:lnTo>
                  <a:pt x="1260866" y="1282780"/>
                </a:lnTo>
                <a:lnTo>
                  <a:pt x="0" y="12827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25550" y="1237753"/>
            <a:ext cx="6451158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FFFFFF"/>
                </a:solidFill>
                <a:latin typeface="Nunito Sans Ultra-Bold"/>
                <a:ea typeface="Nunito Sans Ultra-Bold"/>
                <a:cs typeface="Nunito Sans Ultra-Bold"/>
                <a:sym typeface="Nunito Sans Ultra-Bold"/>
              </a:rPr>
              <a:t>NeurstrucEnergy: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76708" y="1237753"/>
            <a:ext cx="9482592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FFFFFF"/>
                </a:solidFill>
                <a:latin typeface="Nunito Sans Light"/>
                <a:ea typeface="Nunito Sans Light"/>
                <a:cs typeface="Nunito Sans Light"/>
                <a:sym typeface="Nunito Sans Light"/>
              </a:rPr>
              <a:t>Strengths &amp; L</a:t>
            </a:r>
            <a:r>
              <a:rPr lang="en-US" sz="5600">
                <a:solidFill>
                  <a:srgbClr val="FFFFFF"/>
                </a:solidFill>
                <a:latin typeface="Nunito Sans Light"/>
                <a:ea typeface="Nunito Sans Light"/>
                <a:cs typeface="Nunito Sans Light"/>
                <a:sym typeface="Nunito Sans Light"/>
              </a:rPr>
              <a:t>imitations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66594" y="3253599"/>
            <a:ext cx="6822745" cy="558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True A Priori: Predicts from blueprint alone. Closest to our approach in philosophy.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Graph Encoding: Captures topology. Same layers, different connections = different predictions.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Random Training Data: 10¹³⁵+ random architectures. Forces general patterns. 4.83% on unseen CNNs.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Destroys Per-Layer Models: NeuralPower: 85–114% error on unfamiliar data. Validates need for structural ML.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Hardware Watt-Meter: External power met</a:t>
            </a: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er (SU-201), not software. Ground-truth on Jetson Nano.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67001" y="3253599"/>
            <a:ext cx="6974288" cy="598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Inference Only: Single forward pass. Training = forward + backward + gradients. Completely different workload.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IoT Devices Only: Jetson Nano (5–10W). V100 = 300W, A100 = 400W. Different power profiles entirely.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Small Dataset: Random but small CNNs. Not validated on BUTTER-E (63K) or EC-NAS (423K).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CNNs Only: No MLPs, Transformers, RNNs. No cross-architecture family testing.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No Hardware Transfer: Authors list cross-platform as future work. Jetson model can’t predict for V100.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2318128" y="2784653"/>
            <a:ext cx="518346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Where </a:t>
            </a:r>
            <a:r>
              <a:rPr lang="en-US" sz="3000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It Shines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18534" y="2784653"/>
            <a:ext cx="536868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Wher</a:t>
            </a:r>
            <a:r>
              <a:rPr lang="en-US" sz="3000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e It Falls Short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25550" y="525855"/>
            <a:ext cx="450692" cy="45069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71778" y="0"/>
                  </a:moveTo>
                  <a:lnTo>
                    <a:pt x="641022" y="0"/>
                  </a:lnTo>
                  <a:cubicBezTo>
                    <a:pt x="735892" y="0"/>
                    <a:pt x="812800" y="76908"/>
                    <a:pt x="812800" y="171778"/>
                  </a:cubicBezTo>
                  <a:lnTo>
                    <a:pt x="812800" y="641022"/>
                  </a:lnTo>
                  <a:cubicBezTo>
                    <a:pt x="812800" y="735892"/>
                    <a:pt x="735892" y="812800"/>
                    <a:pt x="641022" y="812800"/>
                  </a:cubicBezTo>
                  <a:lnTo>
                    <a:pt x="171778" y="812800"/>
                  </a:lnTo>
                  <a:cubicBezTo>
                    <a:pt x="76908" y="812800"/>
                    <a:pt x="0" y="735892"/>
                    <a:pt x="0" y="641022"/>
                  </a:cubicBezTo>
                  <a:lnTo>
                    <a:pt x="0" y="171778"/>
                  </a:lnTo>
                  <a:cubicBezTo>
                    <a:pt x="0" y="76908"/>
                    <a:pt x="76908" y="0"/>
                    <a:pt x="171778" y="0"/>
                  </a:cubicBezTo>
                  <a:close/>
                </a:path>
              </a:pathLst>
            </a:custGeom>
            <a:blipFill>
              <a:blip r:embed="rId7"/>
              <a:stretch>
                <a:fillRect l="-35556" t="0" r="-3111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878023" y="534031"/>
            <a:ext cx="786537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University of Ghana | Computer Science Department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D185B">
                <a:alpha val="100000"/>
              </a:srgbClr>
            </a:gs>
            <a:gs pos="100000">
              <a:srgbClr val="310C3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5400000">
            <a:off x="9994714" y="7101603"/>
            <a:ext cx="7121203" cy="10681805"/>
          </a:xfrm>
          <a:custGeom>
            <a:avLst/>
            <a:gdLst/>
            <a:ahLst/>
            <a:cxnLst/>
            <a:rect r="r" b="b" t="t" l="l"/>
            <a:pathLst>
              <a:path h="10681805" w="7121203">
                <a:moveTo>
                  <a:pt x="7121203" y="10681805"/>
                </a:moveTo>
                <a:lnTo>
                  <a:pt x="0" y="10681805"/>
                </a:lnTo>
                <a:lnTo>
                  <a:pt x="0" y="0"/>
                </a:lnTo>
                <a:lnTo>
                  <a:pt x="7121203" y="0"/>
                </a:lnTo>
                <a:lnTo>
                  <a:pt x="7121203" y="10681805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5400000">
            <a:off x="2686200" y="-7578025"/>
            <a:ext cx="7121203" cy="10681805"/>
          </a:xfrm>
          <a:custGeom>
            <a:avLst/>
            <a:gdLst/>
            <a:ahLst/>
            <a:cxnLst/>
            <a:rect r="r" b="b" t="t" l="l"/>
            <a:pathLst>
              <a:path h="10681805" w="7121203">
                <a:moveTo>
                  <a:pt x="7121203" y="10681804"/>
                </a:moveTo>
                <a:lnTo>
                  <a:pt x="0" y="10681804"/>
                </a:lnTo>
                <a:lnTo>
                  <a:pt x="0" y="0"/>
                </a:lnTo>
                <a:lnTo>
                  <a:pt x="7121203" y="0"/>
                </a:lnTo>
                <a:lnTo>
                  <a:pt x="7121203" y="10681804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400000">
            <a:off x="-5383420" y="5673355"/>
            <a:ext cx="7121203" cy="10681805"/>
          </a:xfrm>
          <a:custGeom>
            <a:avLst/>
            <a:gdLst/>
            <a:ahLst/>
            <a:cxnLst/>
            <a:rect r="r" b="b" t="t" l="l"/>
            <a:pathLst>
              <a:path h="10681805" w="7121203">
                <a:moveTo>
                  <a:pt x="7121203" y="0"/>
                </a:moveTo>
                <a:lnTo>
                  <a:pt x="0" y="0"/>
                </a:lnTo>
                <a:lnTo>
                  <a:pt x="0" y="10681805"/>
                </a:lnTo>
                <a:lnTo>
                  <a:pt x="7121203" y="10681805"/>
                </a:lnTo>
                <a:lnTo>
                  <a:pt x="7121203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5400000">
            <a:off x="-2697390" y="-6430709"/>
            <a:ext cx="7121203" cy="10681805"/>
          </a:xfrm>
          <a:custGeom>
            <a:avLst/>
            <a:gdLst/>
            <a:ahLst/>
            <a:cxnLst/>
            <a:rect r="r" b="b" t="t" l="l"/>
            <a:pathLst>
              <a:path h="10681805" w="7121203">
                <a:moveTo>
                  <a:pt x="7121203" y="0"/>
                </a:moveTo>
                <a:lnTo>
                  <a:pt x="0" y="0"/>
                </a:lnTo>
                <a:lnTo>
                  <a:pt x="0" y="10681804"/>
                </a:lnTo>
                <a:lnTo>
                  <a:pt x="7121203" y="10681804"/>
                </a:lnTo>
                <a:lnTo>
                  <a:pt x="7121203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332618" y="-5079170"/>
            <a:ext cx="11161226" cy="11161226"/>
          </a:xfrm>
          <a:custGeom>
            <a:avLst/>
            <a:gdLst/>
            <a:ahLst/>
            <a:cxnLst/>
            <a:rect r="r" b="b" t="t" l="l"/>
            <a:pathLst>
              <a:path h="11161226" w="11161226">
                <a:moveTo>
                  <a:pt x="0" y="0"/>
                </a:moveTo>
                <a:lnTo>
                  <a:pt x="11161226" y="0"/>
                </a:lnTo>
                <a:lnTo>
                  <a:pt x="11161226" y="11161226"/>
                </a:lnTo>
                <a:lnTo>
                  <a:pt x="0" y="111612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256446" y="6598423"/>
            <a:ext cx="11161226" cy="11161226"/>
          </a:xfrm>
          <a:custGeom>
            <a:avLst/>
            <a:gdLst/>
            <a:ahLst/>
            <a:cxnLst/>
            <a:rect r="r" b="b" t="t" l="l"/>
            <a:pathLst>
              <a:path h="11161226" w="11161226">
                <a:moveTo>
                  <a:pt x="0" y="0"/>
                </a:moveTo>
                <a:lnTo>
                  <a:pt x="11161226" y="0"/>
                </a:lnTo>
                <a:lnTo>
                  <a:pt x="11161226" y="11161227"/>
                </a:lnTo>
                <a:lnTo>
                  <a:pt x="0" y="111612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97811" y="2264554"/>
            <a:ext cx="16357750" cy="1307169"/>
            <a:chOff x="0" y="0"/>
            <a:chExt cx="4308214" cy="3442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08214" cy="344275"/>
            </a:xfrm>
            <a:custGeom>
              <a:avLst/>
              <a:gdLst/>
              <a:ahLst/>
              <a:cxnLst/>
              <a:rect r="r" b="b" t="t" l="l"/>
              <a:pathLst>
                <a:path h="344275" w="4308214">
                  <a:moveTo>
                    <a:pt x="27924" y="0"/>
                  </a:moveTo>
                  <a:lnTo>
                    <a:pt x="4280290" y="0"/>
                  </a:lnTo>
                  <a:cubicBezTo>
                    <a:pt x="4295712" y="0"/>
                    <a:pt x="4308214" y="12502"/>
                    <a:pt x="4308214" y="27924"/>
                  </a:cubicBezTo>
                  <a:lnTo>
                    <a:pt x="4308214" y="316351"/>
                  </a:lnTo>
                  <a:cubicBezTo>
                    <a:pt x="4308214" y="331773"/>
                    <a:pt x="4295712" y="344275"/>
                    <a:pt x="4280290" y="344275"/>
                  </a:cubicBezTo>
                  <a:lnTo>
                    <a:pt x="27924" y="344275"/>
                  </a:lnTo>
                  <a:cubicBezTo>
                    <a:pt x="12502" y="344275"/>
                    <a:pt x="0" y="331773"/>
                    <a:pt x="0" y="316351"/>
                  </a:cubicBezTo>
                  <a:lnTo>
                    <a:pt x="0" y="27924"/>
                  </a:lnTo>
                  <a:cubicBezTo>
                    <a:pt x="0" y="12502"/>
                    <a:pt x="12502" y="0"/>
                    <a:pt x="2792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AD4FF">
                    <a:alpha val="25000"/>
                  </a:srgbClr>
                </a:gs>
                <a:gs pos="100000">
                  <a:srgbClr val="F103EA">
                    <a:alpha val="25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308214" cy="382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7811" y="4030893"/>
            <a:ext cx="16357750" cy="1307169"/>
            <a:chOff x="0" y="0"/>
            <a:chExt cx="4308214" cy="3442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308214" cy="344275"/>
            </a:xfrm>
            <a:custGeom>
              <a:avLst/>
              <a:gdLst/>
              <a:ahLst/>
              <a:cxnLst/>
              <a:rect r="r" b="b" t="t" l="l"/>
              <a:pathLst>
                <a:path h="344275" w="4308214">
                  <a:moveTo>
                    <a:pt x="27924" y="0"/>
                  </a:moveTo>
                  <a:lnTo>
                    <a:pt x="4280290" y="0"/>
                  </a:lnTo>
                  <a:cubicBezTo>
                    <a:pt x="4295712" y="0"/>
                    <a:pt x="4308214" y="12502"/>
                    <a:pt x="4308214" y="27924"/>
                  </a:cubicBezTo>
                  <a:lnTo>
                    <a:pt x="4308214" y="316351"/>
                  </a:lnTo>
                  <a:cubicBezTo>
                    <a:pt x="4308214" y="331773"/>
                    <a:pt x="4295712" y="344275"/>
                    <a:pt x="4280290" y="344275"/>
                  </a:cubicBezTo>
                  <a:lnTo>
                    <a:pt x="27924" y="344275"/>
                  </a:lnTo>
                  <a:cubicBezTo>
                    <a:pt x="12502" y="344275"/>
                    <a:pt x="0" y="331773"/>
                    <a:pt x="0" y="316351"/>
                  </a:cubicBezTo>
                  <a:lnTo>
                    <a:pt x="0" y="27924"/>
                  </a:lnTo>
                  <a:cubicBezTo>
                    <a:pt x="0" y="12502"/>
                    <a:pt x="12502" y="0"/>
                    <a:pt x="2792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AD4FF">
                    <a:alpha val="25000"/>
                  </a:srgbClr>
                </a:gs>
                <a:gs pos="100000">
                  <a:srgbClr val="F103EA">
                    <a:alpha val="25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308214" cy="382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97811" y="5802814"/>
            <a:ext cx="16357750" cy="1307169"/>
            <a:chOff x="0" y="0"/>
            <a:chExt cx="4308214" cy="3442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08214" cy="344275"/>
            </a:xfrm>
            <a:custGeom>
              <a:avLst/>
              <a:gdLst/>
              <a:ahLst/>
              <a:cxnLst/>
              <a:rect r="r" b="b" t="t" l="l"/>
              <a:pathLst>
                <a:path h="344275" w="4308214">
                  <a:moveTo>
                    <a:pt x="27924" y="0"/>
                  </a:moveTo>
                  <a:lnTo>
                    <a:pt x="4280290" y="0"/>
                  </a:lnTo>
                  <a:cubicBezTo>
                    <a:pt x="4295712" y="0"/>
                    <a:pt x="4308214" y="12502"/>
                    <a:pt x="4308214" y="27924"/>
                  </a:cubicBezTo>
                  <a:lnTo>
                    <a:pt x="4308214" y="316351"/>
                  </a:lnTo>
                  <a:cubicBezTo>
                    <a:pt x="4308214" y="331773"/>
                    <a:pt x="4295712" y="344275"/>
                    <a:pt x="4280290" y="344275"/>
                  </a:cubicBezTo>
                  <a:lnTo>
                    <a:pt x="27924" y="344275"/>
                  </a:lnTo>
                  <a:cubicBezTo>
                    <a:pt x="12502" y="344275"/>
                    <a:pt x="0" y="331773"/>
                    <a:pt x="0" y="316351"/>
                  </a:cubicBezTo>
                  <a:lnTo>
                    <a:pt x="0" y="27924"/>
                  </a:lnTo>
                  <a:cubicBezTo>
                    <a:pt x="0" y="12502"/>
                    <a:pt x="12502" y="0"/>
                    <a:pt x="2792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AD4FF">
                    <a:alpha val="25000"/>
                  </a:srgbClr>
                </a:gs>
                <a:gs pos="100000">
                  <a:srgbClr val="F103EA">
                    <a:alpha val="25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308214" cy="382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97811" y="7574735"/>
            <a:ext cx="16357750" cy="1307169"/>
            <a:chOff x="0" y="0"/>
            <a:chExt cx="4308214" cy="3442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308214" cy="344275"/>
            </a:xfrm>
            <a:custGeom>
              <a:avLst/>
              <a:gdLst/>
              <a:ahLst/>
              <a:cxnLst/>
              <a:rect r="r" b="b" t="t" l="l"/>
              <a:pathLst>
                <a:path h="344275" w="4308214">
                  <a:moveTo>
                    <a:pt x="27924" y="0"/>
                  </a:moveTo>
                  <a:lnTo>
                    <a:pt x="4280290" y="0"/>
                  </a:lnTo>
                  <a:cubicBezTo>
                    <a:pt x="4295712" y="0"/>
                    <a:pt x="4308214" y="12502"/>
                    <a:pt x="4308214" y="27924"/>
                  </a:cubicBezTo>
                  <a:lnTo>
                    <a:pt x="4308214" y="316351"/>
                  </a:lnTo>
                  <a:cubicBezTo>
                    <a:pt x="4308214" y="331773"/>
                    <a:pt x="4295712" y="344275"/>
                    <a:pt x="4280290" y="344275"/>
                  </a:cubicBezTo>
                  <a:lnTo>
                    <a:pt x="27924" y="344275"/>
                  </a:lnTo>
                  <a:cubicBezTo>
                    <a:pt x="12502" y="344275"/>
                    <a:pt x="0" y="331773"/>
                    <a:pt x="0" y="316351"/>
                  </a:cubicBezTo>
                  <a:lnTo>
                    <a:pt x="0" y="27924"/>
                  </a:lnTo>
                  <a:cubicBezTo>
                    <a:pt x="0" y="12502"/>
                    <a:pt x="12502" y="0"/>
                    <a:pt x="2792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AD4FF">
                    <a:alpha val="25000"/>
                  </a:srgbClr>
                </a:gs>
                <a:gs pos="100000">
                  <a:srgbClr val="F103EA">
                    <a:alpha val="25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308214" cy="382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35383" y="2647110"/>
            <a:ext cx="542057" cy="54205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C4E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35383" y="6185370"/>
            <a:ext cx="542057" cy="542057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C4E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35966" y="4416240"/>
            <a:ext cx="542057" cy="542057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C4E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35383" y="7957708"/>
            <a:ext cx="542057" cy="542057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C4E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325550" y="1237753"/>
            <a:ext cx="6293848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FFFFFF"/>
                </a:solidFill>
                <a:latin typeface="Nunito Sans Ultra-Bold"/>
                <a:ea typeface="Nunito Sans Ultra-Bold"/>
                <a:cs typeface="Nunito Sans Ultra-Bold"/>
                <a:sym typeface="Nunito Sans Ultra-Bold"/>
              </a:rPr>
              <a:t>NeurstrucEnergy: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619398" y="1237753"/>
            <a:ext cx="7015026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FFFFFF"/>
                </a:solidFill>
                <a:latin typeface="Nunito Sans Light"/>
                <a:ea typeface="Nunito Sans Light"/>
                <a:cs typeface="Nunito Sans Light"/>
                <a:sym typeface="Nunito Sans Light"/>
              </a:rPr>
              <a:t>What We Learned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196467" y="2491336"/>
            <a:ext cx="4050334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Tab</a:t>
            </a:r>
            <a:r>
              <a:rPr lang="en-US" sz="24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ular features have a blind spot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152616" y="2421803"/>
            <a:ext cx="9944794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Two ne</a:t>
            </a:r>
            <a:r>
              <a:rPr lang="en-US" sz="18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tworks can have identical size, depth, width but different connections — and different energy. Our tabular approach would predict the same for both. Honest limitation we must acknowledge and address.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152616" y="4223067"/>
            <a:ext cx="9944794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Bi-directional GNN captures structural patterns tha</a:t>
            </a:r>
            <a:r>
              <a:rPr lang="en-US" sz="18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t per-layer and tabular methods miss. EC-NAS already provides adjacency matrices. A GNN model is a feasible extension of our framework.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152616" y="5985763"/>
            <a:ext cx="9944794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Their 10¹³⁵ random a</a:t>
            </a:r>
            <a:r>
              <a:rPr lang="en-US" sz="18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rchitectures forced general pattern learning. BUTTER-E’s 30,582 configs across 8 shapes give us similar diversity — a strength we should emphasize.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152616" y="7716726"/>
            <a:ext cx="9944794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NeuralPower collaps</a:t>
            </a:r>
            <a:r>
              <a:rPr lang="en-US" sz="18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ed from 20–36% to 85–114% on unfamiliar data. Strongest evidence yet that ML trained on diverse data is necessary. Supports our core argument.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196467" y="4292600"/>
            <a:ext cx="4665180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Graph</a:t>
            </a:r>
            <a:r>
              <a:rPr lang="en-US" sz="24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 encoding is the future direction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196467" y="6011899"/>
            <a:ext cx="4665180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Div</a:t>
            </a:r>
            <a:r>
              <a:rPr lang="en-US" sz="24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erse training data improves generalization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196467" y="7786258"/>
            <a:ext cx="4665180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Per-</a:t>
            </a:r>
            <a:r>
              <a:rPr lang="en-US" sz="24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layer models are definitively broken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325550" y="525855"/>
            <a:ext cx="450692" cy="450692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71778" y="0"/>
                  </a:moveTo>
                  <a:lnTo>
                    <a:pt x="641022" y="0"/>
                  </a:lnTo>
                  <a:cubicBezTo>
                    <a:pt x="735892" y="0"/>
                    <a:pt x="812800" y="76908"/>
                    <a:pt x="812800" y="171778"/>
                  </a:cubicBezTo>
                  <a:lnTo>
                    <a:pt x="812800" y="641022"/>
                  </a:lnTo>
                  <a:cubicBezTo>
                    <a:pt x="812800" y="735892"/>
                    <a:pt x="735892" y="812800"/>
                    <a:pt x="641022" y="812800"/>
                  </a:cubicBezTo>
                  <a:lnTo>
                    <a:pt x="171778" y="812800"/>
                  </a:lnTo>
                  <a:cubicBezTo>
                    <a:pt x="76908" y="812800"/>
                    <a:pt x="0" y="735892"/>
                    <a:pt x="0" y="641022"/>
                  </a:cubicBezTo>
                  <a:lnTo>
                    <a:pt x="0" y="171778"/>
                  </a:lnTo>
                  <a:cubicBezTo>
                    <a:pt x="0" y="76908"/>
                    <a:pt x="76908" y="0"/>
                    <a:pt x="171778" y="0"/>
                  </a:cubicBezTo>
                  <a:close/>
                </a:path>
              </a:pathLst>
            </a:custGeom>
            <a:blipFill>
              <a:blip r:embed="rId4"/>
              <a:stretch>
                <a:fillRect l="-35556" t="0" r="-31110" b="0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878023" y="534031"/>
            <a:ext cx="786537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University of Ghana | Computer Science Department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44797" y="2700969"/>
            <a:ext cx="12323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gradFill>
                  <a:gsLst>
                    <a:gs pos="0">
                      <a:srgbClr val="1D185B">
                        <a:alpha val="100000"/>
                      </a:srgbClr>
                    </a:gs>
                    <a:gs pos="100000">
                      <a:srgbClr val="310C3B">
                        <a:alpha val="100000"/>
                      </a:srgbClr>
                    </a:gs>
                  </a:gsLst>
                  <a:lin ang="2700000"/>
                </a:gradFill>
                <a:latin typeface="Alexandria Bold"/>
                <a:ea typeface="Alexandria Bold"/>
                <a:cs typeface="Alexandria Bold"/>
                <a:sym typeface="Alexandria Bold"/>
              </a:rPr>
              <a:t>1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514139" y="4476599"/>
            <a:ext cx="184547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gradFill>
                  <a:gsLst>
                    <a:gs pos="0">
                      <a:srgbClr val="1D185B">
                        <a:alpha val="100000"/>
                      </a:srgbClr>
                    </a:gs>
                    <a:gs pos="100000">
                      <a:srgbClr val="310C3B">
                        <a:alpha val="100000"/>
                      </a:srgbClr>
                    </a:gs>
                  </a:gsLst>
                  <a:lin ang="2700000"/>
                </a:gradFill>
                <a:latin typeface="Alexandria Bold"/>
                <a:ea typeface="Alexandria Bold"/>
                <a:cs typeface="Alexandria Bold"/>
                <a:sym typeface="Alexandria Bold"/>
              </a:rPr>
              <a:t>2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514511" y="6239229"/>
            <a:ext cx="18380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gradFill>
                  <a:gsLst>
                    <a:gs pos="0">
                      <a:srgbClr val="1D185B">
                        <a:alpha val="100000"/>
                      </a:srgbClr>
                    </a:gs>
                    <a:gs pos="100000">
                      <a:srgbClr val="310C3B">
                        <a:alpha val="100000"/>
                      </a:srgbClr>
                    </a:gs>
                  </a:gsLst>
                  <a:lin ang="2700000"/>
                </a:gradFill>
                <a:latin typeface="Alexandria Bold"/>
                <a:ea typeface="Alexandria Bold"/>
                <a:cs typeface="Alexandria Bold"/>
                <a:sym typeface="Alexandria Bold"/>
              </a:rPr>
              <a:t>3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513841" y="8014858"/>
            <a:ext cx="18514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gradFill>
                  <a:gsLst>
                    <a:gs pos="0">
                      <a:srgbClr val="1D185B">
                        <a:alpha val="100000"/>
                      </a:srgbClr>
                    </a:gs>
                    <a:gs pos="100000">
                      <a:srgbClr val="310C3B">
                        <a:alpha val="100000"/>
                      </a:srgbClr>
                    </a:gs>
                  </a:gsLst>
                  <a:lin ang="2700000"/>
                </a:gradFill>
                <a:latin typeface="Alexandria Bold"/>
                <a:ea typeface="Alexandria Bold"/>
                <a:cs typeface="Alexandria Bold"/>
                <a:sym typeface="Alexandria Bold"/>
              </a:rPr>
              <a:t>4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D185B">
                <a:alpha val="100000"/>
              </a:srgbClr>
            </a:gs>
            <a:gs pos="100000">
              <a:srgbClr val="310C3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10935555" y="5822448"/>
            <a:ext cx="7121203" cy="10681805"/>
          </a:xfrm>
          <a:custGeom>
            <a:avLst/>
            <a:gdLst/>
            <a:ahLst/>
            <a:cxnLst/>
            <a:rect r="r" b="b" t="t" l="l"/>
            <a:pathLst>
              <a:path h="10681805" w="7121203">
                <a:moveTo>
                  <a:pt x="0" y="10681805"/>
                </a:moveTo>
                <a:lnTo>
                  <a:pt x="7121203" y="10681805"/>
                </a:lnTo>
                <a:lnTo>
                  <a:pt x="7121203" y="0"/>
                </a:lnTo>
                <a:lnTo>
                  <a:pt x="0" y="0"/>
                </a:lnTo>
                <a:lnTo>
                  <a:pt x="0" y="10681805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16551465" y="-2474530"/>
            <a:ext cx="7121203" cy="10681805"/>
          </a:xfrm>
          <a:custGeom>
            <a:avLst/>
            <a:gdLst/>
            <a:ahLst/>
            <a:cxnLst/>
            <a:rect r="r" b="b" t="t" l="l"/>
            <a:pathLst>
              <a:path h="10681805" w="7121203">
                <a:moveTo>
                  <a:pt x="0" y="10681804"/>
                </a:moveTo>
                <a:lnTo>
                  <a:pt x="7121203" y="10681804"/>
                </a:lnTo>
                <a:lnTo>
                  <a:pt x="7121203" y="0"/>
                </a:lnTo>
                <a:lnTo>
                  <a:pt x="0" y="0"/>
                </a:lnTo>
                <a:lnTo>
                  <a:pt x="0" y="10681804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400000">
            <a:off x="-2697390" y="-6430709"/>
            <a:ext cx="7121203" cy="10681805"/>
          </a:xfrm>
          <a:custGeom>
            <a:avLst/>
            <a:gdLst/>
            <a:ahLst/>
            <a:cxnLst/>
            <a:rect r="r" b="b" t="t" l="l"/>
            <a:pathLst>
              <a:path h="10681805" w="7121203">
                <a:moveTo>
                  <a:pt x="7121203" y="0"/>
                </a:moveTo>
                <a:lnTo>
                  <a:pt x="0" y="0"/>
                </a:lnTo>
                <a:lnTo>
                  <a:pt x="0" y="10681804"/>
                </a:lnTo>
                <a:lnTo>
                  <a:pt x="7121203" y="10681804"/>
                </a:lnTo>
                <a:lnTo>
                  <a:pt x="7121203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332618" y="-5079170"/>
            <a:ext cx="11161226" cy="11161226"/>
          </a:xfrm>
          <a:custGeom>
            <a:avLst/>
            <a:gdLst/>
            <a:ahLst/>
            <a:cxnLst/>
            <a:rect r="r" b="b" t="t" l="l"/>
            <a:pathLst>
              <a:path h="11161226" w="11161226">
                <a:moveTo>
                  <a:pt x="0" y="0"/>
                </a:moveTo>
                <a:lnTo>
                  <a:pt x="11161226" y="0"/>
                </a:lnTo>
                <a:lnTo>
                  <a:pt x="11161226" y="11161226"/>
                </a:lnTo>
                <a:lnTo>
                  <a:pt x="0" y="111612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256446" y="6598423"/>
            <a:ext cx="11161226" cy="11161226"/>
          </a:xfrm>
          <a:custGeom>
            <a:avLst/>
            <a:gdLst/>
            <a:ahLst/>
            <a:cxnLst/>
            <a:rect r="r" b="b" t="t" l="l"/>
            <a:pathLst>
              <a:path h="11161226" w="11161226">
                <a:moveTo>
                  <a:pt x="0" y="0"/>
                </a:moveTo>
                <a:lnTo>
                  <a:pt x="11161226" y="0"/>
                </a:lnTo>
                <a:lnTo>
                  <a:pt x="11161226" y="11161227"/>
                </a:lnTo>
                <a:lnTo>
                  <a:pt x="0" y="111612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366945" y="3434351"/>
            <a:ext cx="5197787" cy="5985244"/>
            <a:chOff x="0" y="0"/>
            <a:chExt cx="1934557" cy="2227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34558" cy="2227640"/>
            </a:xfrm>
            <a:custGeom>
              <a:avLst/>
              <a:gdLst/>
              <a:ahLst/>
              <a:cxnLst/>
              <a:rect r="r" b="b" t="t" l="l"/>
              <a:pathLst>
                <a:path h="2227640" w="1934558">
                  <a:moveTo>
                    <a:pt x="1833071" y="0"/>
                  </a:moveTo>
                  <a:lnTo>
                    <a:pt x="993437" y="0"/>
                  </a:lnTo>
                  <a:cubicBezTo>
                    <a:pt x="937388" y="0"/>
                    <a:pt x="891952" y="45437"/>
                    <a:pt x="891952" y="101486"/>
                  </a:cubicBezTo>
                  <a:lnTo>
                    <a:pt x="891952" y="494266"/>
                  </a:lnTo>
                  <a:cubicBezTo>
                    <a:pt x="891952" y="521182"/>
                    <a:pt x="881260" y="546996"/>
                    <a:pt x="862228" y="566028"/>
                  </a:cubicBezTo>
                  <a:cubicBezTo>
                    <a:pt x="843195" y="585061"/>
                    <a:pt x="817382" y="595753"/>
                    <a:pt x="790466" y="595753"/>
                  </a:cubicBezTo>
                  <a:lnTo>
                    <a:pt x="101486" y="595753"/>
                  </a:lnTo>
                  <a:cubicBezTo>
                    <a:pt x="74570" y="595753"/>
                    <a:pt x="48757" y="606445"/>
                    <a:pt x="29724" y="625478"/>
                  </a:cubicBezTo>
                  <a:cubicBezTo>
                    <a:pt x="10692" y="644510"/>
                    <a:pt x="0" y="670323"/>
                    <a:pt x="0" y="697239"/>
                  </a:cubicBezTo>
                  <a:lnTo>
                    <a:pt x="0" y="2126154"/>
                  </a:lnTo>
                  <a:cubicBezTo>
                    <a:pt x="0" y="2182203"/>
                    <a:pt x="45437" y="2227640"/>
                    <a:pt x="101486" y="2227640"/>
                  </a:cubicBezTo>
                  <a:lnTo>
                    <a:pt x="1321998" y="2227640"/>
                  </a:lnTo>
                  <a:cubicBezTo>
                    <a:pt x="1378047" y="2227640"/>
                    <a:pt x="1423484" y="2182203"/>
                    <a:pt x="1423484" y="2126154"/>
                  </a:cubicBezTo>
                  <a:lnTo>
                    <a:pt x="1423484" y="986605"/>
                  </a:lnTo>
                  <a:cubicBezTo>
                    <a:pt x="1423484" y="959689"/>
                    <a:pt x="1434176" y="933875"/>
                    <a:pt x="1453208" y="914843"/>
                  </a:cubicBezTo>
                  <a:cubicBezTo>
                    <a:pt x="1472241" y="895811"/>
                    <a:pt x="1498055" y="885119"/>
                    <a:pt x="1524971" y="885119"/>
                  </a:cubicBezTo>
                  <a:lnTo>
                    <a:pt x="1833073" y="885119"/>
                  </a:lnTo>
                  <a:cubicBezTo>
                    <a:pt x="1859989" y="885119"/>
                    <a:pt x="1885802" y="874426"/>
                    <a:pt x="1904834" y="855394"/>
                  </a:cubicBezTo>
                  <a:cubicBezTo>
                    <a:pt x="1923866" y="836361"/>
                    <a:pt x="1934559" y="810548"/>
                    <a:pt x="1934558" y="783632"/>
                  </a:cubicBezTo>
                  <a:lnTo>
                    <a:pt x="1934558" y="101486"/>
                  </a:lnTo>
                  <a:cubicBezTo>
                    <a:pt x="1934558" y="74570"/>
                    <a:pt x="1923866" y="48756"/>
                    <a:pt x="1904833" y="29724"/>
                  </a:cubicBezTo>
                  <a:cubicBezTo>
                    <a:pt x="1885801" y="10692"/>
                    <a:pt x="1859987" y="0"/>
                    <a:pt x="1833071" y="0"/>
                  </a:cubicBezTo>
                  <a:close/>
                </a:path>
              </a:pathLst>
            </a:custGeom>
            <a:blipFill>
              <a:blip r:embed="rId4"/>
              <a:stretch>
                <a:fillRect l="-58614" t="0" r="-13894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25550" y="3434351"/>
            <a:ext cx="2121676" cy="1307795"/>
            <a:chOff x="0" y="0"/>
            <a:chExt cx="360410" cy="22215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0410" cy="222156"/>
            </a:xfrm>
            <a:custGeom>
              <a:avLst/>
              <a:gdLst/>
              <a:ahLst/>
              <a:cxnLst/>
              <a:rect r="r" b="b" t="t" l="l"/>
              <a:pathLst>
                <a:path h="222156" w="360410">
                  <a:moveTo>
                    <a:pt x="83926" y="0"/>
                  </a:moveTo>
                  <a:lnTo>
                    <a:pt x="276484" y="0"/>
                  </a:lnTo>
                  <a:cubicBezTo>
                    <a:pt x="322835" y="0"/>
                    <a:pt x="360410" y="37575"/>
                    <a:pt x="360410" y="83926"/>
                  </a:cubicBezTo>
                  <a:lnTo>
                    <a:pt x="360410" y="138230"/>
                  </a:lnTo>
                  <a:cubicBezTo>
                    <a:pt x="360410" y="160488"/>
                    <a:pt x="351568" y="181835"/>
                    <a:pt x="335829" y="197574"/>
                  </a:cubicBezTo>
                  <a:cubicBezTo>
                    <a:pt x="320090" y="213314"/>
                    <a:pt x="298743" y="222156"/>
                    <a:pt x="276484" y="222156"/>
                  </a:cubicBezTo>
                  <a:lnTo>
                    <a:pt x="83926" y="222156"/>
                  </a:lnTo>
                  <a:cubicBezTo>
                    <a:pt x="61668" y="222156"/>
                    <a:pt x="40321" y="213314"/>
                    <a:pt x="24581" y="197574"/>
                  </a:cubicBezTo>
                  <a:cubicBezTo>
                    <a:pt x="8842" y="181835"/>
                    <a:pt x="0" y="160488"/>
                    <a:pt x="0" y="138230"/>
                  </a:cubicBezTo>
                  <a:lnTo>
                    <a:pt x="0" y="83926"/>
                  </a:lnTo>
                  <a:cubicBezTo>
                    <a:pt x="0" y="61668"/>
                    <a:pt x="8842" y="40321"/>
                    <a:pt x="24581" y="24581"/>
                  </a:cubicBezTo>
                  <a:cubicBezTo>
                    <a:pt x="40321" y="8842"/>
                    <a:pt x="61668" y="0"/>
                    <a:pt x="83926" y="0"/>
                  </a:cubicBezTo>
                  <a:close/>
                </a:path>
              </a:pathLst>
            </a:custGeom>
            <a:blipFill>
              <a:blip r:embed="rId4"/>
              <a:stretch>
                <a:fillRect l="-143031" t="0" r="-180469" b="-35861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104155" y="2003954"/>
            <a:ext cx="9155145" cy="1655551"/>
            <a:chOff x="0" y="0"/>
            <a:chExt cx="2411232" cy="4360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11232" cy="436030"/>
            </a:xfrm>
            <a:custGeom>
              <a:avLst/>
              <a:gdLst/>
              <a:ahLst/>
              <a:cxnLst/>
              <a:rect r="r" b="b" t="t" l="l"/>
              <a:pathLst>
                <a:path h="436030" w="2411232">
                  <a:moveTo>
                    <a:pt x="12685" y="0"/>
                  </a:moveTo>
                  <a:lnTo>
                    <a:pt x="2398547" y="0"/>
                  </a:lnTo>
                  <a:cubicBezTo>
                    <a:pt x="2401911" y="0"/>
                    <a:pt x="2405138" y="1336"/>
                    <a:pt x="2407516" y="3715"/>
                  </a:cubicBezTo>
                  <a:cubicBezTo>
                    <a:pt x="2409895" y="6094"/>
                    <a:pt x="2411232" y="9320"/>
                    <a:pt x="2411232" y="12685"/>
                  </a:cubicBezTo>
                  <a:lnTo>
                    <a:pt x="2411232" y="423345"/>
                  </a:lnTo>
                  <a:cubicBezTo>
                    <a:pt x="2411232" y="426709"/>
                    <a:pt x="2409895" y="429936"/>
                    <a:pt x="2407516" y="432315"/>
                  </a:cubicBezTo>
                  <a:cubicBezTo>
                    <a:pt x="2405138" y="434693"/>
                    <a:pt x="2401911" y="436030"/>
                    <a:pt x="2398547" y="436030"/>
                  </a:cubicBezTo>
                  <a:lnTo>
                    <a:pt x="12685" y="436030"/>
                  </a:lnTo>
                  <a:cubicBezTo>
                    <a:pt x="9320" y="436030"/>
                    <a:pt x="6094" y="434693"/>
                    <a:pt x="3715" y="432315"/>
                  </a:cubicBezTo>
                  <a:cubicBezTo>
                    <a:pt x="1336" y="429936"/>
                    <a:pt x="0" y="426709"/>
                    <a:pt x="0" y="423345"/>
                  </a:cubicBezTo>
                  <a:lnTo>
                    <a:pt x="0" y="12685"/>
                  </a:lnTo>
                  <a:cubicBezTo>
                    <a:pt x="0" y="9320"/>
                    <a:pt x="1336" y="6094"/>
                    <a:pt x="3715" y="3715"/>
                  </a:cubicBezTo>
                  <a:cubicBezTo>
                    <a:pt x="6094" y="1336"/>
                    <a:pt x="9320" y="0"/>
                    <a:pt x="1268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34075">
                    <a:alpha val="100000"/>
                  </a:srgbClr>
                </a:gs>
                <a:gs pos="100000">
                  <a:srgbClr val="66446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411232" cy="474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104155" y="7702127"/>
            <a:ext cx="9155145" cy="1917232"/>
            <a:chOff x="0" y="0"/>
            <a:chExt cx="2411232" cy="5049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11232" cy="504950"/>
            </a:xfrm>
            <a:custGeom>
              <a:avLst/>
              <a:gdLst/>
              <a:ahLst/>
              <a:cxnLst/>
              <a:rect r="r" b="b" t="t" l="l"/>
              <a:pathLst>
                <a:path h="504950" w="2411232">
                  <a:moveTo>
                    <a:pt x="12685" y="0"/>
                  </a:moveTo>
                  <a:lnTo>
                    <a:pt x="2398547" y="0"/>
                  </a:lnTo>
                  <a:cubicBezTo>
                    <a:pt x="2401911" y="0"/>
                    <a:pt x="2405138" y="1336"/>
                    <a:pt x="2407516" y="3715"/>
                  </a:cubicBezTo>
                  <a:cubicBezTo>
                    <a:pt x="2409895" y="6094"/>
                    <a:pt x="2411232" y="9320"/>
                    <a:pt x="2411232" y="12685"/>
                  </a:cubicBezTo>
                  <a:lnTo>
                    <a:pt x="2411232" y="492265"/>
                  </a:lnTo>
                  <a:cubicBezTo>
                    <a:pt x="2411232" y="499271"/>
                    <a:pt x="2405553" y="504950"/>
                    <a:pt x="2398547" y="504950"/>
                  </a:cubicBezTo>
                  <a:lnTo>
                    <a:pt x="12685" y="504950"/>
                  </a:lnTo>
                  <a:cubicBezTo>
                    <a:pt x="9320" y="504950"/>
                    <a:pt x="6094" y="503613"/>
                    <a:pt x="3715" y="501235"/>
                  </a:cubicBezTo>
                  <a:cubicBezTo>
                    <a:pt x="1336" y="498856"/>
                    <a:pt x="0" y="495629"/>
                    <a:pt x="0" y="492265"/>
                  </a:cubicBezTo>
                  <a:lnTo>
                    <a:pt x="0" y="12685"/>
                  </a:lnTo>
                  <a:cubicBezTo>
                    <a:pt x="0" y="9320"/>
                    <a:pt x="1336" y="6094"/>
                    <a:pt x="3715" y="3715"/>
                  </a:cubicBezTo>
                  <a:cubicBezTo>
                    <a:pt x="6094" y="1336"/>
                    <a:pt x="9320" y="0"/>
                    <a:pt x="1268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34075">
                    <a:alpha val="100000"/>
                  </a:srgbClr>
                </a:gs>
                <a:gs pos="100000">
                  <a:srgbClr val="66446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411232" cy="543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104155" y="4803352"/>
            <a:ext cx="9155145" cy="1884924"/>
            <a:chOff x="0" y="0"/>
            <a:chExt cx="2411232" cy="49644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11232" cy="496441"/>
            </a:xfrm>
            <a:custGeom>
              <a:avLst/>
              <a:gdLst/>
              <a:ahLst/>
              <a:cxnLst/>
              <a:rect r="r" b="b" t="t" l="l"/>
              <a:pathLst>
                <a:path h="496441" w="2411232">
                  <a:moveTo>
                    <a:pt x="12685" y="0"/>
                  </a:moveTo>
                  <a:lnTo>
                    <a:pt x="2398547" y="0"/>
                  </a:lnTo>
                  <a:cubicBezTo>
                    <a:pt x="2401911" y="0"/>
                    <a:pt x="2405138" y="1336"/>
                    <a:pt x="2407516" y="3715"/>
                  </a:cubicBezTo>
                  <a:cubicBezTo>
                    <a:pt x="2409895" y="6094"/>
                    <a:pt x="2411232" y="9320"/>
                    <a:pt x="2411232" y="12685"/>
                  </a:cubicBezTo>
                  <a:lnTo>
                    <a:pt x="2411232" y="483756"/>
                  </a:lnTo>
                  <a:cubicBezTo>
                    <a:pt x="2411232" y="487121"/>
                    <a:pt x="2409895" y="490347"/>
                    <a:pt x="2407516" y="492726"/>
                  </a:cubicBezTo>
                  <a:cubicBezTo>
                    <a:pt x="2405138" y="495105"/>
                    <a:pt x="2401911" y="496441"/>
                    <a:pt x="2398547" y="496441"/>
                  </a:cubicBezTo>
                  <a:lnTo>
                    <a:pt x="12685" y="496441"/>
                  </a:lnTo>
                  <a:cubicBezTo>
                    <a:pt x="9320" y="496441"/>
                    <a:pt x="6094" y="495105"/>
                    <a:pt x="3715" y="492726"/>
                  </a:cubicBezTo>
                  <a:cubicBezTo>
                    <a:pt x="1336" y="490347"/>
                    <a:pt x="0" y="487121"/>
                    <a:pt x="0" y="483756"/>
                  </a:cubicBezTo>
                  <a:lnTo>
                    <a:pt x="0" y="12685"/>
                  </a:lnTo>
                  <a:cubicBezTo>
                    <a:pt x="0" y="9320"/>
                    <a:pt x="1336" y="6094"/>
                    <a:pt x="3715" y="3715"/>
                  </a:cubicBezTo>
                  <a:cubicBezTo>
                    <a:pt x="6094" y="1336"/>
                    <a:pt x="9320" y="0"/>
                    <a:pt x="1268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34075">
                    <a:alpha val="100000"/>
                  </a:srgbClr>
                </a:gs>
                <a:gs pos="100000">
                  <a:srgbClr val="66446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411232" cy="5345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8104155" y="1373493"/>
            <a:ext cx="489180" cy="437816"/>
          </a:xfrm>
          <a:custGeom>
            <a:avLst/>
            <a:gdLst/>
            <a:ahLst/>
            <a:cxnLst/>
            <a:rect r="r" b="b" t="t" l="l"/>
            <a:pathLst>
              <a:path h="437816" w="489180">
                <a:moveTo>
                  <a:pt x="0" y="0"/>
                </a:moveTo>
                <a:lnTo>
                  <a:pt x="489180" y="0"/>
                </a:lnTo>
                <a:lnTo>
                  <a:pt x="489180" y="437816"/>
                </a:lnTo>
                <a:lnTo>
                  <a:pt x="0" y="4378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104155" y="7071665"/>
            <a:ext cx="489180" cy="437816"/>
          </a:xfrm>
          <a:custGeom>
            <a:avLst/>
            <a:gdLst/>
            <a:ahLst/>
            <a:cxnLst/>
            <a:rect r="r" b="b" t="t" l="l"/>
            <a:pathLst>
              <a:path h="437816" w="489180">
                <a:moveTo>
                  <a:pt x="0" y="0"/>
                </a:moveTo>
                <a:lnTo>
                  <a:pt x="489180" y="0"/>
                </a:lnTo>
                <a:lnTo>
                  <a:pt x="489180" y="437816"/>
                </a:lnTo>
                <a:lnTo>
                  <a:pt x="0" y="4378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104155" y="4172890"/>
            <a:ext cx="489180" cy="437816"/>
          </a:xfrm>
          <a:custGeom>
            <a:avLst/>
            <a:gdLst/>
            <a:ahLst/>
            <a:cxnLst/>
            <a:rect r="r" b="b" t="t" l="l"/>
            <a:pathLst>
              <a:path h="437816" w="489180">
                <a:moveTo>
                  <a:pt x="0" y="0"/>
                </a:moveTo>
                <a:lnTo>
                  <a:pt x="489180" y="0"/>
                </a:lnTo>
                <a:lnTo>
                  <a:pt x="489180" y="437817"/>
                </a:lnTo>
                <a:lnTo>
                  <a:pt x="0" y="4378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709161" y="7534344"/>
            <a:ext cx="1446583" cy="1380884"/>
          </a:xfrm>
          <a:custGeom>
            <a:avLst/>
            <a:gdLst/>
            <a:ahLst/>
            <a:cxnLst/>
            <a:rect r="r" b="b" t="t" l="l"/>
            <a:pathLst>
              <a:path h="1380884" w="1446583">
                <a:moveTo>
                  <a:pt x="0" y="0"/>
                </a:moveTo>
                <a:lnTo>
                  <a:pt x="1446583" y="0"/>
                </a:lnTo>
                <a:lnTo>
                  <a:pt x="1446583" y="1380885"/>
                </a:lnTo>
                <a:lnTo>
                  <a:pt x="0" y="13808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325550" y="1247278"/>
            <a:ext cx="4006131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Nunito Sans Ultra-Bold"/>
                <a:ea typeface="Nunito Sans Ultra-Bold"/>
                <a:cs typeface="Nunito Sans Ultra-Bold"/>
                <a:sym typeface="Nunito Sans Ultra-Bold"/>
              </a:rPr>
              <a:t>Synthesis: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25550" y="2044203"/>
            <a:ext cx="6030266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FFFFFF"/>
                </a:solidFill>
                <a:latin typeface="Nunito Sans Light"/>
                <a:ea typeface="Nunito Sans Light"/>
                <a:cs typeface="Nunito Sans Light"/>
                <a:sym typeface="Nunito Sans Light"/>
              </a:rPr>
              <a:t>Key considerations for building a better energy predictor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401014" y="2147073"/>
            <a:ext cx="8616931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Software sensors underestimate 10–40%. Both confirmed hardware watt-meters are essential. BUTTER-E’s hardware-level data is a genuine advantage over every other approach.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401014" y="7845246"/>
            <a:ext cx="8616931" cy="158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Same layers, different connections = different energy. Our tabular features partially address this (BUTTER-E’s “shape” column). EC-NAS’s graph data enables GNN extension. Acknowledged as limitation and future work.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401014" y="4927299"/>
            <a:ext cx="8616931" cy="158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Best runtime predictor — with second-by-second measurements + 4 epochs — gets 14.3%. Matching this from architecture specs alone would demonstrate that static features are powerful enough.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692500" y="1294903"/>
            <a:ext cx="647671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Me</a:t>
            </a:r>
            <a:r>
              <a:rPr lang="en-US" sz="3200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asurement Quality Matters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692500" y="6993076"/>
            <a:ext cx="746077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T</a:t>
            </a:r>
            <a:r>
              <a:rPr lang="en-US" sz="3200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opology Captures What Tables Miss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692500" y="4094301"/>
            <a:ext cx="647671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14.3% Is th</a:t>
            </a:r>
            <a:r>
              <a:rPr lang="en-US" sz="3200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e Bar With Live Data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325550" y="525855"/>
            <a:ext cx="450692" cy="450692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71778" y="0"/>
                  </a:moveTo>
                  <a:lnTo>
                    <a:pt x="641022" y="0"/>
                  </a:lnTo>
                  <a:cubicBezTo>
                    <a:pt x="735892" y="0"/>
                    <a:pt x="812800" y="76908"/>
                    <a:pt x="812800" y="171778"/>
                  </a:cubicBezTo>
                  <a:lnTo>
                    <a:pt x="812800" y="641022"/>
                  </a:lnTo>
                  <a:cubicBezTo>
                    <a:pt x="812800" y="735892"/>
                    <a:pt x="735892" y="812800"/>
                    <a:pt x="641022" y="812800"/>
                  </a:cubicBezTo>
                  <a:lnTo>
                    <a:pt x="171778" y="812800"/>
                  </a:lnTo>
                  <a:cubicBezTo>
                    <a:pt x="76908" y="812800"/>
                    <a:pt x="0" y="735892"/>
                    <a:pt x="0" y="641022"/>
                  </a:cubicBezTo>
                  <a:lnTo>
                    <a:pt x="0" y="171778"/>
                  </a:lnTo>
                  <a:cubicBezTo>
                    <a:pt x="0" y="76908"/>
                    <a:pt x="76908" y="0"/>
                    <a:pt x="171778" y="0"/>
                  </a:cubicBezTo>
                  <a:close/>
                </a:path>
              </a:pathLst>
            </a:custGeom>
            <a:blipFill>
              <a:blip r:embed="rId7"/>
              <a:stretch>
                <a:fillRect l="-35556" t="0" r="-31110" b="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878023" y="534031"/>
            <a:ext cx="786537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University of Ghana | Computer Science Department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D185B">
                <a:alpha val="100000"/>
              </a:srgbClr>
            </a:gs>
            <a:gs pos="100000">
              <a:srgbClr val="310C3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10935555" y="5822448"/>
            <a:ext cx="7121203" cy="10681805"/>
          </a:xfrm>
          <a:custGeom>
            <a:avLst/>
            <a:gdLst/>
            <a:ahLst/>
            <a:cxnLst/>
            <a:rect r="r" b="b" t="t" l="l"/>
            <a:pathLst>
              <a:path h="10681805" w="7121203">
                <a:moveTo>
                  <a:pt x="0" y="10681805"/>
                </a:moveTo>
                <a:lnTo>
                  <a:pt x="7121203" y="10681805"/>
                </a:lnTo>
                <a:lnTo>
                  <a:pt x="7121203" y="0"/>
                </a:lnTo>
                <a:lnTo>
                  <a:pt x="0" y="0"/>
                </a:lnTo>
                <a:lnTo>
                  <a:pt x="0" y="10681805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16551465" y="-2474530"/>
            <a:ext cx="7121203" cy="10681805"/>
          </a:xfrm>
          <a:custGeom>
            <a:avLst/>
            <a:gdLst/>
            <a:ahLst/>
            <a:cxnLst/>
            <a:rect r="r" b="b" t="t" l="l"/>
            <a:pathLst>
              <a:path h="10681805" w="7121203">
                <a:moveTo>
                  <a:pt x="0" y="10681804"/>
                </a:moveTo>
                <a:lnTo>
                  <a:pt x="7121203" y="10681804"/>
                </a:lnTo>
                <a:lnTo>
                  <a:pt x="7121203" y="0"/>
                </a:lnTo>
                <a:lnTo>
                  <a:pt x="0" y="0"/>
                </a:lnTo>
                <a:lnTo>
                  <a:pt x="0" y="10681804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400000">
            <a:off x="-2697390" y="-6430709"/>
            <a:ext cx="7121203" cy="10681805"/>
          </a:xfrm>
          <a:custGeom>
            <a:avLst/>
            <a:gdLst/>
            <a:ahLst/>
            <a:cxnLst/>
            <a:rect r="r" b="b" t="t" l="l"/>
            <a:pathLst>
              <a:path h="10681805" w="7121203">
                <a:moveTo>
                  <a:pt x="7121203" y="0"/>
                </a:moveTo>
                <a:lnTo>
                  <a:pt x="0" y="0"/>
                </a:lnTo>
                <a:lnTo>
                  <a:pt x="0" y="10681804"/>
                </a:lnTo>
                <a:lnTo>
                  <a:pt x="7121203" y="10681804"/>
                </a:lnTo>
                <a:lnTo>
                  <a:pt x="7121203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332618" y="-5079170"/>
            <a:ext cx="11161226" cy="11161226"/>
          </a:xfrm>
          <a:custGeom>
            <a:avLst/>
            <a:gdLst/>
            <a:ahLst/>
            <a:cxnLst/>
            <a:rect r="r" b="b" t="t" l="l"/>
            <a:pathLst>
              <a:path h="11161226" w="11161226">
                <a:moveTo>
                  <a:pt x="0" y="0"/>
                </a:moveTo>
                <a:lnTo>
                  <a:pt x="11161226" y="0"/>
                </a:lnTo>
                <a:lnTo>
                  <a:pt x="11161226" y="11161226"/>
                </a:lnTo>
                <a:lnTo>
                  <a:pt x="0" y="111612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256446" y="6598423"/>
            <a:ext cx="11161226" cy="11161226"/>
          </a:xfrm>
          <a:custGeom>
            <a:avLst/>
            <a:gdLst/>
            <a:ahLst/>
            <a:cxnLst/>
            <a:rect r="r" b="b" t="t" l="l"/>
            <a:pathLst>
              <a:path h="11161226" w="11161226">
                <a:moveTo>
                  <a:pt x="0" y="0"/>
                </a:moveTo>
                <a:lnTo>
                  <a:pt x="11161226" y="0"/>
                </a:lnTo>
                <a:lnTo>
                  <a:pt x="11161226" y="11161227"/>
                </a:lnTo>
                <a:lnTo>
                  <a:pt x="0" y="111612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366945" y="3434351"/>
            <a:ext cx="5197787" cy="5985244"/>
            <a:chOff x="0" y="0"/>
            <a:chExt cx="1934557" cy="2227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34558" cy="2227640"/>
            </a:xfrm>
            <a:custGeom>
              <a:avLst/>
              <a:gdLst/>
              <a:ahLst/>
              <a:cxnLst/>
              <a:rect r="r" b="b" t="t" l="l"/>
              <a:pathLst>
                <a:path h="2227640" w="1934558">
                  <a:moveTo>
                    <a:pt x="1833071" y="0"/>
                  </a:moveTo>
                  <a:lnTo>
                    <a:pt x="993437" y="0"/>
                  </a:lnTo>
                  <a:cubicBezTo>
                    <a:pt x="937388" y="0"/>
                    <a:pt x="891952" y="45437"/>
                    <a:pt x="891952" y="101486"/>
                  </a:cubicBezTo>
                  <a:lnTo>
                    <a:pt x="891952" y="494266"/>
                  </a:lnTo>
                  <a:cubicBezTo>
                    <a:pt x="891952" y="521182"/>
                    <a:pt x="881260" y="546996"/>
                    <a:pt x="862228" y="566028"/>
                  </a:cubicBezTo>
                  <a:cubicBezTo>
                    <a:pt x="843195" y="585061"/>
                    <a:pt x="817382" y="595753"/>
                    <a:pt x="790466" y="595753"/>
                  </a:cubicBezTo>
                  <a:lnTo>
                    <a:pt x="101486" y="595753"/>
                  </a:lnTo>
                  <a:cubicBezTo>
                    <a:pt x="74570" y="595753"/>
                    <a:pt x="48757" y="606445"/>
                    <a:pt x="29724" y="625478"/>
                  </a:cubicBezTo>
                  <a:cubicBezTo>
                    <a:pt x="10692" y="644510"/>
                    <a:pt x="0" y="670323"/>
                    <a:pt x="0" y="697239"/>
                  </a:cubicBezTo>
                  <a:lnTo>
                    <a:pt x="0" y="2126154"/>
                  </a:lnTo>
                  <a:cubicBezTo>
                    <a:pt x="0" y="2182203"/>
                    <a:pt x="45437" y="2227640"/>
                    <a:pt x="101486" y="2227640"/>
                  </a:cubicBezTo>
                  <a:lnTo>
                    <a:pt x="1321998" y="2227640"/>
                  </a:lnTo>
                  <a:cubicBezTo>
                    <a:pt x="1378047" y="2227640"/>
                    <a:pt x="1423484" y="2182203"/>
                    <a:pt x="1423484" y="2126154"/>
                  </a:cubicBezTo>
                  <a:lnTo>
                    <a:pt x="1423484" y="986605"/>
                  </a:lnTo>
                  <a:cubicBezTo>
                    <a:pt x="1423484" y="959689"/>
                    <a:pt x="1434176" y="933875"/>
                    <a:pt x="1453208" y="914843"/>
                  </a:cubicBezTo>
                  <a:cubicBezTo>
                    <a:pt x="1472241" y="895811"/>
                    <a:pt x="1498055" y="885119"/>
                    <a:pt x="1524971" y="885119"/>
                  </a:cubicBezTo>
                  <a:lnTo>
                    <a:pt x="1833073" y="885119"/>
                  </a:lnTo>
                  <a:cubicBezTo>
                    <a:pt x="1859989" y="885119"/>
                    <a:pt x="1885802" y="874426"/>
                    <a:pt x="1904834" y="855394"/>
                  </a:cubicBezTo>
                  <a:cubicBezTo>
                    <a:pt x="1923866" y="836361"/>
                    <a:pt x="1934559" y="810548"/>
                    <a:pt x="1934558" y="783632"/>
                  </a:cubicBezTo>
                  <a:lnTo>
                    <a:pt x="1934558" y="101486"/>
                  </a:lnTo>
                  <a:cubicBezTo>
                    <a:pt x="1934558" y="74570"/>
                    <a:pt x="1923866" y="48756"/>
                    <a:pt x="1904833" y="29724"/>
                  </a:cubicBezTo>
                  <a:cubicBezTo>
                    <a:pt x="1885801" y="10692"/>
                    <a:pt x="1859987" y="0"/>
                    <a:pt x="1833071" y="0"/>
                  </a:cubicBezTo>
                  <a:close/>
                </a:path>
              </a:pathLst>
            </a:custGeom>
            <a:blipFill>
              <a:blip r:embed="rId4"/>
              <a:stretch>
                <a:fillRect l="-58614" t="0" r="-13894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25550" y="3434351"/>
            <a:ext cx="2121676" cy="1307795"/>
            <a:chOff x="0" y="0"/>
            <a:chExt cx="360410" cy="22215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0410" cy="222156"/>
            </a:xfrm>
            <a:custGeom>
              <a:avLst/>
              <a:gdLst/>
              <a:ahLst/>
              <a:cxnLst/>
              <a:rect r="r" b="b" t="t" l="l"/>
              <a:pathLst>
                <a:path h="222156" w="360410">
                  <a:moveTo>
                    <a:pt x="83926" y="0"/>
                  </a:moveTo>
                  <a:lnTo>
                    <a:pt x="276484" y="0"/>
                  </a:lnTo>
                  <a:cubicBezTo>
                    <a:pt x="322835" y="0"/>
                    <a:pt x="360410" y="37575"/>
                    <a:pt x="360410" y="83926"/>
                  </a:cubicBezTo>
                  <a:lnTo>
                    <a:pt x="360410" y="138230"/>
                  </a:lnTo>
                  <a:cubicBezTo>
                    <a:pt x="360410" y="160488"/>
                    <a:pt x="351568" y="181835"/>
                    <a:pt x="335829" y="197574"/>
                  </a:cubicBezTo>
                  <a:cubicBezTo>
                    <a:pt x="320090" y="213314"/>
                    <a:pt x="298743" y="222156"/>
                    <a:pt x="276484" y="222156"/>
                  </a:cubicBezTo>
                  <a:lnTo>
                    <a:pt x="83926" y="222156"/>
                  </a:lnTo>
                  <a:cubicBezTo>
                    <a:pt x="61668" y="222156"/>
                    <a:pt x="40321" y="213314"/>
                    <a:pt x="24581" y="197574"/>
                  </a:cubicBezTo>
                  <a:cubicBezTo>
                    <a:pt x="8842" y="181835"/>
                    <a:pt x="0" y="160488"/>
                    <a:pt x="0" y="138230"/>
                  </a:cubicBezTo>
                  <a:lnTo>
                    <a:pt x="0" y="83926"/>
                  </a:lnTo>
                  <a:cubicBezTo>
                    <a:pt x="0" y="61668"/>
                    <a:pt x="8842" y="40321"/>
                    <a:pt x="24581" y="24581"/>
                  </a:cubicBezTo>
                  <a:cubicBezTo>
                    <a:pt x="40321" y="8842"/>
                    <a:pt x="61668" y="0"/>
                    <a:pt x="83926" y="0"/>
                  </a:cubicBezTo>
                  <a:close/>
                </a:path>
              </a:pathLst>
            </a:custGeom>
            <a:blipFill>
              <a:blip r:embed="rId4"/>
              <a:stretch>
                <a:fillRect l="-143031" t="0" r="-180469" b="-35861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104155" y="2003954"/>
            <a:ext cx="9155145" cy="1917232"/>
            <a:chOff x="0" y="0"/>
            <a:chExt cx="2411232" cy="5049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11232" cy="504950"/>
            </a:xfrm>
            <a:custGeom>
              <a:avLst/>
              <a:gdLst/>
              <a:ahLst/>
              <a:cxnLst/>
              <a:rect r="r" b="b" t="t" l="l"/>
              <a:pathLst>
                <a:path h="504950" w="2411232">
                  <a:moveTo>
                    <a:pt x="12685" y="0"/>
                  </a:moveTo>
                  <a:lnTo>
                    <a:pt x="2398547" y="0"/>
                  </a:lnTo>
                  <a:cubicBezTo>
                    <a:pt x="2401911" y="0"/>
                    <a:pt x="2405138" y="1336"/>
                    <a:pt x="2407516" y="3715"/>
                  </a:cubicBezTo>
                  <a:cubicBezTo>
                    <a:pt x="2409895" y="6094"/>
                    <a:pt x="2411232" y="9320"/>
                    <a:pt x="2411232" y="12685"/>
                  </a:cubicBezTo>
                  <a:lnTo>
                    <a:pt x="2411232" y="492265"/>
                  </a:lnTo>
                  <a:cubicBezTo>
                    <a:pt x="2411232" y="499271"/>
                    <a:pt x="2405553" y="504950"/>
                    <a:pt x="2398547" y="504950"/>
                  </a:cubicBezTo>
                  <a:lnTo>
                    <a:pt x="12685" y="504950"/>
                  </a:lnTo>
                  <a:cubicBezTo>
                    <a:pt x="9320" y="504950"/>
                    <a:pt x="6094" y="503613"/>
                    <a:pt x="3715" y="501235"/>
                  </a:cubicBezTo>
                  <a:cubicBezTo>
                    <a:pt x="1336" y="498856"/>
                    <a:pt x="0" y="495629"/>
                    <a:pt x="0" y="492265"/>
                  </a:cubicBezTo>
                  <a:lnTo>
                    <a:pt x="0" y="12685"/>
                  </a:lnTo>
                  <a:cubicBezTo>
                    <a:pt x="0" y="9320"/>
                    <a:pt x="1336" y="6094"/>
                    <a:pt x="3715" y="3715"/>
                  </a:cubicBezTo>
                  <a:cubicBezTo>
                    <a:pt x="6094" y="1336"/>
                    <a:pt x="9320" y="0"/>
                    <a:pt x="1268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34075">
                    <a:alpha val="100000"/>
                  </a:srgbClr>
                </a:gs>
                <a:gs pos="100000">
                  <a:srgbClr val="66446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411232" cy="543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104155" y="5145456"/>
            <a:ext cx="9155145" cy="1884924"/>
            <a:chOff x="0" y="0"/>
            <a:chExt cx="2411232" cy="4964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11232" cy="496441"/>
            </a:xfrm>
            <a:custGeom>
              <a:avLst/>
              <a:gdLst/>
              <a:ahLst/>
              <a:cxnLst/>
              <a:rect r="r" b="b" t="t" l="l"/>
              <a:pathLst>
                <a:path h="496441" w="2411232">
                  <a:moveTo>
                    <a:pt x="12685" y="0"/>
                  </a:moveTo>
                  <a:lnTo>
                    <a:pt x="2398547" y="0"/>
                  </a:lnTo>
                  <a:cubicBezTo>
                    <a:pt x="2401911" y="0"/>
                    <a:pt x="2405138" y="1336"/>
                    <a:pt x="2407516" y="3715"/>
                  </a:cubicBezTo>
                  <a:cubicBezTo>
                    <a:pt x="2409895" y="6094"/>
                    <a:pt x="2411232" y="9320"/>
                    <a:pt x="2411232" y="12685"/>
                  </a:cubicBezTo>
                  <a:lnTo>
                    <a:pt x="2411232" y="483756"/>
                  </a:lnTo>
                  <a:cubicBezTo>
                    <a:pt x="2411232" y="487121"/>
                    <a:pt x="2409895" y="490347"/>
                    <a:pt x="2407516" y="492726"/>
                  </a:cubicBezTo>
                  <a:cubicBezTo>
                    <a:pt x="2405138" y="495105"/>
                    <a:pt x="2401911" y="496441"/>
                    <a:pt x="2398547" y="496441"/>
                  </a:cubicBezTo>
                  <a:lnTo>
                    <a:pt x="12685" y="496441"/>
                  </a:lnTo>
                  <a:cubicBezTo>
                    <a:pt x="9320" y="496441"/>
                    <a:pt x="6094" y="495105"/>
                    <a:pt x="3715" y="492726"/>
                  </a:cubicBezTo>
                  <a:cubicBezTo>
                    <a:pt x="1336" y="490347"/>
                    <a:pt x="0" y="487121"/>
                    <a:pt x="0" y="483756"/>
                  </a:cubicBezTo>
                  <a:lnTo>
                    <a:pt x="0" y="12685"/>
                  </a:lnTo>
                  <a:cubicBezTo>
                    <a:pt x="0" y="9320"/>
                    <a:pt x="1336" y="6094"/>
                    <a:pt x="3715" y="3715"/>
                  </a:cubicBezTo>
                  <a:cubicBezTo>
                    <a:pt x="6094" y="1336"/>
                    <a:pt x="9320" y="0"/>
                    <a:pt x="1268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34075">
                    <a:alpha val="100000"/>
                  </a:srgbClr>
                </a:gs>
                <a:gs pos="100000">
                  <a:srgbClr val="66446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411232" cy="5345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8104155" y="1373493"/>
            <a:ext cx="489180" cy="437816"/>
          </a:xfrm>
          <a:custGeom>
            <a:avLst/>
            <a:gdLst/>
            <a:ahLst/>
            <a:cxnLst/>
            <a:rect r="r" b="b" t="t" l="l"/>
            <a:pathLst>
              <a:path h="437816" w="489180">
                <a:moveTo>
                  <a:pt x="0" y="0"/>
                </a:moveTo>
                <a:lnTo>
                  <a:pt x="489180" y="0"/>
                </a:lnTo>
                <a:lnTo>
                  <a:pt x="489180" y="437816"/>
                </a:lnTo>
                <a:lnTo>
                  <a:pt x="0" y="4378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104155" y="4514994"/>
            <a:ext cx="489180" cy="437816"/>
          </a:xfrm>
          <a:custGeom>
            <a:avLst/>
            <a:gdLst/>
            <a:ahLst/>
            <a:cxnLst/>
            <a:rect r="r" b="b" t="t" l="l"/>
            <a:pathLst>
              <a:path h="437816" w="489180">
                <a:moveTo>
                  <a:pt x="0" y="0"/>
                </a:moveTo>
                <a:lnTo>
                  <a:pt x="489180" y="0"/>
                </a:lnTo>
                <a:lnTo>
                  <a:pt x="489180" y="437817"/>
                </a:lnTo>
                <a:lnTo>
                  <a:pt x="0" y="4378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709161" y="7534344"/>
            <a:ext cx="1446583" cy="1380884"/>
          </a:xfrm>
          <a:custGeom>
            <a:avLst/>
            <a:gdLst/>
            <a:ahLst/>
            <a:cxnLst/>
            <a:rect r="r" b="b" t="t" l="l"/>
            <a:pathLst>
              <a:path h="1380884" w="1446583">
                <a:moveTo>
                  <a:pt x="0" y="0"/>
                </a:moveTo>
                <a:lnTo>
                  <a:pt x="1446583" y="0"/>
                </a:lnTo>
                <a:lnTo>
                  <a:pt x="1446583" y="1380885"/>
                </a:lnTo>
                <a:lnTo>
                  <a:pt x="0" y="13808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325550" y="1247278"/>
            <a:ext cx="4006131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Nunito Sans Ultra-Bold"/>
                <a:ea typeface="Nunito Sans Ultra-Bold"/>
                <a:cs typeface="Nunito Sans Ultra-Bold"/>
                <a:sym typeface="Nunito Sans Ultra-Bold"/>
              </a:rPr>
              <a:t>Synthesis: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25550" y="2044203"/>
            <a:ext cx="6030266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FFFFFF"/>
                </a:solidFill>
                <a:latin typeface="Nunito Sans Light"/>
                <a:ea typeface="Nunito Sans Light"/>
                <a:cs typeface="Nunito Sans Light"/>
                <a:sym typeface="Nunito Sans Light"/>
              </a:rPr>
              <a:t>Key considerations for building a better energy predictor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401014" y="2063253"/>
            <a:ext cx="8616931" cy="158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NeurstrucEnergy: design-time inference. Our framework: design-time training. Reguero: during-training optimization. Carbontracker: during-training monitoring. No single tool covers all stages.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401014" y="5263541"/>
            <a:ext cx="8616931" cy="158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NeuralPower: 85–114% error on novel data. FLOPs miss memory effects. Quantization has no energy effect. The case for ML-based prediction is now overwhelming across multiple independent studies.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692500" y="1294903"/>
            <a:ext cx="719633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Each Tool Serves </a:t>
            </a:r>
            <a:r>
              <a:rPr lang="en-US" sz="3200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a Different Stage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692500" y="4436405"/>
            <a:ext cx="647671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Analytical Models Ar</a:t>
            </a:r>
            <a:r>
              <a:rPr lang="en-US" sz="3200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e Broken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325550" y="525855"/>
            <a:ext cx="450692" cy="450692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71778" y="0"/>
                  </a:moveTo>
                  <a:lnTo>
                    <a:pt x="641022" y="0"/>
                  </a:lnTo>
                  <a:cubicBezTo>
                    <a:pt x="735892" y="0"/>
                    <a:pt x="812800" y="76908"/>
                    <a:pt x="812800" y="171778"/>
                  </a:cubicBezTo>
                  <a:lnTo>
                    <a:pt x="812800" y="641022"/>
                  </a:lnTo>
                  <a:cubicBezTo>
                    <a:pt x="812800" y="735892"/>
                    <a:pt x="735892" y="812800"/>
                    <a:pt x="641022" y="812800"/>
                  </a:cubicBezTo>
                  <a:lnTo>
                    <a:pt x="171778" y="812800"/>
                  </a:lnTo>
                  <a:cubicBezTo>
                    <a:pt x="76908" y="812800"/>
                    <a:pt x="0" y="735892"/>
                    <a:pt x="0" y="641022"/>
                  </a:cubicBezTo>
                  <a:lnTo>
                    <a:pt x="0" y="171778"/>
                  </a:lnTo>
                  <a:cubicBezTo>
                    <a:pt x="0" y="76908"/>
                    <a:pt x="76908" y="0"/>
                    <a:pt x="171778" y="0"/>
                  </a:cubicBezTo>
                  <a:close/>
                </a:path>
              </a:pathLst>
            </a:custGeom>
            <a:blipFill>
              <a:blip r:embed="rId7"/>
              <a:stretch>
                <a:fillRect l="-35556" t="0" r="-3111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878023" y="534031"/>
            <a:ext cx="786537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University of Ghana | Computer Science Department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D185B">
                <a:alpha val="100000"/>
              </a:srgbClr>
            </a:gs>
            <a:gs pos="100000">
              <a:srgbClr val="310C3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10496052" y="2934708"/>
            <a:ext cx="7121203" cy="10681805"/>
          </a:xfrm>
          <a:custGeom>
            <a:avLst/>
            <a:gdLst/>
            <a:ahLst/>
            <a:cxnLst/>
            <a:rect r="r" b="b" t="t" l="l"/>
            <a:pathLst>
              <a:path h="10681805" w="7121203">
                <a:moveTo>
                  <a:pt x="0" y="10681805"/>
                </a:moveTo>
                <a:lnTo>
                  <a:pt x="7121203" y="10681805"/>
                </a:lnTo>
                <a:lnTo>
                  <a:pt x="7121203" y="0"/>
                </a:lnTo>
                <a:lnTo>
                  <a:pt x="0" y="0"/>
                </a:lnTo>
                <a:lnTo>
                  <a:pt x="0" y="10681805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-2697390" y="-6430709"/>
            <a:ext cx="7121203" cy="10681805"/>
          </a:xfrm>
          <a:custGeom>
            <a:avLst/>
            <a:gdLst/>
            <a:ahLst/>
            <a:cxnLst/>
            <a:rect r="r" b="b" t="t" l="l"/>
            <a:pathLst>
              <a:path h="10681805" w="7121203">
                <a:moveTo>
                  <a:pt x="7121203" y="0"/>
                </a:moveTo>
                <a:lnTo>
                  <a:pt x="0" y="0"/>
                </a:lnTo>
                <a:lnTo>
                  <a:pt x="0" y="10681804"/>
                </a:lnTo>
                <a:lnTo>
                  <a:pt x="7121203" y="10681804"/>
                </a:lnTo>
                <a:lnTo>
                  <a:pt x="7121203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332618" y="-5079170"/>
            <a:ext cx="11161226" cy="11161226"/>
          </a:xfrm>
          <a:custGeom>
            <a:avLst/>
            <a:gdLst/>
            <a:ahLst/>
            <a:cxnLst/>
            <a:rect r="r" b="b" t="t" l="l"/>
            <a:pathLst>
              <a:path h="11161226" w="11161226">
                <a:moveTo>
                  <a:pt x="0" y="0"/>
                </a:moveTo>
                <a:lnTo>
                  <a:pt x="11161226" y="0"/>
                </a:lnTo>
                <a:lnTo>
                  <a:pt x="11161226" y="11161226"/>
                </a:lnTo>
                <a:lnTo>
                  <a:pt x="0" y="111612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56446" y="6598423"/>
            <a:ext cx="11161226" cy="11161226"/>
          </a:xfrm>
          <a:custGeom>
            <a:avLst/>
            <a:gdLst/>
            <a:ahLst/>
            <a:cxnLst/>
            <a:rect r="r" b="b" t="t" l="l"/>
            <a:pathLst>
              <a:path h="11161226" w="11161226">
                <a:moveTo>
                  <a:pt x="0" y="0"/>
                </a:moveTo>
                <a:lnTo>
                  <a:pt x="11161226" y="0"/>
                </a:lnTo>
                <a:lnTo>
                  <a:pt x="11161226" y="11161227"/>
                </a:lnTo>
                <a:lnTo>
                  <a:pt x="0" y="111612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104155" y="1992398"/>
            <a:ext cx="9155145" cy="1197806"/>
            <a:chOff x="0" y="0"/>
            <a:chExt cx="2411232" cy="315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11232" cy="315472"/>
            </a:xfrm>
            <a:custGeom>
              <a:avLst/>
              <a:gdLst/>
              <a:ahLst/>
              <a:cxnLst/>
              <a:rect r="r" b="b" t="t" l="l"/>
              <a:pathLst>
                <a:path h="315472" w="2411232">
                  <a:moveTo>
                    <a:pt x="12685" y="0"/>
                  </a:moveTo>
                  <a:lnTo>
                    <a:pt x="2398547" y="0"/>
                  </a:lnTo>
                  <a:cubicBezTo>
                    <a:pt x="2401911" y="0"/>
                    <a:pt x="2405138" y="1336"/>
                    <a:pt x="2407516" y="3715"/>
                  </a:cubicBezTo>
                  <a:cubicBezTo>
                    <a:pt x="2409895" y="6094"/>
                    <a:pt x="2411232" y="9320"/>
                    <a:pt x="2411232" y="12685"/>
                  </a:cubicBezTo>
                  <a:lnTo>
                    <a:pt x="2411232" y="302787"/>
                  </a:lnTo>
                  <a:cubicBezTo>
                    <a:pt x="2411232" y="306151"/>
                    <a:pt x="2409895" y="309378"/>
                    <a:pt x="2407516" y="311756"/>
                  </a:cubicBezTo>
                  <a:cubicBezTo>
                    <a:pt x="2405138" y="314135"/>
                    <a:pt x="2401911" y="315472"/>
                    <a:pt x="2398547" y="315472"/>
                  </a:cubicBezTo>
                  <a:lnTo>
                    <a:pt x="12685" y="315472"/>
                  </a:lnTo>
                  <a:cubicBezTo>
                    <a:pt x="9320" y="315472"/>
                    <a:pt x="6094" y="314135"/>
                    <a:pt x="3715" y="311756"/>
                  </a:cubicBezTo>
                  <a:cubicBezTo>
                    <a:pt x="1336" y="309378"/>
                    <a:pt x="0" y="306151"/>
                    <a:pt x="0" y="302787"/>
                  </a:cubicBezTo>
                  <a:lnTo>
                    <a:pt x="0" y="12685"/>
                  </a:lnTo>
                  <a:cubicBezTo>
                    <a:pt x="0" y="9320"/>
                    <a:pt x="1336" y="6094"/>
                    <a:pt x="3715" y="3715"/>
                  </a:cubicBezTo>
                  <a:cubicBezTo>
                    <a:pt x="6094" y="1336"/>
                    <a:pt x="9320" y="0"/>
                    <a:pt x="1268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34075">
                    <a:alpha val="100000"/>
                  </a:srgbClr>
                </a:gs>
                <a:gs pos="100000">
                  <a:srgbClr val="66446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11232" cy="353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104155" y="7996880"/>
            <a:ext cx="9155145" cy="849048"/>
            <a:chOff x="0" y="0"/>
            <a:chExt cx="2411232" cy="2236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11232" cy="223618"/>
            </a:xfrm>
            <a:custGeom>
              <a:avLst/>
              <a:gdLst/>
              <a:ahLst/>
              <a:cxnLst/>
              <a:rect r="r" b="b" t="t" l="l"/>
              <a:pathLst>
                <a:path h="223618" w="2411232">
                  <a:moveTo>
                    <a:pt x="12685" y="0"/>
                  </a:moveTo>
                  <a:lnTo>
                    <a:pt x="2398547" y="0"/>
                  </a:lnTo>
                  <a:cubicBezTo>
                    <a:pt x="2401911" y="0"/>
                    <a:pt x="2405138" y="1336"/>
                    <a:pt x="2407516" y="3715"/>
                  </a:cubicBezTo>
                  <a:cubicBezTo>
                    <a:pt x="2409895" y="6094"/>
                    <a:pt x="2411232" y="9320"/>
                    <a:pt x="2411232" y="12685"/>
                  </a:cubicBezTo>
                  <a:lnTo>
                    <a:pt x="2411232" y="210933"/>
                  </a:lnTo>
                  <a:cubicBezTo>
                    <a:pt x="2411232" y="217938"/>
                    <a:pt x="2405553" y="223618"/>
                    <a:pt x="2398547" y="223618"/>
                  </a:cubicBezTo>
                  <a:lnTo>
                    <a:pt x="12685" y="223618"/>
                  </a:lnTo>
                  <a:cubicBezTo>
                    <a:pt x="9320" y="223618"/>
                    <a:pt x="6094" y="222281"/>
                    <a:pt x="3715" y="219902"/>
                  </a:cubicBezTo>
                  <a:cubicBezTo>
                    <a:pt x="1336" y="217524"/>
                    <a:pt x="0" y="214297"/>
                    <a:pt x="0" y="210933"/>
                  </a:cubicBezTo>
                  <a:lnTo>
                    <a:pt x="0" y="12685"/>
                  </a:lnTo>
                  <a:cubicBezTo>
                    <a:pt x="0" y="9320"/>
                    <a:pt x="1336" y="6094"/>
                    <a:pt x="3715" y="3715"/>
                  </a:cubicBezTo>
                  <a:cubicBezTo>
                    <a:pt x="6094" y="1336"/>
                    <a:pt x="9320" y="0"/>
                    <a:pt x="1268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34075">
                    <a:alpha val="100000"/>
                  </a:srgbClr>
                </a:gs>
                <a:gs pos="100000">
                  <a:srgbClr val="66446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411232" cy="261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104155" y="6069595"/>
            <a:ext cx="9155145" cy="805453"/>
            <a:chOff x="0" y="0"/>
            <a:chExt cx="2411232" cy="2121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11232" cy="212136"/>
            </a:xfrm>
            <a:custGeom>
              <a:avLst/>
              <a:gdLst/>
              <a:ahLst/>
              <a:cxnLst/>
              <a:rect r="r" b="b" t="t" l="l"/>
              <a:pathLst>
                <a:path h="212136" w="2411232">
                  <a:moveTo>
                    <a:pt x="12685" y="0"/>
                  </a:moveTo>
                  <a:lnTo>
                    <a:pt x="2398547" y="0"/>
                  </a:lnTo>
                  <a:cubicBezTo>
                    <a:pt x="2401911" y="0"/>
                    <a:pt x="2405138" y="1336"/>
                    <a:pt x="2407516" y="3715"/>
                  </a:cubicBezTo>
                  <a:cubicBezTo>
                    <a:pt x="2409895" y="6094"/>
                    <a:pt x="2411232" y="9320"/>
                    <a:pt x="2411232" y="12685"/>
                  </a:cubicBezTo>
                  <a:lnTo>
                    <a:pt x="2411232" y="199451"/>
                  </a:lnTo>
                  <a:cubicBezTo>
                    <a:pt x="2411232" y="202815"/>
                    <a:pt x="2409895" y="206042"/>
                    <a:pt x="2407516" y="208421"/>
                  </a:cubicBezTo>
                  <a:cubicBezTo>
                    <a:pt x="2405138" y="210799"/>
                    <a:pt x="2401911" y="212136"/>
                    <a:pt x="2398547" y="212136"/>
                  </a:cubicBezTo>
                  <a:lnTo>
                    <a:pt x="12685" y="212136"/>
                  </a:lnTo>
                  <a:cubicBezTo>
                    <a:pt x="9320" y="212136"/>
                    <a:pt x="6094" y="210799"/>
                    <a:pt x="3715" y="208421"/>
                  </a:cubicBezTo>
                  <a:cubicBezTo>
                    <a:pt x="1336" y="206042"/>
                    <a:pt x="0" y="202815"/>
                    <a:pt x="0" y="199451"/>
                  </a:cubicBezTo>
                  <a:lnTo>
                    <a:pt x="0" y="12685"/>
                  </a:lnTo>
                  <a:cubicBezTo>
                    <a:pt x="0" y="9320"/>
                    <a:pt x="1336" y="6094"/>
                    <a:pt x="3715" y="3715"/>
                  </a:cubicBezTo>
                  <a:cubicBezTo>
                    <a:pt x="6094" y="1336"/>
                    <a:pt x="9320" y="0"/>
                    <a:pt x="1268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34075">
                    <a:alpha val="100000"/>
                  </a:srgbClr>
                </a:gs>
                <a:gs pos="100000">
                  <a:srgbClr val="66446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411232" cy="250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104155" y="4192498"/>
            <a:ext cx="9155145" cy="817652"/>
            <a:chOff x="0" y="0"/>
            <a:chExt cx="2411232" cy="21534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11232" cy="215349"/>
            </a:xfrm>
            <a:custGeom>
              <a:avLst/>
              <a:gdLst/>
              <a:ahLst/>
              <a:cxnLst/>
              <a:rect r="r" b="b" t="t" l="l"/>
              <a:pathLst>
                <a:path h="215349" w="2411232">
                  <a:moveTo>
                    <a:pt x="12685" y="0"/>
                  </a:moveTo>
                  <a:lnTo>
                    <a:pt x="2398547" y="0"/>
                  </a:lnTo>
                  <a:cubicBezTo>
                    <a:pt x="2401911" y="0"/>
                    <a:pt x="2405138" y="1336"/>
                    <a:pt x="2407516" y="3715"/>
                  </a:cubicBezTo>
                  <a:cubicBezTo>
                    <a:pt x="2409895" y="6094"/>
                    <a:pt x="2411232" y="9320"/>
                    <a:pt x="2411232" y="12685"/>
                  </a:cubicBezTo>
                  <a:lnTo>
                    <a:pt x="2411232" y="202664"/>
                  </a:lnTo>
                  <a:cubicBezTo>
                    <a:pt x="2411232" y="206028"/>
                    <a:pt x="2409895" y="209255"/>
                    <a:pt x="2407516" y="211633"/>
                  </a:cubicBezTo>
                  <a:cubicBezTo>
                    <a:pt x="2405138" y="214012"/>
                    <a:pt x="2401911" y="215349"/>
                    <a:pt x="2398547" y="215349"/>
                  </a:cubicBezTo>
                  <a:lnTo>
                    <a:pt x="12685" y="215349"/>
                  </a:lnTo>
                  <a:cubicBezTo>
                    <a:pt x="9320" y="215349"/>
                    <a:pt x="6094" y="214012"/>
                    <a:pt x="3715" y="211633"/>
                  </a:cubicBezTo>
                  <a:cubicBezTo>
                    <a:pt x="1336" y="209255"/>
                    <a:pt x="0" y="206028"/>
                    <a:pt x="0" y="202664"/>
                  </a:cubicBezTo>
                  <a:lnTo>
                    <a:pt x="0" y="12685"/>
                  </a:lnTo>
                  <a:cubicBezTo>
                    <a:pt x="0" y="9320"/>
                    <a:pt x="1336" y="6094"/>
                    <a:pt x="3715" y="3715"/>
                  </a:cubicBezTo>
                  <a:cubicBezTo>
                    <a:pt x="6094" y="1336"/>
                    <a:pt x="9320" y="0"/>
                    <a:pt x="1268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34075">
                    <a:alpha val="100000"/>
                  </a:srgbClr>
                </a:gs>
                <a:gs pos="100000">
                  <a:srgbClr val="66446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411232" cy="253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70382" y="3445648"/>
            <a:ext cx="5499898" cy="5812652"/>
            <a:chOff x="0" y="0"/>
            <a:chExt cx="1484706" cy="15691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84706" cy="1569133"/>
            </a:xfrm>
            <a:custGeom>
              <a:avLst/>
              <a:gdLst/>
              <a:ahLst/>
              <a:cxnLst/>
              <a:rect r="r" b="b" t="t" l="l"/>
              <a:pathLst>
                <a:path h="1569133" w="1484706">
                  <a:moveTo>
                    <a:pt x="1379836" y="0"/>
                  </a:moveTo>
                  <a:lnTo>
                    <a:pt x="104870" y="0"/>
                  </a:lnTo>
                  <a:cubicBezTo>
                    <a:pt x="46952" y="0"/>
                    <a:pt x="0" y="46952"/>
                    <a:pt x="0" y="104870"/>
                  </a:cubicBezTo>
                  <a:lnTo>
                    <a:pt x="0" y="464773"/>
                  </a:lnTo>
                  <a:lnTo>
                    <a:pt x="0" y="1464263"/>
                  </a:lnTo>
                  <a:cubicBezTo>
                    <a:pt x="1" y="1522181"/>
                    <a:pt x="46952" y="1569133"/>
                    <a:pt x="104870" y="1569133"/>
                  </a:cubicBezTo>
                  <a:lnTo>
                    <a:pt x="905328" y="1569133"/>
                  </a:lnTo>
                  <a:cubicBezTo>
                    <a:pt x="963246" y="1569133"/>
                    <a:pt x="1010198" y="1522182"/>
                    <a:pt x="1010199" y="1464264"/>
                  </a:cubicBezTo>
                  <a:lnTo>
                    <a:pt x="1010199" y="569643"/>
                  </a:lnTo>
                  <a:cubicBezTo>
                    <a:pt x="1010198" y="541830"/>
                    <a:pt x="1021247" y="515156"/>
                    <a:pt x="1040914" y="495488"/>
                  </a:cubicBezTo>
                  <a:cubicBezTo>
                    <a:pt x="1060581" y="475821"/>
                    <a:pt x="1087255" y="464773"/>
                    <a:pt x="1115069" y="464773"/>
                  </a:cubicBezTo>
                  <a:lnTo>
                    <a:pt x="1379836" y="464773"/>
                  </a:lnTo>
                  <a:cubicBezTo>
                    <a:pt x="1437754" y="464772"/>
                    <a:pt x="1484705" y="417821"/>
                    <a:pt x="1484706" y="359903"/>
                  </a:cubicBezTo>
                  <a:lnTo>
                    <a:pt x="1484706" y="104870"/>
                  </a:lnTo>
                  <a:cubicBezTo>
                    <a:pt x="1484706" y="46952"/>
                    <a:pt x="1437754" y="0"/>
                    <a:pt x="1379836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1009" r="0" b="-21009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483224" y="5524601"/>
            <a:ext cx="1387056" cy="3631315"/>
            <a:chOff x="0" y="0"/>
            <a:chExt cx="214891" cy="56258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4891" cy="562586"/>
            </a:xfrm>
            <a:custGeom>
              <a:avLst/>
              <a:gdLst/>
              <a:ahLst/>
              <a:cxnLst/>
              <a:rect r="r" b="b" t="t" l="l"/>
              <a:pathLst>
                <a:path h="562586" w="214891">
                  <a:moveTo>
                    <a:pt x="107446" y="0"/>
                  </a:moveTo>
                  <a:lnTo>
                    <a:pt x="107446" y="0"/>
                  </a:lnTo>
                  <a:cubicBezTo>
                    <a:pt x="166786" y="0"/>
                    <a:pt x="214891" y="48105"/>
                    <a:pt x="214891" y="107446"/>
                  </a:cubicBezTo>
                  <a:lnTo>
                    <a:pt x="214891" y="455140"/>
                  </a:lnTo>
                  <a:cubicBezTo>
                    <a:pt x="214891" y="514481"/>
                    <a:pt x="166786" y="562586"/>
                    <a:pt x="107446" y="562586"/>
                  </a:cubicBezTo>
                  <a:lnTo>
                    <a:pt x="107446" y="562586"/>
                  </a:lnTo>
                  <a:cubicBezTo>
                    <a:pt x="78949" y="562586"/>
                    <a:pt x="51620" y="551266"/>
                    <a:pt x="31470" y="531116"/>
                  </a:cubicBezTo>
                  <a:cubicBezTo>
                    <a:pt x="11320" y="510966"/>
                    <a:pt x="0" y="483637"/>
                    <a:pt x="0" y="455140"/>
                  </a:cubicBezTo>
                  <a:lnTo>
                    <a:pt x="0" y="107446"/>
                  </a:lnTo>
                  <a:cubicBezTo>
                    <a:pt x="0" y="78949"/>
                    <a:pt x="11320" y="51620"/>
                    <a:pt x="31470" y="31470"/>
                  </a:cubicBezTo>
                  <a:cubicBezTo>
                    <a:pt x="51620" y="11320"/>
                    <a:pt x="78949" y="0"/>
                    <a:pt x="107446" y="0"/>
                  </a:cubicBezTo>
                  <a:close/>
                </a:path>
              </a:pathLst>
            </a:custGeom>
            <a:blipFill>
              <a:blip r:embed="rId4"/>
              <a:stretch>
                <a:fillRect l="-296098" t="-90225" r="0" b="-36863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8118312" y="1352053"/>
            <a:ext cx="460866" cy="480695"/>
          </a:xfrm>
          <a:custGeom>
            <a:avLst/>
            <a:gdLst/>
            <a:ahLst/>
            <a:cxnLst/>
            <a:rect r="r" b="b" t="t" l="l"/>
            <a:pathLst>
              <a:path h="480695" w="460866">
                <a:moveTo>
                  <a:pt x="0" y="0"/>
                </a:moveTo>
                <a:lnTo>
                  <a:pt x="460866" y="0"/>
                </a:lnTo>
                <a:lnTo>
                  <a:pt x="460866" y="480695"/>
                </a:lnTo>
                <a:lnTo>
                  <a:pt x="0" y="4806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118312" y="7356535"/>
            <a:ext cx="460866" cy="480695"/>
          </a:xfrm>
          <a:custGeom>
            <a:avLst/>
            <a:gdLst/>
            <a:ahLst/>
            <a:cxnLst/>
            <a:rect r="r" b="b" t="t" l="l"/>
            <a:pathLst>
              <a:path h="480695" w="460866">
                <a:moveTo>
                  <a:pt x="0" y="0"/>
                </a:moveTo>
                <a:lnTo>
                  <a:pt x="460866" y="0"/>
                </a:lnTo>
                <a:lnTo>
                  <a:pt x="460866" y="480695"/>
                </a:lnTo>
                <a:lnTo>
                  <a:pt x="0" y="4806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118312" y="5429250"/>
            <a:ext cx="460866" cy="480695"/>
          </a:xfrm>
          <a:custGeom>
            <a:avLst/>
            <a:gdLst/>
            <a:ahLst/>
            <a:cxnLst/>
            <a:rect r="r" b="b" t="t" l="l"/>
            <a:pathLst>
              <a:path h="480695" w="460866">
                <a:moveTo>
                  <a:pt x="0" y="0"/>
                </a:moveTo>
                <a:lnTo>
                  <a:pt x="460866" y="0"/>
                </a:lnTo>
                <a:lnTo>
                  <a:pt x="460866" y="480695"/>
                </a:lnTo>
                <a:lnTo>
                  <a:pt x="0" y="4806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118312" y="3552154"/>
            <a:ext cx="460866" cy="480695"/>
          </a:xfrm>
          <a:custGeom>
            <a:avLst/>
            <a:gdLst/>
            <a:ahLst/>
            <a:cxnLst/>
            <a:rect r="r" b="b" t="t" l="l"/>
            <a:pathLst>
              <a:path h="480695" w="460866">
                <a:moveTo>
                  <a:pt x="0" y="0"/>
                </a:moveTo>
                <a:lnTo>
                  <a:pt x="460866" y="0"/>
                </a:lnTo>
                <a:lnTo>
                  <a:pt x="460866" y="480695"/>
                </a:lnTo>
                <a:lnTo>
                  <a:pt x="0" y="4806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true" flipV="false" rot="0">
            <a:off x="919750" y="8462635"/>
            <a:ext cx="1405301" cy="1386563"/>
          </a:xfrm>
          <a:custGeom>
            <a:avLst/>
            <a:gdLst/>
            <a:ahLst/>
            <a:cxnLst/>
            <a:rect r="r" b="b" t="t" l="l"/>
            <a:pathLst>
              <a:path h="1386563" w="1405301">
                <a:moveTo>
                  <a:pt x="1405300" y="0"/>
                </a:moveTo>
                <a:lnTo>
                  <a:pt x="0" y="0"/>
                </a:lnTo>
                <a:lnTo>
                  <a:pt x="0" y="1386563"/>
                </a:lnTo>
                <a:lnTo>
                  <a:pt x="1405300" y="1386563"/>
                </a:lnTo>
                <a:lnTo>
                  <a:pt x="140530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325550" y="1259193"/>
            <a:ext cx="5544730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FFFFFF"/>
                </a:solidFill>
                <a:latin typeface="Nunito Sans Ultra-Bold"/>
                <a:ea typeface="Nunito Sans Ultra-Bold"/>
                <a:cs typeface="Nunito Sans Ultra-Bold"/>
                <a:sym typeface="Nunito Sans Ultra-Bold"/>
              </a:rPr>
              <a:t>Gaps in Papers: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348745" y="2156598"/>
            <a:ext cx="8616931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All three require training to start or only predict inference energy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348745" y="8161080"/>
            <a:ext cx="8616931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 Small or custom datasets; no large-scale validation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8348745" y="6233795"/>
            <a:ext cx="8616931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Each limited to one architecture family or device type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8348745" y="4356699"/>
            <a:ext cx="8616931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Software sensors miss 10–40% of actual system power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692500" y="1294903"/>
            <a:ext cx="715678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Gap 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692500" y="7299385"/>
            <a:ext cx="715678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Gap 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692500" y="5372100"/>
            <a:ext cx="715678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Gap 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692500" y="3495004"/>
            <a:ext cx="715678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Gap 2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325550" y="525855"/>
            <a:ext cx="450692" cy="450692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71778" y="0"/>
                  </a:moveTo>
                  <a:lnTo>
                    <a:pt x="641022" y="0"/>
                  </a:lnTo>
                  <a:cubicBezTo>
                    <a:pt x="735892" y="0"/>
                    <a:pt x="812800" y="76908"/>
                    <a:pt x="812800" y="171778"/>
                  </a:cubicBezTo>
                  <a:lnTo>
                    <a:pt x="812800" y="641022"/>
                  </a:lnTo>
                  <a:cubicBezTo>
                    <a:pt x="812800" y="735892"/>
                    <a:pt x="735892" y="812800"/>
                    <a:pt x="641022" y="812800"/>
                  </a:cubicBezTo>
                  <a:lnTo>
                    <a:pt x="171778" y="812800"/>
                  </a:lnTo>
                  <a:cubicBezTo>
                    <a:pt x="76908" y="812800"/>
                    <a:pt x="0" y="735892"/>
                    <a:pt x="0" y="641022"/>
                  </a:cubicBezTo>
                  <a:lnTo>
                    <a:pt x="0" y="171778"/>
                  </a:lnTo>
                  <a:cubicBezTo>
                    <a:pt x="0" y="76908"/>
                    <a:pt x="76908" y="0"/>
                    <a:pt x="171778" y="0"/>
                  </a:cubicBezTo>
                  <a:close/>
                </a:path>
              </a:pathLst>
            </a:custGeom>
            <a:blipFill>
              <a:blip r:embed="rId7"/>
              <a:stretch>
                <a:fillRect l="-35556" t="0" r="-31110" b="0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878023" y="534031"/>
            <a:ext cx="786537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University of Ghana | Computer Science Department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D185B">
                <a:alpha val="100000"/>
              </a:srgbClr>
            </a:gs>
            <a:gs pos="100000">
              <a:srgbClr val="310C3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9635313" y="2634698"/>
            <a:ext cx="7121203" cy="10681805"/>
          </a:xfrm>
          <a:custGeom>
            <a:avLst/>
            <a:gdLst/>
            <a:ahLst/>
            <a:cxnLst/>
            <a:rect r="r" b="b" t="t" l="l"/>
            <a:pathLst>
              <a:path h="10681805" w="7121203">
                <a:moveTo>
                  <a:pt x="0" y="10681804"/>
                </a:moveTo>
                <a:lnTo>
                  <a:pt x="7121204" y="10681804"/>
                </a:lnTo>
                <a:lnTo>
                  <a:pt x="7121204" y="0"/>
                </a:lnTo>
                <a:lnTo>
                  <a:pt x="0" y="0"/>
                </a:lnTo>
                <a:lnTo>
                  <a:pt x="0" y="10681804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-2697390" y="-6430709"/>
            <a:ext cx="7121203" cy="10681805"/>
          </a:xfrm>
          <a:custGeom>
            <a:avLst/>
            <a:gdLst/>
            <a:ahLst/>
            <a:cxnLst/>
            <a:rect r="r" b="b" t="t" l="l"/>
            <a:pathLst>
              <a:path h="10681805" w="7121203">
                <a:moveTo>
                  <a:pt x="7121203" y="0"/>
                </a:moveTo>
                <a:lnTo>
                  <a:pt x="0" y="0"/>
                </a:lnTo>
                <a:lnTo>
                  <a:pt x="0" y="10681804"/>
                </a:lnTo>
                <a:lnTo>
                  <a:pt x="7121203" y="10681804"/>
                </a:lnTo>
                <a:lnTo>
                  <a:pt x="7121203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332618" y="-5079170"/>
            <a:ext cx="11161226" cy="11161226"/>
          </a:xfrm>
          <a:custGeom>
            <a:avLst/>
            <a:gdLst/>
            <a:ahLst/>
            <a:cxnLst/>
            <a:rect r="r" b="b" t="t" l="l"/>
            <a:pathLst>
              <a:path h="11161226" w="11161226">
                <a:moveTo>
                  <a:pt x="0" y="0"/>
                </a:moveTo>
                <a:lnTo>
                  <a:pt x="11161226" y="0"/>
                </a:lnTo>
                <a:lnTo>
                  <a:pt x="11161226" y="11161226"/>
                </a:lnTo>
                <a:lnTo>
                  <a:pt x="0" y="111612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56446" y="6598423"/>
            <a:ext cx="11161226" cy="11161226"/>
          </a:xfrm>
          <a:custGeom>
            <a:avLst/>
            <a:gdLst/>
            <a:ahLst/>
            <a:cxnLst/>
            <a:rect r="r" b="b" t="t" l="l"/>
            <a:pathLst>
              <a:path h="11161226" w="11161226">
                <a:moveTo>
                  <a:pt x="0" y="0"/>
                </a:moveTo>
                <a:lnTo>
                  <a:pt x="11161226" y="0"/>
                </a:lnTo>
                <a:lnTo>
                  <a:pt x="11161226" y="11161227"/>
                </a:lnTo>
                <a:lnTo>
                  <a:pt x="0" y="111612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25550" y="3556002"/>
            <a:ext cx="441271" cy="438146"/>
          </a:xfrm>
          <a:custGeom>
            <a:avLst/>
            <a:gdLst/>
            <a:ahLst/>
            <a:cxnLst/>
            <a:rect r="r" b="b" t="t" l="l"/>
            <a:pathLst>
              <a:path h="438146" w="441271">
                <a:moveTo>
                  <a:pt x="0" y="0"/>
                </a:moveTo>
                <a:lnTo>
                  <a:pt x="441271" y="0"/>
                </a:lnTo>
                <a:lnTo>
                  <a:pt x="441271" y="438146"/>
                </a:lnTo>
                <a:lnTo>
                  <a:pt x="0" y="4381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25550" y="6500180"/>
            <a:ext cx="441271" cy="438146"/>
          </a:xfrm>
          <a:custGeom>
            <a:avLst/>
            <a:gdLst/>
            <a:ahLst/>
            <a:cxnLst/>
            <a:rect r="r" b="b" t="t" l="l"/>
            <a:pathLst>
              <a:path h="438146" w="441271">
                <a:moveTo>
                  <a:pt x="0" y="0"/>
                </a:moveTo>
                <a:lnTo>
                  <a:pt x="441271" y="0"/>
                </a:lnTo>
                <a:lnTo>
                  <a:pt x="441271" y="438145"/>
                </a:lnTo>
                <a:lnTo>
                  <a:pt x="0" y="4381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659666" y="7130806"/>
            <a:ext cx="7599634" cy="1829608"/>
            <a:chOff x="0" y="0"/>
            <a:chExt cx="2001550" cy="4818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01550" cy="481872"/>
            </a:xfrm>
            <a:custGeom>
              <a:avLst/>
              <a:gdLst/>
              <a:ahLst/>
              <a:cxnLst/>
              <a:rect r="r" b="b" t="t" l="l"/>
              <a:pathLst>
                <a:path h="481872" w="2001550">
                  <a:moveTo>
                    <a:pt x="15281" y="0"/>
                  </a:moveTo>
                  <a:lnTo>
                    <a:pt x="1986269" y="0"/>
                  </a:lnTo>
                  <a:cubicBezTo>
                    <a:pt x="1990322" y="0"/>
                    <a:pt x="1994208" y="1610"/>
                    <a:pt x="1997074" y="4476"/>
                  </a:cubicBezTo>
                  <a:cubicBezTo>
                    <a:pt x="1999940" y="7341"/>
                    <a:pt x="2001550" y="11228"/>
                    <a:pt x="2001550" y="15281"/>
                  </a:cubicBezTo>
                  <a:lnTo>
                    <a:pt x="2001550" y="466591"/>
                  </a:lnTo>
                  <a:cubicBezTo>
                    <a:pt x="2001550" y="475031"/>
                    <a:pt x="1994708" y="481872"/>
                    <a:pt x="1986269" y="481872"/>
                  </a:cubicBezTo>
                  <a:lnTo>
                    <a:pt x="15281" y="481872"/>
                  </a:lnTo>
                  <a:cubicBezTo>
                    <a:pt x="11228" y="481872"/>
                    <a:pt x="7341" y="480262"/>
                    <a:pt x="4476" y="477396"/>
                  </a:cubicBezTo>
                  <a:cubicBezTo>
                    <a:pt x="1610" y="474531"/>
                    <a:pt x="0" y="470644"/>
                    <a:pt x="0" y="466591"/>
                  </a:cubicBezTo>
                  <a:lnTo>
                    <a:pt x="0" y="15281"/>
                  </a:lnTo>
                  <a:cubicBezTo>
                    <a:pt x="0" y="11228"/>
                    <a:pt x="1610" y="7341"/>
                    <a:pt x="4476" y="4476"/>
                  </a:cubicBezTo>
                  <a:cubicBezTo>
                    <a:pt x="7341" y="1610"/>
                    <a:pt x="11228" y="0"/>
                    <a:pt x="1528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34075">
                    <a:alpha val="100000"/>
                  </a:srgbClr>
                </a:gs>
                <a:gs pos="100000">
                  <a:srgbClr val="66446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01550" cy="519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59666" y="4186628"/>
            <a:ext cx="7599634" cy="1464174"/>
            <a:chOff x="0" y="0"/>
            <a:chExt cx="2001550" cy="38562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01550" cy="385626"/>
            </a:xfrm>
            <a:custGeom>
              <a:avLst/>
              <a:gdLst/>
              <a:ahLst/>
              <a:cxnLst/>
              <a:rect r="r" b="b" t="t" l="l"/>
              <a:pathLst>
                <a:path h="385626" w="2001550">
                  <a:moveTo>
                    <a:pt x="15281" y="0"/>
                  </a:moveTo>
                  <a:lnTo>
                    <a:pt x="1986269" y="0"/>
                  </a:lnTo>
                  <a:cubicBezTo>
                    <a:pt x="1990322" y="0"/>
                    <a:pt x="1994208" y="1610"/>
                    <a:pt x="1997074" y="4476"/>
                  </a:cubicBezTo>
                  <a:cubicBezTo>
                    <a:pt x="1999940" y="7341"/>
                    <a:pt x="2001550" y="11228"/>
                    <a:pt x="2001550" y="15281"/>
                  </a:cubicBezTo>
                  <a:lnTo>
                    <a:pt x="2001550" y="370345"/>
                  </a:lnTo>
                  <a:cubicBezTo>
                    <a:pt x="2001550" y="374398"/>
                    <a:pt x="1999940" y="378285"/>
                    <a:pt x="1997074" y="381151"/>
                  </a:cubicBezTo>
                  <a:cubicBezTo>
                    <a:pt x="1994208" y="384016"/>
                    <a:pt x="1990322" y="385626"/>
                    <a:pt x="1986269" y="385626"/>
                  </a:cubicBezTo>
                  <a:lnTo>
                    <a:pt x="15281" y="385626"/>
                  </a:lnTo>
                  <a:cubicBezTo>
                    <a:pt x="11228" y="385626"/>
                    <a:pt x="7341" y="384016"/>
                    <a:pt x="4476" y="381151"/>
                  </a:cubicBezTo>
                  <a:cubicBezTo>
                    <a:pt x="1610" y="378285"/>
                    <a:pt x="0" y="374398"/>
                    <a:pt x="0" y="370345"/>
                  </a:cubicBezTo>
                  <a:lnTo>
                    <a:pt x="0" y="15281"/>
                  </a:lnTo>
                  <a:cubicBezTo>
                    <a:pt x="0" y="11228"/>
                    <a:pt x="1610" y="7341"/>
                    <a:pt x="4476" y="4476"/>
                  </a:cubicBezTo>
                  <a:cubicBezTo>
                    <a:pt x="7341" y="1610"/>
                    <a:pt x="11228" y="0"/>
                    <a:pt x="1528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34075">
                    <a:alpha val="100000"/>
                  </a:srgbClr>
                </a:gs>
                <a:gs pos="100000">
                  <a:srgbClr val="66446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01550" cy="423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659666" y="6500180"/>
            <a:ext cx="441271" cy="438146"/>
          </a:xfrm>
          <a:custGeom>
            <a:avLst/>
            <a:gdLst/>
            <a:ahLst/>
            <a:cxnLst/>
            <a:rect r="r" b="b" t="t" l="l"/>
            <a:pathLst>
              <a:path h="438146" w="441271">
                <a:moveTo>
                  <a:pt x="0" y="0"/>
                </a:moveTo>
                <a:lnTo>
                  <a:pt x="441271" y="0"/>
                </a:lnTo>
                <a:lnTo>
                  <a:pt x="441271" y="438145"/>
                </a:lnTo>
                <a:lnTo>
                  <a:pt x="0" y="4381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659666" y="3556002"/>
            <a:ext cx="441271" cy="438146"/>
          </a:xfrm>
          <a:custGeom>
            <a:avLst/>
            <a:gdLst/>
            <a:ahLst/>
            <a:cxnLst/>
            <a:rect r="r" b="b" t="t" l="l"/>
            <a:pathLst>
              <a:path h="438146" w="441271">
                <a:moveTo>
                  <a:pt x="0" y="0"/>
                </a:moveTo>
                <a:lnTo>
                  <a:pt x="441271" y="0"/>
                </a:lnTo>
                <a:lnTo>
                  <a:pt x="441271" y="438146"/>
                </a:lnTo>
                <a:lnTo>
                  <a:pt x="0" y="4381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325550" y="1237753"/>
            <a:ext cx="8094530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FFFFFF"/>
                </a:solidFill>
                <a:latin typeface="Nunito Sans Ultra-Bold"/>
                <a:ea typeface="Nunito Sans Ultra-Bold"/>
                <a:cs typeface="Nunito Sans Ultra-Bold"/>
                <a:sym typeface="Nunito Sans Ultra-Bold"/>
              </a:rPr>
              <a:t>This Study Addresses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25550" y="2086113"/>
            <a:ext cx="4934647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FFFFFF"/>
                </a:solidFill>
                <a:latin typeface="Nunito Sans Light"/>
                <a:ea typeface="Nunito Sans Light"/>
                <a:cs typeface="Nunito Sans Light"/>
                <a:sym typeface="Nunito Sans Light"/>
              </a:rPr>
              <a:t>These Gaps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62361" y="4148772"/>
            <a:ext cx="6319082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We predict training energy from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pre-training features alone —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zero training required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62361" y="7092950"/>
            <a:ext cx="6319082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BUTTER-E uses hardware watt-meters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capturing total node power —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ground-truth energy data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13895" y="3477578"/>
            <a:ext cx="5183466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A priori prediction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13895" y="6421755"/>
            <a:ext cx="5183466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Hardware Ground Truth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95395" y="7353047"/>
            <a:ext cx="6928176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486,000+ real energy measurements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from two peer-reviewed benchmarks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(BUTTER-E + EC-NAS)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95395" y="4408869"/>
            <a:ext cx="6928176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Train on MLPs + CNNs and explicitly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test cross-architecture transfer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48011" y="6421755"/>
            <a:ext cx="5183466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Large-Scale Benchmarks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48011" y="3477578"/>
            <a:ext cx="580532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Cross-Architecture Transfer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325550" y="525855"/>
            <a:ext cx="450692" cy="450692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71778" y="0"/>
                  </a:moveTo>
                  <a:lnTo>
                    <a:pt x="641022" y="0"/>
                  </a:lnTo>
                  <a:cubicBezTo>
                    <a:pt x="735892" y="0"/>
                    <a:pt x="812800" y="76908"/>
                    <a:pt x="812800" y="171778"/>
                  </a:cubicBezTo>
                  <a:lnTo>
                    <a:pt x="812800" y="641022"/>
                  </a:lnTo>
                  <a:cubicBezTo>
                    <a:pt x="812800" y="735892"/>
                    <a:pt x="735892" y="812800"/>
                    <a:pt x="641022" y="812800"/>
                  </a:cubicBezTo>
                  <a:lnTo>
                    <a:pt x="171778" y="812800"/>
                  </a:lnTo>
                  <a:cubicBezTo>
                    <a:pt x="76908" y="812800"/>
                    <a:pt x="0" y="735892"/>
                    <a:pt x="0" y="641022"/>
                  </a:cubicBezTo>
                  <a:lnTo>
                    <a:pt x="0" y="171778"/>
                  </a:lnTo>
                  <a:cubicBezTo>
                    <a:pt x="0" y="76908"/>
                    <a:pt x="76908" y="0"/>
                    <a:pt x="171778" y="0"/>
                  </a:cubicBezTo>
                  <a:close/>
                </a:path>
              </a:pathLst>
            </a:custGeom>
            <a:blipFill>
              <a:blip r:embed="rId5"/>
              <a:stretch>
                <a:fillRect l="-35556" t="0" r="-3111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878023" y="534031"/>
            <a:ext cx="786537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University of Ghana | Computer Science Department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D185B">
                <a:alpha val="100000"/>
              </a:srgbClr>
            </a:gs>
            <a:gs pos="100000">
              <a:srgbClr val="310C3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10539089" y="6104494"/>
            <a:ext cx="7121203" cy="10681805"/>
          </a:xfrm>
          <a:custGeom>
            <a:avLst/>
            <a:gdLst/>
            <a:ahLst/>
            <a:cxnLst/>
            <a:rect r="r" b="b" t="t" l="l"/>
            <a:pathLst>
              <a:path h="10681805" w="7121203">
                <a:moveTo>
                  <a:pt x="0" y="10681805"/>
                </a:moveTo>
                <a:lnTo>
                  <a:pt x="7121203" y="10681805"/>
                </a:lnTo>
                <a:lnTo>
                  <a:pt x="7121203" y="0"/>
                </a:lnTo>
                <a:lnTo>
                  <a:pt x="0" y="0"/>
                </a:lnTo>
                <a:lnTo>
                  <a:pt x="0" y="10681805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-2697390" y="-6430709"/>
            <a:ext cx="7121203" cy="10681805"/>
          </a:xfrm>
          <a:custGeom>
            <a:avLst/>
            <a:gdLst/>
            <a:ahLst/>
            <a:cxnLst/>
            <a:rect r="r" b="b" t="t" l="l"/>
            <a:pathLst>
              <a:path h="10681805" w="7121203">
                <a:moveTo>
                  <a:pt x="7121203" y="0"/>
                </a:moveTo>
                <a:lnTo>
                  <a:pt x="0" y="0"/>
                </a:lnTo>
                <a:lnTo>
                  <a:pt x="0" y="10681804"/>
                </a:lnTo>
                <a:lnTo>
                  <a:pt x="7121203" y="10681804"/>
                </a:lnTo>
                <a:lnTo>
                  <a:pt x="7121203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332618" y="-5079170"/>
            <a:ext cx="11161226" cy="11161226"/>
          </a:xfrm>
          <a:custGeom>
            <a:avLst/>
            <a:gdLst/>
            <a:ahLst/>
            <a:cxnLst/>
            <a:rect r="r" b="b" t="t" l="l"/>
            <a:pathLst>
              <a:path h="11161226" w="11161226">
                <a:moveTo>
                  <a:pt x="0" y="0"/>
                </a:moveTo>
                <a:lnTo>
                  <a:pt x="11161226" y="0"/>
                </a:lnTo>
                <a:lnTo>
                  <a:pt x="11161226" y="11161226"/>
                </a:lnTo>
                <a:lnTo>
                  <a:pt x="0" y="111612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56446" y="6598423"/>
            <a:ext cx="11161226" cy="11161226"/>
          </a:xfrm>
          <a:custGeom>
            <a:avLst/>
            <a:gdLst/>
            <a:ahLst/>
            <a:cxnLst/>
            <a:rect r="r" b="b" t="t" l="l"/>
            <a:pathLst>
              <a:path h="11161226" w="11161226">
                <a:moveTo>
                  <a:pt x="0" y="0"/>
                </a:moveTo>
                <a:lnTo>
                  <a:pt x="11161226" y="0"/>
                </a:lnTo>
                <a:lnTo>
                  <a:pt x="11161226" y="11161227"/>
                </a:lnTo>
                <a:lnTo>
                  <a:pt x="0" y="111612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25550" y="3573727"/>
            <a:ext cx="5246370" cy="2721347"/>
            <a:chOff x="0" y="0"/>
            <a:chExt cx="812800" cy="42160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421608"/>
            </a:xfrm>
            <a:custGeom>
              <a:avLst/>
              <a:gdLst/>
              <a:ahLst/>
              <a:cxnLst/>
              <a:rect r="r" b="b" t="t" l="l"/>
              <a:pathLst>
                <a:path h="421608" w="812800">
                  <a:moveTo>
                    <a:pt x="33940" y="0"/>
                  </a:moveTo>
                  <a:lnTo>
                    <a:pt x="778860" y="0"/>
                  </a:lnTo>
                  <a:cubicBezTo>
                    <a:pt x="797604" y="0"/>
                    <a:pt x="812800" y="15196"/>
                    <a:pt x="812800" y="33940"/>
                  </a:cubicBezTo>
                  <a:lnTo>
                    <a:pt x="812800" y="387667"/>
                  </a:lnTo>
                  <a:cubicBezTo>
                    <a:pt x="812800" y="406412"/>
                    <a:pt x="797604" y="421608"/>
                    <a:pt x="778860" y="421608"/>
                  </a:cubicBezTo>
                  <a:lnTo>
                    <a:pt x="33940" y="421608"/>
                  </a:lnTo>
                  <a:cubicBezTo>
                    <a:pt x="15196" y="421608"/>
                    <a:pt x="0" y="406412"/>
                    <a:pt x="0" y="387667"/>
                  </a:cubicBezTo>
                  <a:lnTo>
                    <a:pt x="0" y="33940"/>
                  </a:lnTo>
                  <a:cubicBezTo>
                    <a:pt x="0" y="15196"/>
                    <a:pt x="15196" y="0"/>
                    <a:pt x="3394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4320" r="0" b="-1432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25550" y="6536953"/>
            <a:ext cx="5246370" cy="2721347"/>
            <a:chOff x="0" y="0"/>
            <a:chExt cx="812800" cy="4216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421608"/>
            </a:xfrm>
            <a:custGeom>
              <a:avLst/>
              <a:gdLst/>
              <a:ahLst/>
              <a:cxnLst/>
              <a:rect r="r" b="b" t="t" l="l"/>
              <a:pathLst>
                <a:path h="421608" w="812800">
                  <a:moveTo>
                    <a:pt x="33940" y="0"/>
                  </a:moveTo>
                  <a:lnTo>
                    <a:pt x="778860" y="0"/>
                  </a:lnTo>
                  <a:cubicBezTo>
                    <a:pt x="797604" y="0"/>
                    <a:pt x="812800" y="15196"/>
                    <a:pt x="812800" y="33940"/>
                  </a:cubicBezTo>
                  <a:lnTo>
                    <a:pt x="812800" y="387667"/>
                  </a:lnTo>
                  <a:cubicBezTo>
                    <a:pt x="812800" y="406412"/>
                    <a:pt x="797604" y="421608"/>
                    <a:pt x="778860" y="421608"/>
                  </a:cubicBezTo>
                  <a:lnTo>
                    <a:pt x="33940" y="421608"/>
                  </a:lnTo>
                  <a:cubicBezTo>
                    <a:pt x="15196" y="421608"/>
                    <a:pt x="0" y="406412"/>
                    <a:pt x="0" y="387667"/>
                  </a:cubicBezTo>
                  <a:lnTo>
                    <a:pt x="0" y="33940"/>
                  </a:lnTo>
                  <a:cubicBezTo>
                    <a:pt x="0" y="15196"/>
                    <a:pt x="15196" y="0"/>
                    <a:pt x="3394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4221" r="0" b="-1422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371555" y="3573727"/>
            <a:ext cx="9887745" cy="4078102"/>
            <a:chOff x="0" y="0"/>
            <a:chExt cx="2604180" cy="10740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604180" cy="1074068"/>
            </a:xfrm>
            <a:custGeom>
              <a:avLst/>
              <a:gdLst/>
              <a:ahLst/>
              <a:cxnLst/>
              <a:rect r="r" b="b" t="t" l="l"/>
              <a:pathLst>
                <a:path h="1074068" w="2604180">
                  <a:moveTo>
                    <a:pt x="11745" y="0"/>
                  </a:moveTo>
                  <a:lnTo>
                    <a:pt x="2592435" y="0"/>
                  </a:lnTo>
                  <a:cubicBezTo>
                    <a:pt x="2595550" y="0"/>
                    <a:pt x="2598537" y="1237"/>
                    <a:pt x="2600740" y="3440"/>
                  </a:cubicBezTo>
                  <a:cubicBezTo>
                    <a:pt x="2602942" y="5643"/>
                    <a:pt x="2604180" y="8630"/>
                    <a:pt x="2604180" y="11745"/>
                  </a:cubicBezTo>
                  <a:lnTo>
                    <a:pt x="2604180" y="1062323"/>
                  </a:lnTo>
                  <a:cubicBezTo>
                    <a:pt x="2604180" y="1065438"/>
                    <a:pt x="2602942" y="1068425"/>
                    <a:pt x="2600740" y="1070628"/>
                  </a:cubicBezTo>
                  <a:cubicBezTo>
                    <a:pt x="2598537" y="1072831"/>
                    <a:pt x="2595550" y="1074068"/>
                    <a:pt x="2592435" y="1074068"/>
                  </a:cubicBezTo>
                  <a:lnTo>
                    <a:pt x="11745" y="1074068"/>
                  </a:lnTo>
                  <a:cubicBezTo>
                    <a:pt x="8630" y="1074068"/>
                    <a:pt x="5643" y="1072831"/>
                    <a:pt x="3440" y="1070628"/>
                  </a:cubicBezTo>
                  <a:cubicBezTo>
                    <a:pt x="1237" y="1068425"/>
                    <a:pt x="0" y="1065438"/>
                    <a:pt x="0" y="1062323"/>
                  </a:cubicBezTo>
                  <a:lnTo>
                    <a:pt x="0" y="11745"/>
                  </a:lnTo>
                  <a:cubicBezTo>
                    <a:pt x="0" y="8630"/>
                    <a:pt x="1237" y="5643"/>
                    <a:pt x="3440" y="3440"/>
                  </a:cubicBezTo>
                  <a:cubicBezTo>
                    <a:pt x="5643" y="1237"/>
                    <a:pt x="8630" y="0"/>
                    <a:pt x="1174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34075">
                    <a:alpha val="100000"/>
                  </a:srgbClr>
                </a:gs>
                <a:gs pos="100000">
                  <a:srgbClr val="66446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604180" cy="1112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5645211" y="7897626"/>
            <a:ext cx="1853417" cy="1852645"/>
          </a:xfrm>
          <a:custGeom>
            <a:avLst/>
            <a:gdLst/>
            <a:ahLst/>
            <a:cxnLst/>
            <a:rect r="r" b="b" t="t" l="l"/>
            <a:pathLst>
              <a:path h="1852645" w="1853417">
                <a:moveTo>
                  <a:pt x="0" y="0"/>
                </a:moveTo>
                <a:lnTo>
                  <a:pt x="1853418" y="0"/>
                </a:lnTo>
                <a:lnTo>
                  <a:pt x="1853418" y="1852645"/>
                </a:lnTo>
                <a:lnTo>
                  <a:pt x="0" y="18526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25550" y="1237753"/>
            <a:ext cx="5682318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FFFFFF"/>
                </a:solidFill>
                <a:latin typeface="Nunito Sans Ultra-Bold"/>
                <a:ea typeface="Nunito Sans Ultra-Bold"/>
                <a:cs typeface="Nunito Sans Ultra-Bold"/>
                <a:sym typeface="Nunito Sans Ultra-Bold"/>
              </a:rPr>
              <a:t>Refined Novelty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25550" y="2086113"/>
            <a:ext cx="5246370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FFFFFF"/>
                </a:solidFill>
                <a:latin typeface="Nunito Sans Light"/>
                <a:ea typeface="Nunito Sans Light"/>
                <a:cs typeface="Nunito Sans Light"/>
                <a:sym typeface="Nunito Sans Light"/>
              </a:rPr>
              <a:t>Statement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08366" y="4009348"/>
            <a:ext cx="9014122" cy="304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This study is the first to predict neural network training energy consumption a priori by applying ML regression to large-scale, hardware-level energy benchmarks, with explicit evaluation of cross-architecture transferability between structurally different network families (MLPs and CNNs), across hardware platforms (CPU and GPU), and to previously unseen architectural configurations.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325550" y="525855"/>
            <a:ext cx="450692" cy="45069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71778" y="0"/>
                  </a:moveTo>
                  <a:lnTo>
                    <a:pt x="641022" y="0"/>
                  </a:lnTo>
                  <a:cubicBezTo>
                    <a:pt x="735892" y="0"/>
                    <a:pt x="812800" y="76908"/>
                    <a:pt x="812800" y="171778"/>
                  </a:cubicBezTo>
                  <a:lnTo>
                    <a:pt x="812800" y="641022"/>
                  </a:lnTo>
                  <a:cubicBezTo>
                    <a:pt x="812800" y="735892"/>
                    <a:pt x="735892" y="812800"/>
                    <a:pt x="641022" y="812800"/>
                  </a:cubicBezTo>
                  <a:lnTo>
                    <a:pt x="171778" y="812800"/>
                  </a:lnTo>
                  <a:cubicBezTo>
                    <a:pt x="76908" y="812800"/>
                    <a:pt x="0" y="735892"/>
                    <a:pt x="0" y="641022"/>
                  </a:cubicBezTo>
                  <a:lnTo>
                    <a:pt x="0" y="171778"/>
                  </a:lnTo>
                  <a:cubicBezTo>
                    <a:pt x="0" y="76908"/>
                    <a:pt x="76908" y="0"/>
                    <a:pt x="171778" y="0"/>
                  </a:cubicBezTo>
                  <a:close/>
                </a:path>
              </a:pathLst>
            </a:custGeom>
            <a:blipFill>
              <a:blip r:embed="rId7"/>
              <a:stretch>
                <a:fillRect l="-35556" t="0" r="-3111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878023" y="534031"/>
            <a:ext cx="786537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University of Ghana | Computer Science Department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D185B">
                <a:alpha val="100000"/>
              </a:srgbClr>
            </a:gs>
            <a:gs pos="100000">
              <a:srgbClr val="310C3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0317397" y="-16964"/>
            <a:ext cx="8567834" cy="10320929"/>
          </a:xfrm>
          <a:custGeom>
            <a:avLst/>
            <a:gdLst/>
            <a:ahLst/>
            <a:cxnLst/>
            <a:rect r="r" b="b" t="t" l="l"/>
            <a:pathLst>
              <a:path h="10320929" w="8567834">
                <a:moveTo>
                  <a:pt x="0" y="0"/>
                </a:moveTo>
                <a:lnTo>
                  <a:pt x="8567835" y="0"/>
                </a:lnTo>
                <a:lnTo>
                  <a:pt x="8567835" y="10320928"/>
                </a:lnTo>
                <a:lnTo>
                  <a:pt x="0" y="103209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-2452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88641" y="-267996"/>
            <a:ext cx="11161226" cy="11161226"/>
          </a:xfrm>
          <a:custGeom>
            <a:avLst/>
            <a:gdLst/>
            <a:ahLst/>
            <a:cxnLst/>
            <a:rect r="r" b="b" t="t" l="l"/>
            <a:pathLst>
              <a:path h="11161226" w="11161226">
                <a:moveTo>
                  <a:pt x="0" y="0"/>
                </a:moveTo>
                <a:lnTo>
                  <a:pt x="11161226" y="0"/>
                </a:lnTo>
                <a:lnTo>
                  <a:pt x="11161226" y="11161226"/>
                </a:lnTo>
                <a:lnTo>
                  <a:pt x="0" y="111612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34399" y="8506212"/>
            <a:ext cx="6140899" cy="752088"/>
            <a:chOff x="0" y="0"/>
            <a:chExt cx="1617356" cy="1980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17356" cy="198081"/>
            </a:xfrm>
            <a:custGeom>
              <a:avLst/>
              <a:gdLst/>
              <a:ahLst/>
              <a:cxnLst/>
              <a:rect r="r" b="b" t="t" l="l"/>
              <a:pathLst>
                <a:path h="198081" w="1617356">
                  <a:moveTo>
                    <a:pt x="64296" y="0"/>
                  </a:moveTo>
                  <a:lnTo>
                    <a:pt x="1553060" y="0"/>
                  </a:lnTo>
                  <a:cubicBezTo>
                    <a:pt x="1570112" y="0"/>
                    <a:pt x="1586466" y="6774"/>
                    <a:pt x="1598524" y="18832"/>
                  </a:cubicBezTo>
                  <a:cubicBezTo>
                    <a:pt x="1610582" y="30890"/>
                    <a:pt x="1617356" y="47244"/>
                    <a:pt x="1617356" y="64296"/>
                  </a:cubicBezTo>
                  <a:lnTo>
                    <a:pt x="1617356" y="133784"/>
                  </a:lnTo>
                  <a:cubicBezTo>
                    <a:pt x="1617356" y="150837"/>
                    <a:pt x="1610582" y="167191"/>
                    <a:pt x="1598524" y="179249"/>
                  </a:cubicBezTo>
                  <a:cubicBezTo>
                    <a:pt x="1586466" y="191307"/>
                    <a:pt x="1570112" y="198081"/>
                    <a:pt x="1553060" y="198081"/>
                  </a:cubicBezTo>
                  <a:lnTo>
                    <a:pt x="64296" y="198081"/>
                  </a:lnTo>
                  <a:cubicBezTo>
                    <a:pt x="47244" y="198081"/>
                    <a:pt x="30890" y="191307"/>
                    <a:pt x="18832" y="179249"/>
                  </a:cubicBezTo>
                  <a:cubicBezTo>
                    <a:pt x="6774" y="167191"/>
                    <a:pt x="0" y="150837"/>
                    <a:pt x="0" y="133784"/>
                  </a:cubicBezTo>
                  <a:lnTo>
                    <a:pt x="0" y="64296"/>
                  </a:lnTo>
                  <a:cubicBezTo>
                    <a:pt x="0" y="47244"/>
                    <a:pt x="6774" y="30890"/>
                    <a:pt x="18832" y="18832"/>
                  </a:cubicBezTo>
                  <a:cubicBezTo>
                    <a:pt x="30890" y="6774"/>
                    <a:pt x="47244" y="0"/>
                    <a:pt x="6429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34075">
                    <a:alpha val="100000"/>
                  </a:srgbClr>
                </a:gs>
                <a:gs pos="100000">
                  <a:srgbClr val="66446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617356" cy="236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2726749" y="1997374"/>
            <a:ext cx="6388073" cy="6292252"/>
          </a:xfrm>
          <a:custGeom>
            <a:avLst/>
            <a:gdLst/>
            <a:ahLst/>
            <a:cxnLst/>
            <a:rect r="r" b="b" t="t" l="l"/>
            <a:pathLst>
              <a:path h="6292252" w="6388073">
                <a:moveTo>
                  <a:pt x="0" y="0"/>
                </a:moveTo>
                <a:lnTo>
                  <a:pt x="6388073" y="0"/>
                </a:lnTo>
                <a:lnTo>
                  <a:pt x="6388073" y="6292252"/>
                </a:lnTo>
                <a:lnTo>
                  <a:pt x="0" y="62922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862016" y="3505613"/>
            <a:ext cx="3267585" cy="3275775"/>
          </a:xfrm>
          <a:custGeom>
            <a:avLst/>
            <a:gdLst/>
            <a:ahLst/>
            <a:cxnLst/>
            <a:rect r="r" b="b" t="t" l="l"/>
            <a:pathLst>
              <a:path h="3275775" w="3267585">
                <a:moveTo>
                  <a:pt x="0" y="0"/>
                </a:moveTo>
                <a:lnTo>
                  <a:pt x="3267586" y="0"/>
                </a:lnTo>
                <a:lnTo>
                  <a:pt x="3267586" y="3275774"/>
                </a:lnTo>
                <a:lnTo>
                  <a:pt x="0" y="32757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553506" y="4798241"/>
            <a:ext cx="1031331" cy="1028753"/>
          </a:xfrm>
          <a:custGeom>
            <a:avLst/>
            <a:gdLst/>
            <a:ahLst/>
            <a:cxnLst/>
            <a:rect r="r" b="b" t="t" l="l"/>
            <a:pathLst>
              <a:path h="1028753" w="1031331">
                <a:moveTo>
                  <a:pt x="0" y="0"/>
                </a:moveTo>
                <a:lnTo>
                  <a:pt x="1031331" y="0"/>
                </a:lnTo>
                <a:lnTo>
                  <a:pt x="1031331" y="1028753"/>
                </a:lnTo>
                <a:lnTo>
                  <a:pt x="0" y="10287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25550" y="2102434"/>
            <a:ext cx="7781538" cy="1756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465"/>
              </a:lnSpc>
              <a:spcBef>
                <a:spcPct val="0"/>
              </a:spcBef>
            </a:pPr>
            <a:r>
              <a:rPr lang="en-US" sz="10332">
                <a:solidFill>
                  <a:srgbClr val="FFFFFF"/>
                </a:solidFill>
                <a:latin typeface="Nunito Sans Light"/>
                <a:ea typeface="Nunito Sans Light"/>
                <a:cs typeface="Nunito Sans Light"/>
                <a:sym typeface="Nunito Sans Light"/>
              </a:rPr>
              <a:t>Thank You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25550" y="3726415"/>
            <a:ext cx="8819717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 b="true">
                <a:solidFill>
                  <a:srgbClr val="FFFFFF"/>
                </a:solidFill>
                <a:latin typeface="Nunito Sans Ultra-Bold"/>
                <a:ea typeface="Nunito Sans Ultra-Bold"/>
                <a:cs typeface="Nunito Sans Ultra-Bold"/>
                <a:sym typeface="Nunito Sans Ultra-Bold"/>
              </a:rPr>
              <a:t>For Your Attention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5550" y="7631630"/>
            <a:ext cx="7268051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presented by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46336" y="8665086"/>
            <a:ext cx="5799481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Nunito Sans Extra-Light"/>
                <a:ea typeface="Nunito Sans Extra-Light"/>
                <a:cs typeface="Nunito Sans Extra-Light"/>
                <a:sym typeface="Nunito Sans Extra-Light"/>
              </a:rPr>
              <a:t>Vanessa Atta-Fynn Msc | 22425700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25550" y="525855"/>
            <a:ext cx="450692" cy="45069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71778" y="0"/>
                  </a:moveTo>
                  <a:lnTo>
                    <a:pt x="641022" y="0"/>
                  </a:lnTo>
                  <a:cubicBezTo>
                    <a:pt x="735892" y="0"/>
                    <a:pt x="812800" y="76908"/>
                    <a:pt x="812800" y="171778"/>
                  </a:cubicBezTo>
                  <a:lnTo>
                    <a:pt x="812800" y="641022"/>
                  </a:lnTo>
                  <a:cubicBezTo>
                    <a:pt x="812800" y="735892"/>
                    <a:pt x="735892" y="812800"/>
                    <a:pt x="641022" y="812800"/>
                  </a:cubicBezTo>
                  <a:lnTo>
                    <a:pt x="171778" y="812800"/>
                  </a:lnTo>
                  <a:cubicBezTo>
                    <a:pt x="76908" y="812800"/>
                    <a:pt x="0" y="735892"/>
                    <a:pt x="0" y="641022"/>
                  </a:cubicBezTo>
                  <a:lnTo>
                    <a:pt x="0" y="171778"/>
                  </a:lnTo>
                  <a:cubicBezTo>
                    <a:pt x="0" y="76908"/>
                    <a:pt x="76908" y="0"/>
                    <a:pt x="171778" y="0"/>
                  </a:cubicBezTo>
                  <a:close/>
                </a:path>
              </a:pathLst>
            </a:custGeom>
            <a:blipFill>
              <a:blip r:embed="rId7"/>
              <a:stretch>
                <a:fillRect l="-35556" t="0" r="-3111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878023" y="534031"/>
            <a:ext cx="786537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University of Ghana | Computer Science Department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498743" y="8604757"/>
            <a:ext cx="554998" cy="55499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16666" r="0" b="-16666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DAHDX_7y5tI</dc:identifier>
  <dcterms:modified xsi:type="dcterms:W3CDTF">2011-08-01T06:04:30Z</dcterms:modified>
  <cp:revision>1</cp:revision>
  <dc:title>Jonathan Patterson</dc:title>
</cp:coreProperties>
</file>